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78" r:id="rId2"/>
    <p:sldId id="258" r:id="rId3"/>
    <p:sldId id="259" r:id="rId4"/>
    <p:sldId id="260" r:id="rId5"/>
    <p:sldId id="261" r:id="rId6"/>
    <p:sldId id="262" r:id="rId7"/>
    <p:sldId id="279" r:id="rId8"/>
    <p:sldId id="263" r:id="rId9"/>
    <p:sldId id="264" r:id="rId10"/>
    <p:sldId id="265" r:id="rId11"/>
    <p:sldId id="266" r:id="rId12"/>
    <p:sldId id="267" r:id="rId13"/>
    <p:sldId id="268" r:id="rId14"/>
    <p:sldId id="281" r:id="rId15"/>
    <p:sldId id="269" r:id="rId16"/>
    <p:sldId id="270" r:id="rId17"/>
    <p:sldId id="282" r:id="rId18"/>
    <p:sldId id="271" r:id="rId19"/>
    <p:sldId id="272" r:id="rId20"/>
    <p:sldId id="273" r:id="rId21"/>
    <p:sldId id="274" r:id="rId22"/>
    <p:sldId id="275" r:id="rId23"/>
    <p:sldId id="276"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5F8"/>
    <a:srgbClr val="D9DEE8"/>
    <a:srgbClr val="0E18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8-30T09:38:06.347"/>
    </inkml:context>
    <inkml:brush xml:id="br0">
      <inkml:brushProperty name="width" value="0.05" units="cm"/>
      <inkml:brushProperty name="height" value="0.05" units="cm"/>
    </inkml:brush>
  </inkml:definitions>
  <inkml:trace contextRef="#ctx0" brushRef="#br0">0 1 8072 0 0,'17'0'896'0'0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8-30T09:38:06.347"/>
    </inkml:context>
    <inkml:brush xml:id="br0">
      <inkml:brushProperty name="width" value="0.05" units="cm"/>
      <inkml:brushProperty name="height" value="0.05" units="cm"/>
    </inkml:brush>
  </inkml:definitions>
  <inkml:trace contextRef="#ctx0" brushRef="#br0">0 1 8072 0 0,'17'0'896'0'0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4241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transition slide. Say that the first part motivates the economic problem and the research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target is not an abstract time series. In banking, deposit volume forecasts influence liquidity needs and funding decisions. The difficulty is that overnight deposits have no fixed maturity and the series evolves across very different economic conditions. This motivates a benchmark that compares simple and advanced models under the same information 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motivation to the research design. Be careful not to oversell ML. The research questions are deliberately comparative. The contribution is a consistent benchmark where all models are evaluated under the same rolling origins and the same realistic assumption that future macro-financial covariates are not known.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data section. Say that the credibility of the result depends strongly on the information set and preprocessing.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the project uses public household overnight deposit data rather than internal bank-level NMD data. The covariates cover interest rates, macroeconomic risk, inflation, and market conditions. The slide is also the natural place to show one clean EDA plot if you want to add it manually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70E9C-3C19-0AB3-170A-2B10F51AF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C22A4-114A-1D4B-CB62-D145E4EF0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72C47-1E40-ED39-9F62-7AE5073B3F12}"/>
              </a:ext>
            </a:extLst>
          </p:cNvPr>
          <p:cNvSpPr>
            <a:spLocks noGrp="1"/>
          </p:cNvSpPr>
          <p:nvPr>
            <p:ph type="body" idx="1"/>
          </p:nvPr>
        </p:nvSpPr>
        <p:spPr/>
        <p:txBody>
          <a:bodyPr/>
          <a:lstStyle/>
          <a:p>
            <a:r>
              <a:rPr lang="en-US" dirty="0"/>
              <a:t>Clarify that the project uses public household overnight deposit data rather than internal bank-level NMD data. The covariates cover interest rates, macroeconomic risk, inflation, and market conditions. The slide is also the natural place to show one clean EDA plot if you want to add it manually later.</a:t>
            </a:r>
          </a:p>
        </p:txBody>
      </p:sp>
      <p:sp>
        <p:nvSpPr>
          <p:cNvPr id="4" name="Slide Number Placeholder 3">
            <a:extLst>
              <a:ext uri="{FF2B5EF4-FFF2-40B4-BE49-F238E27FC236}">
                <a16:creationId xmlns:a16="http://schemas.microsoft.com/office/drawing/2014/main" id="{D878C194-D19B-9397-9B41-3C5E5837065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68921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preprocessing at a high level. The point is not to list every coding detail; the point is to show why the target is converted into a supervised learning problem. Models predict changes, and level forecasts are reconstructed. Also state that EDA motivates rolling-origin validation instead of a random split.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methods. Say that the benchmark has three parts: forecasting setup, model families, and evaluation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horizontal timeline. The model sees the previous lookback window and produces a 100-step forecast. It predicts daily changes rather than levels directly; levels are reconstructed by adding predicted changes to the last observed level. This is where you should mention that the lookback length should match the final benchmark; if the final code changes it, update the label before recording.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clarity. It translates code labels into report-friendly language. It also explains why the main comparison should use fixed model-specific covariate sets across all regimes. If you show regime-specific best covariates, label that as sensitivity analysis or appendix material.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model families as increasing complexity. The naive models are not weak straw men; they are relevant benchmarks for persistent financial series. Ridge is interpretable, XGBoost is nonlinear, and FFN/TFT represent neural approaches. The question is whether complexity actually pays off.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rolling-origin design. At each date, training uses only past data. The four origins were chosen to represent distinct regimes. Mention that the final forecast examples should show exactly this structure: a historical window before the origin, a vertical line at the origin, and a 100-day realized comparison after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7DFDF-87E0-0481-B384-623A170F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51936-667D-A89F-1883-C38AE3D91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0E1EB-4838-52B2-3CC2-FAC0A5295B05}"/>
              </a:ext>
            </a:extLst>
          </p:cNvPr>
          <p:cNvSpPr>
            <a:spLocks noGrp="1"/>
          </p:cNvSpPr>
          <p:nvPr>
            <p:ph type="body" idx="1"/>
          </p:nvPr>
        </p:nvSpPr>
        <p:spPr/>
        <p:txBody>
          <a:bodyPr/>
          <a:lstStyle/>
          <a:p>
            <a:r>
              <a:rPr lang="en-US" dirty="0"/>
              <a:t>Explain the rolling-origin design. At each date, training uses only past data. The four origins were chosen to represent distinct regimes. Mention that the final forecast examples should show exactly this structure: a historical window before the origin, a vertical line at the origin, and a 100-day realized comparison after it.</a:t>
            </a:r>
          </a:p>
        </p:txBody>
      </p:sp>
      <p:sp>
        <p:nvSpPr>
          <p:cNvPr id="4" name="Slide Number Placeholder 3">
            <a:extLst>
              <a:ext uri="{FF2B5EF4-FFF2-40B4-BE49-F238E27FC236}">
                <a16:creationId xmlns:a16="http://schemas.microsoft.com/office/drawing/2014/main" id="{753EA516-8F55-B95D-5E98-3FF41C2EDF1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03894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results. The next slides answer the research questions directly: overall accuracy, stability across regimes, covariate effects, and forecast examples.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results slide. Do not apologize for Ridge winning. Interpret it: in a highly persistent deposit series with unknown future covariates, a regularized linear model can be more stable than complex alternatives. TFT is competitive, but it does not beat Ridge on the averaged benchmark. The naive random walk is also strong, which underlines the persistence of the target.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95B98-88DD-BA52-BA8B-2DFB4C455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0E9DB-E95F-0531-D471-11326571B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EEFFA-349F-CDA7-DBF0-A0493A76E3B6}"/>
              </a:ext>
            </a:extLst>
          </p:cNvPr>
          <p:cNvSpPr>
            <a:spLocks noGrp="1"/>
          </p:cNvSpPr>
          <p:nvPr>
            <p:ph type="body" idx="1"/>
          </p:nvPr>
        </p:nvSpPr>
        <p:spPr/>
        <p:txBody>
          <a:bodyPr/>
          <a:lstStyle/>
          <a:p>
            <a:r>
              <a:rPr lang="en-US" dirty="0"/>
              <a:t>This is the main results slide. Do not apologize for Ridge winning. Interpret it: in a highly persistent deposit series with unknown future covariates, a regularized linear model can be more stable than complex alternatives. TFT is competitive, but it does not beat Ridge on the averaged benchmark. The naive random walk is also strong, which underlines the persistence of the target.</a:t>
            </a:r>
          </a:p>
        </p:txBody>
      </p:sp>
      <p:sp>
        <p:nvSpPr>
          <p:cNvPr id="4" name="Slide Number Placeholder 3">
            <a:extLst>
              <a:ext uri="{FF2B5EF4-FFF2-40B4-BE49-F238E27FC236}">
                <a16:creationId xmlns:a16="http://schemas.microsoft.com/office/drawing/2014/main" id="{47579A3A-8BD4-E0F1-D2E8-E4B40E85EDA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77648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visualizes the table. The heatmap shows that the 2009 origin is difficult for all models, while later periods are easier. The right panel ranks models by mean MAE with the variability across regimes. Point out that average performance and regime stability are both relevant.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move from ranking to robustness. A model can have a good average but be unstable across regimes. The scatter plot helps explain why the discussion should consider both level of error and standard deviation across origins.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covariate research question. Ridge works best with all covariates, while TFT and FFN prefer the macroeconomic set. XGBoost performs best when inflation is excluded. Say clearly that these are predictive findings. They do not prove that a variable causes deposit changes.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partly an instruction slide for the final version. The recommended forecast-path figure should show one origin per regime, with the same model specifications in every panel. This avoids hindsight selection. If you add uncertainty bands, use them sparingly so the plot remains readable.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real discussion. Connect the empirical result to the properties of the forecasting problem. Complex models are not useless, but their advantages are limited when the target is persistent and future covariates are unavailable. This explains why Ridge can win and why TFT can still be competitive but not dominant.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The study does not prove that Ridge will always win. It shows that under this public proxy, these covariates, and realistic future-information constraints, Ridge is strongest. Future work can improve the setting by adding scenario paths and more rolling origins.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räsentationstitel, blau">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7DB2BC4-3B98-4ED7-91ED-210DEFAE5327}"/>
              </a:ext>
            </a:extLst>
          </p:cNvPr>
          <p:cNvSpPr/>
          <p:nvPr/>
        </p:nvSpPr>
        <p:spPr>
          <a:xfrm>
            <a:off x="0" y="1483200"/>
            <a:ext cx="12192000" cy="5374800"/>
          </a:xfrm>
          <a:prstGeom prst="rect">
            <a:avLst/>
          </a:prstGeom>
          <a:solidFill>
            <a:srgbClr val="0F1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Grafik 1">
            <a:extLst>
              <a:ext uri="{FF2B5EF4-FFF2-40B4-BE49-F238E27FC236}">
                <a16:creationId xmlns:a16="http://schemas.microsoft.com/office/drawing/2014/main" id="{2CEFBE18-F336-4456-B7B7-3AA1099DD47C}"/>
              </a:ext>
            </a:extLst>
          </p:cNvPr>
          <p:cNvPicPr>
            <a:picLocks noChangeAspect="1"/>
          </p:cNvPicPr>
          <p:nvPr/>
        </p:nvPicPr>
        <p:blipFill>
          <a:blip r:embed="rId2"/>
          <a:stretch>
            <a:fillRect/>
          </a:stretch>
        </p:blipFill>
        <p:spPr>
          <a:xfrm>
            <a:off x="8631627" y="2822098"/>
            <a:ext cx="3560373" cy="4035902"/>
          </a:xfrm>
          <a:prstGeom prst="rect">
            <a:avLst/>
          </a:prstGeom>
        </p:spPr>
      </p:pic>
      <p:sp>
        <p:nvSpPr>
          <p:cNvPr id="12" name="Textplatzhalter 4">
            <a:extLst>
              <a:ext uri="{FF2B5EF4-FFF2-40B4-BE49-F238E27FC236}">
                <a16:creationId xmlns:a16="http://schemas.microsoft.com/office/drawing/2014/main" id="{6F7D16F2-80B9-4E8C-B3BE-2901978441D9}"/>
              </a:ext>
            </a:extLst>
          </p:cNvPr>
          <p:cNvSpPr>
            <a:spLocks noGrp="1"/>
          </p:cNvSpPr>
          <p:nvPr>
            <p:ph type="body" sz="quarter" idx="14" hasCustomPrompt="1"/>
          </p:nvPr>
        </p:nvSpPr>
        <p:spPr>
          <a:xfrm>
            <a:off x="446088" y="2268000"/>
            <a:ext cx="7200000" cy="1260000"/>
          </a:xfrm>
          <a:prstGeom prst="rect">
            <a:avLst/>
          </a:prstGeom>
        </p:spPr>
        <p:txBody>
          <a:bodyPr lIns="0" tIns="0" rIns="0" bIns="0"/>
          <a:lstStyle>
            <a:lvl1pPr marL="0" indent="0">
              <a:lnSpc>
                <a:spcPct val="100000"/>
              </a:lnSpc>
              <a:spcBef>
                <a:spcPts val="0"/>
              </a:spcBef>
              <a:spcAft>
                <a:spcPts val="0"/>
              </a:spcAft>
              <a:buFontTx/>
              <a:buNone/>
              <a:defRPr sz="2800" b="1" i="0" baseline="0">
                <a:solidFill>
                  <a:schemeClr val="tx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6" name="Textplatzhalter 4">
            <a:extLst>
              <a:ext uri="{FF2B5EF4-FFF2-40B4-BE49-F238E27FC236}">
                <a16:creationId xmlns:a16="http://schemas.microsoft.com/office/drawing/2014/main" id="{0278EDD8-A454-4AAD-A18B-0E9E6C1F3E58}"/>
              </a:ext>
            </a:extLst>
          </p:cNvPr>
          <p:cNvSpPr>
            <a:spLocks noGrp="1"/>
          </p:cNvSpPr>
          <p:nvPr>
            <p:ph type="body" sz="quarter" idx="15" hasCustomPrompt="1"/>
          </p:nvPr>
        </p:nvSpPr>
        <p:spPr>
          <a:xfrm>
            <a:off x="446399" y="5184000"/>
            <a:ext cx="7200000" cy="1276350"/>
          </a:xfrm>
          <a:prstGeom prst="rect">
            <a:avLst/>
          </a:prstGeom>
        </p:spPr>
        <p:txBody>
          <a:bodyPr lIns="0" tIns="0" rIns="0" bIns="0" anchor="b" anchorCtr="0"/>
          <a:lstStyle>
            <a:lvl1pPr marL="0" indent="0" fontAlgn="b">
              <a:lnSpc>
                <a:spcPct val="100000"/>
              </a:lnSpc>
              <a:spcBef>
                <a:spcPts val="0"/>
              </a:spcBef>
              <a:spcAft>
                <a:spcPts val="0"/>
              </a:spcAft>
              <a:buFontTx/>
              <a:buNone/>
              <a:defRPr sz="1600" b="1" i="0" baseline="0">
                <a:solidFill>
                  <a:schemeClr val="tx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15" name="Textplatzhalter 4">
            <a:extLst>
              <a:ext uri="{FF2B5EF4-FFF2-40B4-BE49-F238E27FC236}">
                <a16:creationId xmlns:a16="http://schemas.microsoft.com/office/drawing/2014/main" id="{37824750-FB89-455B-9BB6-3159F395EA06}"/>
              </a:ext>
            </a:extLst>
          </p:cNvPr>
          <p:cNvSpPr>
            <a:spLocks noGrp="1"/>
          </p:cNvSpPr>
          <p:nvPr>
            <p:ph type="body" sz="quarter" idx="17" hasCustomPrompt="1"/>
          </p:nvPr>
        </p:nvSpPr>
        <p:spPr>
          <a:xfrm>
            <a:off x="442913" y="3672000"/>
            <a:ext cx="7200000" cy="1440000"/>
          </a:xfrm>
          <a:prstGeom prst="rect">
            <a:avLst/>
          </a:prstGeom>
        </p:spPr>
        <p:txBody>
          <a:bodyPr lIns="0" tIns="0" rIns="0" bIns="0"/>
          <a:lstStyle>
            <a:lvl1pPr marL="0" indent="0">
              <a:lnSpc>
                <a:spcPct val="100000"/>
              </a:lnSpc>
              <a:spcBef>
                <a:spcPts val="0"/>
              </a:spcBef>
              <a:spcAft>
                <a:spcPts val="0"/>
              </a:spcAft>
              <a:buFontTx/>
              <a:buNone/>
              <a:defRPr sz="1600" b="1" i="0" baseline="0">
                <a:solidFill>
                  <a:schemeClr val="tx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Titel der Veranstaltung/Ort</a:t>
            </a:r>
            <a:br>
              <a:rPr lang="de-DE" b="1" dirty="0">
                <a:effectLst/>
                <a:latin typeface="Arial" panose="020B0604020202020204" pitchFamily="34" charset="0"/>
              </a:rPr>
            </a:br>
            <a:r>
              <a:rPr lang="de-DE" b="1" dirty="0">
                <a:effectLst/>
                <a:latin typeface="Arial" panose="020B0604020202020204" pitchFamily="34" charset="0"/>
              </a:rPr>
              <a:t>Zeile 2</a:t>
            </a:r>
            <a:endParaRPr lang="de-DE" dirty="0">
              <a:effectLst/>
              <a:latin typeface="Arial" panose="020B0604020202020204" pitchFamily="34" charset="0"/>
            </a:endParaRPr>
          </a:p>
        </p:txBody>
      </p:sp>
    </p:spTree>
    <p:extLst>
      <p:ext uri="{BB962C8B-B14F-4D97-AF65-F5344CB8AC3E}">
        <p14:creationId xmlns:p14="http://schemas.microsoft.com/office/powerpoint/2010/main" val="2141049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E26874FC-B98D-466B-A317-C21127392DBF}"/>
              </a:ext>
            </a:extLst>
          </p:cNvPr>
          <p:cNvSpPr>
            <a:spLocks noGrp="1"/>
          </p:cNvSpPr>
          <p:nvPr>
            <p:ph type="body" sz="quarter" idx="14"/>
          </p:nvPr>
        </p:nvSpPr>
        <p:spPr/>
        <p:txBody>
          <a:bodyPr/>
          <a:lstStyle/>
          <a:p>
            <a:r>
              <a:rPr lang="en-US" sz="3600" dirty="0">
                <a:solidFill>
                  <a:srgbClr val="FFFFFF"/>
                </a:solidFill>
                <a:latin typeface="Segoe UI" panose="020B0502040204020203" pitchFamily="34" charset="0"/>
                <a:cs typeface="Segoe UI" panose="020B0502040204020203" pitchFamily="34" charset="0"/>
              </a:rPr>
              <a:t>Forecasting Household Overnight Deposits with Machine Learning</a:t>
            </a:r>
            <a:endParaRPr lang="en-US" sz="3600" dirty="0">
              <a:latin typeface="Segoe UI" panose="020B0502040204020203" pitchFamily="34" charset="0"/>
              <a:cs typeface="Segoe UI" panose="020B0502040204020203" pitchFamily="34" charset="0"/>
            </a:endParaRPr>
          </a:p>
        </p:txBody>
      </p:sp>
      <p:sp>
        <p:nvSpPr>
          <p:cNvPr id="9" name="Textplatzhalter 8">
            <a:extLst>
              <a:ext uri="{FF2B5EF4-FFF2-40B4-BE49-F238E27FC236}">
                <a16:creationId xmlns:a16="http://schemas.microsoft.com/office/drawing/2014/main" id="{8AAC2F62-115A-47BE-B511-A3627D134785}"/>
              </a:ext>
            </a:extLst>
          </p:cNvPr>
          <p:cNvSpPr>
            <a:spLocks noGrp="1"/>
          </p:cNvSpPr>
          <p:nvPr>
            <p:ph type="body" sz="quarter" idx="15"/>
          </p:nvPr>
        </p:nvSpPr>
        <p:spPr/>
        <p:txBody>
          <a:bodyPr/>
          <a:lstStyle/>
          <a:p>
            <a:r>
              <a:rPr lang="en-US" dirty="0">
                <a:solidFill>
                  <a:srgbClr val="FFFFFF"/>
                </a:solidFill>
                <a:latin typeface="Segoe UI" panose="020B0502040204020203" pitchFamily="34" charset="0"/>
                <a:cs typeface="Segoe UI" panose="020B0502040204020203" pitchFamily="34" charset="0"/>
              </a:rPr>
              <a:t>Institute of AI in Management</a:t>
            </a:r>
          </a:p>
          <a:p>
            <a:r>
              <a:rPr lang="en-US" dirty="0">
                <a:solidFill>
                  <a:srgbClr val="FFFFFF"/>
                </a:solidFill>
                <a:latin typeface="Segoe UI" panose="020B0502040204020203" pitchFamily="34" charset="0"/>
                <a:cs typeface="Segoe UI" panose="020B0502040204020203" pitchFamily="34" charset="0"/>
              </a:rPr>
              <a:t>LMU Munich</a:t>
            </a:r>
            <a:endParaRPr lang="en-US" dirty="0">
              <a:latin typeface="Segoe UI" panose="020B0502040204020203" pitchFamily="34" charset="0"/>
              <a:cs typeface="Segoe UI" panose="020B0502040204020203" pitchFamily="34" charset="0"/>
            </a:endParaRPr>
          </a:p>
        </p:txBody>
      </p:sp>
      <p:sp>
        <p:nvSpPr>
          <p:cNvPr id="6" name="Foliennummernplatzhalter 5">
            <a:extLst>
              <a:ext uri="{FF2B5EF4-FFF2-40B4-BE49-F238E27FC236}">
                <a16:creationId xmlns:a16="http://schemas.microsoft.com/office/drawing/2014/main" id="{5A3E5DDB-6B3D-45B8-9158-07D19A23C6BD}"/>
              </a:ext>
            </a:extLst>
          </p:cNvPr>
          <p:cNvSpPr>
            <a:spLocks noGrp="1"/>
          </p:cNvSpPr>
          <p:nvPr>
            <p:ph type="sldNum" sz="quarter" idx="4294967295"/>
          </p:nvPr>
        </p:nvSpPr>
        <p:spPr>
          <a:xfrm>
            <a:off x="11787809" y="6519044"/>
            <a:ext cx="404191" cy="252000"/>
          </a:xfrm>
          <a:prstGeom prst="rect">
            <a:avLst/>
          </a:prstGeom>
        </p:spPr>
        <p:txBody>
          <a:bodyPr vert="horz" lIns="0" tIns="0" rIns="126000" bIns="0" rtlCol="0" anchor="ctr"/>
          <a:lstStyle>
            <a:defPPr>
              <a:defRPr lang="en-US"/>
            </a:defPPr>
            <a:lvl1pPr marL="0" algn="r" defTabSz="457200" rtl="0" eaLnBrk="1" latinLnBrk="0" hangingPunct="1">
              <a:defRPr sz="900" b="1"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FB5150B-0CEE-4773-8AAA-22F479C02EEB}" type="slidenum">
              <a:rPr lang="de-DE" smtClean="0"/>
              <a:pPr/>
              <a:t>1</a:t>
            </a:fld>
            <a:endParaRPr lang="de-DE"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5BE29B0-8050-481D-82CE-01A5650D867B}"/>
                  </a:ext>
                </a:extLst>
              </p14:cNvPr>
              <p14:cNvContentPartPr/>
              <p14:nvPr/>
            </p14:nvContentPartPr>
            <p14:xfrm>
              <a:off x="939680" y="2481826"/>
              <a:ext cx="6480" cy="360"/>
            </p14:xfrm>
          </p:contentPart>
        </mc:Choice>
        <mc:Fallback xmlns="">
          <p:pic>
            <p:nvPicPr>
              <p:cNvPr id="2" name="Ink 1">
                <a:extLst>
                  <a:ext uri="{FF2B5EF4-FFF2-40B4-BE49-F238E27FC236}">
                    <a16:creationId xmlns:a16="http://schemas.microsoft.com/office/drawing/2014/main" id="{95BE29B0-8050-481D-82CE-01A5650D867B}"/>
                  </a:ext>
                </a:extLst>
              </p:cNvPr>
              <p:cNvPicPr/>
              <p:nvPr/>
            </p:nvPicPr>
            <p:blipFill>
              <a:blip r:embed="rId3"/>
              <a:stretch>
                <a:fillRect/>
              </a:stretch>
            </p:blipFill>
            <p:spPr>
              <a:xfrm>
                <a:off x="930680" y="2473186"/>
                <a:ext cx="24120" cy="18000"/>
              </a:xfrm>
              <a:prstGeom prst="rect">
                <a:avLst/>
              </a:prstGeom>
            </p:spPr>
          </p:pic>
        </mc:Fallback>
      </mc:AlternateContent>
      <p:pic>
        <p:nvPicPr>
          <p:cNvPr id="4" name="Picture 3">
            <a:extLst>
              <a:ext uri="{FF2B5EF4-FFF2-40B4-BE49-F238E27FC236}">
                <a16:creationId xmlns:a16="http://schemas.microsoft.com/office/drawing/2014/main" id="{A8090643-2D4F-2801-AE29-816A271DE147}"/>
              </a:ext>
            </a:extLst>
          </p:cNvPr>
          <p:cNvPicPr>
            <a:picLocks noChangeAspect="1"/>
          </p:cNvPicPr>
          <p:nvPr/>
        </p:nvPicPr>
        <p:blipFill>
          <a:blip r:embed="rId4"/>
          <a:srcRect l="10791" t="8984" r="28116" b="14293"/>
          <a:stretch>
            <a:fillRect/>
          </a:stretch>
        </p:blipFill>
        <p:spPr>
          <a:xfrm>
            <a:off x="354012" y="336550"/>
            <a:ext cx="2904819" cy="912000"/>
          </a:xfrm>
          <a:prstGeom prst="rect">
            <a:avLst/>
          </a:prstGeom>
        </p:spPr>
      </p:pic>
    </p:spTree>
    <p:extLst>
      <p:ext uri="{BB962C8B-B14F-4D97-AF65-F5344CB8AC3E}">
        <p14:creationId xmlns:p14="http://schemas.microsoft.com/office/powerpoint/2010/main" val="15887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3</a:t>
            </a:r>
            <a:endParaRPr lang="en-US" sz="650" dirty="0"/>
          </a:p>
        </p:txBody>
      </p:sp>
      <p:sp>
        <p:nvSpPr>
          <p:cNvPr id="11" name="Text 8"/>
          <p:cNvSpPr/>
          <p:nvPr/>
        </p:nvSpPr>
        <p:spPr>
          <a:xfrm>
            <a:off x="777240" y="2240280"/>
            <a:ext cx="10789920" cy="548640"/>
          </a:xfrm>
          <a:prstGeom prst="rect">
            <a:avLst/>
          </a:prstGeom>
          <a:noFill/>
          <a:ln/>
        </p:spPr>
        <p:txBody>
          <a:bodyPr wrap="square" lIns="0" tIns="0" rIns="0" bIns="0" rtlCol="0" anchor="ctr"/>
          <a:lstStyle/>
          <a:p>
            <a:pPr marL="0" indent="0" algn="ctr">
              <a:buNone/>
            </a:pPr>
            <a:r>
              <a:rPr lang="en-US" sz="3600" b="1" dirty="0">
                <a:solidFill>
                  <a:srgbClr val="0E1886"/>
                </a:solidFill>
                <a:latin typeface="Segoe UI" panose="020B0502040204020203" pitchFamily="34" charset="0"/>
                <a:cs typeface="Segoe UI" panose="020B0502040204020203" pitchFamily="34" charset="0"/>
              </a:rPr>
              <a:t>Motivation</a:t>
            </a:r>
            <a:endParaRPr lang="en-US" sz="3600" dirty="0">
              <a:latin typeface="Segoe UI" panose="020B0502040204020203" pitchFamily="34" charset="0"/>
              <a:cs typeface="Segoe UI" panose="020B0502040204020203" pitchFamily="34" charset="0"/>
            </a:endParaRPr>
          </a:p>
        </p:txBody>
      </p:sp>
      <p:sp>
        <p:nvSpPr>
          <p:cNvPr id="13" name="Shape 10"/>
          <p:cNvSpPr/>
          <p:nvPr/>
        </p:nvSpPr>
        <p:spPr>
          <a:xfrm>
            <a:off x="2011680" y="3886200"/>
            <a:ext cx="685800" cy="685800"/>
          </a:xfrm>
          <a:prstGeom prst="ellipse">
            <a:avLst/>
          </a:prstGeom>
          <a:solidFill>
            <a:srgbClr val="0E1886"/>
          </a:solidFill>
          <a:ln w="12700">
            <a:solidFill>
              <a:srgbClr val="0E1886"/>
            </a:solidFill>
            <a:prstDash val="solid"/>
          </a:ln>
        </p:spPr>
        <p:txBody>
          <a:bodyPr/>
          <a:lstStyle/>
          <a:p>
            <a:endParaRPr lang="es-MX"/>
          </a:p>
        </p:txBody>
      </p:sp>
      <p:sp>
        <p:nvSpPr>
          <p:cNvPr id="14" name="Text 11"/>
          <p:cNvSpPr/>
          <p:nvPr/>
        </p:nvSpPr>
        <p:spPr>
          <a:xfrm>
            <a:off x="2011680" y="4133088"/>
            <a:ext cx="685800"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anose="020B0502040204020203" pitchFamily="34" charset="0"/>
                <a:ea typeface="ADLaM Display" panose="020F0502020204030204" pitchFamily="2" charset="0"/>
                <a:cs typeface="Segoe UI" panose="020B0502040204020203" pitchFamily="34" charset="0"/>
              </a:rPr>
              <a:t>M</a:t>
            </a:r>
            <a:endParaRPr lang="en-US" sz="1300" dirty="0">
              <a:latin typeface="Segoe UI" panose="020B0502040204020203" pitchFamily="34" charset="0"/>
              <a:ea typeface="ADLaM Display" panose="020F0502020204030204" pitchFamily="2" charset="0"/>
              <a:cs typeface="Segoe UI" panose="020B0502040204020203" pitchFamily="34" charset="0"/>
            </a:endParaRPr>
          </a:p>
        </p:txBody>
      </p:sp>
      <p:sp>
        <p:nvSpPr>
          <p:cNvPr id="15" name="Text 12"/>
          <p:cNvSpPr/>
          <p:nvPr/>
        </p:nvSpPr>
        <p:spPr>
          <a:xfrm>
            <a:off x="1783080" y="4709160"/>
            <a:ext cx="1143000" cy="228600"/>
          </a:xfrm>
          <a:prstGeom prst="rect">
            <a:avLst/>
          </a:prstGeom>
          <a:noFill/>
          <a:ln/>
        </p:spPr>
        <p:txBody>
          <a:bodyPr wrap="square" lIns="0" tIns="0" rIns="0" bIns="0" rtlCol="0" anchor="ctr"/>
          <a:lstStyle/>
          <a:p>
            <a:pPr marL="0" indent="0" algn="ctr">
              <a:buNone/>
            </a:pPr>
            <a:r>
              <a:rPr lang="en-US" sz="1200" b="1" dirty="0">
                <a:solidFill>
                  <a:srgbClr val="0E1886"/>
                </a:solidFill>
                <a:latin typeface="Segoe UI" panose="020B0502040204020203" pitchFamily="34" charset="0"/>
                <a:cs typeface="Segoe UI" panose="020B0502040204020203" pitchFamily="34" charset="0"/>
              </a:rPr>
              <a:t>Motivation</a:t>
            </a:r>
            <a:endParaRPr lang="en-US" sz="1200" dirty="0">
              <a:latin typeface="Segoe UI" panose="020B0502040204020203" pitchFamily="34" charset="0"/>
              <a:cs typeface="Segoe UI" panose="020B0502040204020203" pitchFamily="34" charset="0"/>
            </a:endParaRPr>
          </a:p>
        </p:txBody>
      </p:sp>
      <p:sp>
        <p:nvSpPr>
          <p:cNvPr id="16" name="Shape 13"/>
          <p:cNvSpPr/>
          <p:nvPr/>
        </p:nvSpPr>
        <p:spPr>
          <a:xfrm>
            <a:off x="402336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17" name="Text 14"/>
          <p:cNvSpPr/>
          <p:nvPr/>
        </p:nvSpPr>
        <p:spPr>
          <a:xfrm>
            <a:off x="4023360" y="4050792"/>
            <a:ext cx="685800" cy="201168"/>
          </a:xfrm>
          <a:prstGeom prst="rect">
            <a:avLst/>
          </a:prstGeom>
          <a:noFill/>
          <a:ln/>
        </p:spPr>
        <p:txBody>
          <a:bodyPr wrap="square" lIns="0" tIns="0" rIns="0" bIns="0" rtlCol="0" anchor="ctr"/>
          <a:lstStyle/>
          <a:p>
            <a:pPr marL="0" indent="0" algn="ctr">
              <a:buNone/>
            </a:pPr>
            <a:endParaRPr lang="en-US" sz="1300" dirty="0"/>
          </a:p>
        </p:txBody>
      </p:sp>
      <p:sp>
        <p:nvSpPr>
          <p:cNvPr id="18" name="Text 15"/>
          <p:cNvSpPr/>
          <p:nvPr/>
        </p:nvSpPr>
        <p:spPr>
          <a:xfrm>
            <a:off x="379476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Data</a:t>
            </a:r>
            <a:endParaRPr lang="en-US" sz="1200" dirty="0">
              <a:latin typeface="Segoe UI" panose="020B0502040204020203" pitchFamily="34" charset="0"/>
              <a:cs typeface="Segoe UI" panose="020B0502040204020203" pitchFamily="34" charset="0"/>
            </a:endParaRPr>
          </a:p>
        </p:txBody>
      </p:sp>
      <p:sp>
        <p:nvSpPr>
          <p:cNvPr id="19" name="Shape 16"/>
          <p:cNvSpPr/>
          <p:nvPr/>
        </p:nvSpPr>
        <p:spPr>
          <a:xfrm>
            <a:off x="603504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0" name="Text 17"/>
          <p:cNvSpPr/>
          <p:nvPr/>
        </p:nvSpPr>
        <p:spPr>
          <a:xfrm>
            <a:off x="6035040" y="4124725"/>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M</a:t>
            </a:r>
            <a:endParaRPr lang="en-US" sz="1300" dirty="0">
              <a:latin typeface="Segoe UI" panose="020B0502040204020203" pitchFamily="34" charset="0"/>
              <a:cs typeface="Segoe UI" panose="020B0502040204020203" pitchFamily="34" charset="0"/>
            </a:endParaRPr>
          </a:p>
        </p:txBody>
      </p:sp>
      <p:sp>
        <p:nvSpPr>
          <p:cNvPr id="21" name="Text 18"/>
          <p:cNvSpPr/>
          <p:nvPr/>
        </p:nvSpPr>
        <p:spPr>
          <a:xfrm>
            <a:off x="580644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Methods</a:t>
            </a:r>
            <a:endParaRPr lang="en-US" sz="1200" dirty="0">
              <a:latin typeface="Segoe UI" panose="020B0502040204020203" pitchFamily="34" charset="0"/>
              <a:cs typeface="Segoe UI" panose="020B0502040204020203" pitchFamily="34" charset="0"/>
            </a:endParaRPr>
          </a:p>
        </p:txBody>
      </p:sp>
      <p:sp>
        <p:nvSpPr>
          <p:cNvPr id="22" name="Shape 19"/>
          <p:cNvSpPr/>
          <p:nvPr/>
        </p:nvSpPr>
        <p:spPr>
          <a:xfrm>
            <a:off x="8046720" y="3919877"/>
            <a:ext cx="685800" cy="685800"/>
          </a:xfrm>
          <a:prstGeom prst="ellipse">
            <a:avLst/>
          </a:prstGeom>
          <a:solidFill>
            <a:srgbClr val="EDEEF2"/>
          </a:solidFill>
          <a:ln w="12700">
            <a:solidFill>
              <a:srgbClr val="D6D8E0"/>
            </a:solidFill>
            <a:prstDash val="solid"/>
          </a:ln>
        </p:spPr>
        <p:txBody>
          <a:bodyPr/>
          <a:lstStyle/>
          <a:p>
            <a:endParaRPr lang="es-MX"/>
          </a:p>
        </p:txBody>
      </p:sp>
      <p:sp>
        <p:nvSpPr>
          <p:cNvPr id="23" name="Text 20"/>
          <p:cNvSpPr/>
          <p:nvPr/>
        </p:nvSpPr>
        <p:spPr>
          <a:xfrm>
            <a:off x="8046720" y="4120934"/>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R</a:t>
            </a:r>
            <a:endParaRPr lang="en-US" sz="1300" dirty="0">
              <a:latin typeface="Segoe UI" panose="020B0502040204020203" pitchFamily="34" charset="0"/>
              <a:cs typeface="Segoe UI" panose="020B0502040204020203" pitchFamily="34" charset="0"/>
            </a:endParaRPr>
          </a:p>
        </p:txBody>
      </p:sp>
      <p:sp>
        <p:nvSpPr>
          <p:cNvPr id="24" name="Text 21"/>
          <p:cNvSpPr/>
          <p:nvPr/>
        </p:nvSpPr>
        <p:spPr>
          <a:xfrm>
            <a:off x="781812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Results</a:t>
            </a:r>
            <a:endParaRPr lang="en-US" sz="1200" dirty="0">
              <a:latin typeface="Segoe UI" panose="020B0502040204020203" pitchFamily="34" charset="0"/>
              <a:cs typeface="Segoe UI" panose="020B0502040204020203" pitchFamily="34" charset="0"/>
            </a:endParaRPr>
          </a:p>
        </p:txBody>
      </p:sp>
      <p:sp>
        <p:nvSpPr>
          <p:cNvPr id="25" name="Shape 22"/>
          <p:cNvSpPr/>
          <p:nvPr/>
        </p:nvSpPr>
        <p:spPr>
          <a:xfrm>
            <a:off x="1005840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6" name="Text 23"/>
          <p:cNvSpPr/>
          <p:nvPr/>
        </p:nvSpPr>
        <p:spPr>
          <a:xfrm>
            <a:off x="10058400" y="4120934"/>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C</a:t>
            </a:r>
            <a:endParaRPr lang="en-US" sz="1300" dirty="0">
              <a:latin typeface="Segoe UI" panose="020B0502040204020203" pitchFamily="34" charset="0"/>
              <a:cs typeface="Segoe UI" panose="020B0502040204020203" pitchFamily="34" charset="0"/>
            </a:endParaRPr>
          </a:p>
        </p:txBody>
      </p:sp>
      <p:sp>
        <p:nvSpPr>
          <p:cNvPr id="27" name="Text 24"/>
          <p:cNvSpPr/>
          <p:nvPr/>
        </p:nvSpPr>
        <p:spPr>
          <a:xfrm>
            <a:off x="982980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Conclusion</a:t>
            </a:r>
            <a:endParaRPr lang="en-US" sz="1200" dirty="0">
              <a:latin typeface="Segoe UI" panose="020B0502040204020203" pitchFamily="34" charset="0"/>
              <a:cs typeface="Segoe UI" panose="020B0502040204020203" pitchFamily="34" charset="0"/>
            </a:endParaRPr>
          </a:p>
        </p:txBody>
      </p:sp>
      <p:sp>
        <p:nvSpPr>
          <p:cNvPr id="28" name="Text 14">
            <a:extLst>
              <a:ext uri="{FF2B5EF4-FFF2-40B4-BE49-F238E27FC236}">
                <a16:creationId xmlns:a16="http://schemas.microsoft.com/office/drawing/2014/main" id="{932EEDCD-348B-FFCF-B1DF-E21F6BD2A65F}"/>
              </a:ext>
            </a:extLst>
          </p:cNvPr>
          <p:cNvSpPr/>
          <p:nvPr/>
        </p:nvSpPr>
        <p:spPr>
          <a:xfrm>
            <a:off x="4023360" y="4124725"/>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D</a:t>
            </a:r>
            <a:endParaRPr lang="en-US" sz="1300" dirty="0">
              <a:latin typeface="Segoe UI" panose="020B0502040204020203" pitchFamily="34" charset="0"/>
              <a:cs typeface="Segoe U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4</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Why forecast household overnight deposits?</a:t>
            </a:r>
            <a:endParaRPr lang="en-US" sz="2800" dirty="0">
              <a:latin typeface="Segoe UI" panose="020B0502040204020203" pitchFamily="34" charset="0"/>
              <a:cs typeface="Segoe UI" panose="020B0502040204020203" pitchFamily="34" charset="0"/>
            </a:endParaRPr>
          </a:p>
        </p:txBody>
      </p:sp>
      <p:grpSp>
        <p:nvGrpSpPr>
          <p:cNvPr id="38" name="Group 37">
            <a:extLst>
              <a:ext uri="{FF2B5EF4-FFF2-40B4-BE49-F238E27FC236}">
                <a16:creationId xmlns:a16="http://schemas.microsoft.com/office/drawing/2014/main" id="{1CE824D9-C9DF-0275-9351-720DBF32F8F2}"/>
              </a:ext>
            </a:extLst>
          </p:cNvPr>
          <p:cNvGrpSpPr/>
          <p:nvPr/>
        </p:nvGrpSpPr>
        <p:grpSpPr>
          <a:xfrm>
            <a:off x="548640" y="1828800"/>
            <a:ext cx="3614110" cy="2011680"/>
            <a:chOff x="411480" y="1828800"/>
            <a:chExt cx="3614110" cy="2011680"/>
          </a:xfrm>
        </p:grpSpPr>
        <p:sp>
          <p:nvSpPr>
            <p:cNvPr id="13" name="Shape 10"/>
            <p:cNvSpPr/>
            <p:nvPr/>
          </p:nvSpPr>
          <p:spPr>
            <a:xfrm>
              <a:off x="411480" y="1828800"/>
              <a:ext cx="3614110" cy="2011680"/>
            </a:xfrm>
            <a:prstGeom prst="roundRect">
              <a:avLst>
                <a:gd name="adj" fmla="val 3636"/>
              </a:avLst>
            </a:prstGeom>
            <a:solidFill>
              <a:srgbClr val="F2F3F7"/>
            </a:solidFill>
            <a:ln w="6350">
              <a:solidFill>
                <a:srgbClr val="D5D7DE"/>
              </a:solidFill>
              <a:prstDash val="solid"/>
            </a:ln>
          </p:spPr>
          <p:txBody>
            <a:bodyPr/>
            <a:lstStyle/>
            <a:p>
              <a:endParaRPr lang="es-MX"/>
            </a:p>
          </p:txBody>
        </p:sp>
        <p:sp>
          <p:nvSpPr>
            <p:cNvPr id="14" name="Shape 11"/>
            <p:cNvSpPr/>
            <p:nvPr/>
          </p:nvSpPr>
          <p:spPr>
            <a:xfrm>
              <a:off x="411480" y="1828800"/>
              <a:ext cx="3614110" cy="347472"/>
            </a:xfrm>
            <a:prstGeom prst="rect">
              <a:avLst/>
            </a:prstGeom>
            <a:solidFill>
              <a:srgbClr val="0E1886"/>
            </a:solidFill>
            <a:ln w="12700">
              <a:solidFill>
                <a:srgbClr val="0E1886"/>
              </a:solidFill>
              <a:prstDash val="solid"/>
            </a:ln>
          </p:spPr>
          <p:txBody>
            <a:bodyPr/>
            <a:lstStyle/>
            <a:p>
              <a:endParaRPr lang="es-MX"/>
            </a:p>
          </p:txBody>
        </p:sp>
        <p:sp>
          <p:nvSpPr>
            <p:cNvPr id="15" name="Text 12"/>
            <p:cNvSpPr/>
            <p:nvPr/>
          </p:nvSpPr>
          <p:spPr>
            <a:xfrm>
              <a:off x="521208" y="1901952"/>
              <a:ext cx="275234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Non-Maturity Deposits (NMDs)</a:t>
              </a:r>
              <a:endParaRPr lang="en-US" sz="1400" dirty="0">
                <a:latin typeface="Segoe UI" panose="020B0502040204020203" pitchFamily="34" charset="0"/>
                <a:cs typeface="Segoe UI" panose="020B0502040204020203" pitchFamily="34" charset="0"/>
              </a:endParaRPr>
            </a:p>
          </p:txBody>
        </p:sp>
        <p:sp>
          <p:nvSpPr>
            <p:cNvPr id="16" name="Text 13"/>
            <p:cNvSpPr/>
            <p:nvPr/>
          </p:nvSpPr>
          <p:spPr>
            <a:xfrm>
              <a:off x="576072" y="2313432"/>
              <a:ext cx="2642616" cy="144475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NMDs are bank liabilities without a contractual maturity: depositors can withdraw funds at any time.</a:t>
              </a:r>
            </a:p>
          </p:txBody>
        </p:sp>
      </p:grpSp>
      <p:grpSp>
        <p:nvGrpSpPr>
          <p:cNvPr id="37" name="Group 36">
            <a:extLst>
              <a:ext uri="{FF2B5EF4-FFF2-40B4-BE49-F238E27FC236}">
                <a16:creationId xmlns:a16="http://schemas.microsoft.com/office/drawing/2014/main" id="{173A4849-2203-2107-61B2-A1634EC838EF}"/>
              </a:ext>
            </a:extLst>
          </p:cNvPr>
          <p:cNvGrpSpPr/>
          <p:nvPr/>
        </p:nvGrpSpPr>
        <p:grpSpPr>
          <a:xfrm>
            <a:off x="4364855" y="1828800"/>
            <a:ext cx="3614400" cy="2011680"/>
            <a:chOff x="4190182" y="1828800"/>
            <a:chExt cx="3614400" cy="2011680"/>
          </a:xfrm>
        </p:grpSpPr>
        <p:sp>
          <p:nvSpPr>
            <p:cNvPr id="17" name="Shape 14"/>
            <p:cNvSpPr/>
            <p:nvPr/>
          </p:nvSpPr>
          <p:spPr>
            <a:xfrm>
              <a:off x="4190182" y="1828800"/>
              <a:ext cx="3614400" cy="2011680"/>
            </a:xfrm>
            <a:prstGeom prst="roundRect">
              <a:avLst>
                <a:gd name="adj" fmla="val 3636"/>
              </a:avLst>
            </a:prstGeom>
            <a:solidFill>
              <a:srgbClr val="F2F3F7"/>
            </a:solidFill>
            <a:ln w="6350">
              <a:solidFill>
                <a:srgbClr val="D5D7DE"/>
              </a:solidFill>
              <a:prstDash val="solid"/>
            </a:ln>
          </p:spPr>
          <p:txBody>
            <a:bodyPr/>
            <a:lstStyle/>
            <a:p>
              <a:endParaRPr lang="es-MX"/>
            </a:p>
          </p:txBody>
        </p:sp>
        <p:sp>
          <p:nvSpPr>
            <p:cNvPr id="18" name="Shape 15"/>
            <p:cNvSpPr/>
            <p:nvPr/>
          </p:nvSpPr>
          <p:spPr>
            <a:xfrm>
              <a:off x="4190182" y="1828800"/>
              <a:ext cx="3614400" cy="347472"/>
            </a:xfrm>
            <a:prstGeom prst="rect">
              <a:avLst/>
            </a:prstGeom>
            <a:solidFill>
              <a:srgbClr val="0E1886"/>
            </a:solidFill>
            <a:ln w="12700">
              <a:solidFill>
                <a:srgbClr val="0E1886"/>
              </a:solidFill>
              <a:prstDash val="solid"/>
            </a:ln>
          </p:spPr>
          <p:txBody>
            <a:bodyPr/>
            <a:lstStyle/>
            <a:p>
              <a:r>
                <a:rPr lang="es-MX" sz="1400" b="1" dirty="0" err="1">
                  <a:solidFill>
                    <a:srgbClr val="FFFFFF"/>
                  </a:solidFill>
                  <a:latin typeface="Segoe UI" panose="020B0502040204020203" pitchFamily="34" charset="0"/>
                  <a:cs typeface="Segoe UI" panose="020B0502040204020203" pitchFamily="34" charset="0"/>
                </a:rPr>
                <a:t>Characteristics</a:t>
              </a:r>
              <a:endParaRPr lang="es-MX" sz="1400" b="1" dirty="0">
                <a:solidFill>
                  <a:srgbClr val="FFFFFF"/>
                </a:solidFill>
                <a:latin typeface="Segoe UI" panose="020B0502040204020203" pitchFamily="34" charset="0"/>
                <a:cs typeface="Segoe UI" panose="020B0502040204020203" pitchFamily="34" charset="0"/>
              </a:endParaRPr>
            </a:p>
          </p:txBody>
        </p:sp>
        <p:sp>
          <p:nvSpPr>
            <p:cNvPr id="19" name="Text 16"/>
            <p:cNvSpPr/>
            <p:nvPr/>
          </p:nvSpPr>
          <p:spPr>
            <a:xfrm>
              <a:off x="4299910" y="1901952"/>
              <a:ext cx="2752344" cy="164592"/>
            </a:xfrm>
            <a:prstGeom prst="rect">
              <a:avLst/>
            </a:prstGeom>
            <a:noFill/>
            <a:ln/>
          </p:spPr>
          <p:txBody>
            <a:bodyPr wrap="square" lIns="0" tIns="0" rIns="0" bIns="0" rtlCol="0" anchor="ctr"/>
            <a:lstStyle/>
            <a:p>
              <a:endParaRPr lang="en-US" sz="1400" dirty="0">
                <a:latin typeface="Segoe UI" panose="020B0502040204020203" pitchFamily="34" charset="0"/>
                <a:cs typeface="Segoe UI" panose="020B0502040204020203" pitchFamily="34" charset="0"/>
              </a:endParaRPr>
            </a:p>
          </p:txBody>
        </p:sp>
        <p:sp>
          <p:nvSpPr>
            <p:cNvPr id="20" name="Text 17"/>
            <p:cNvSpPr/>
            <p:nvPr/>
          </p:nvSpPr>
          <p:spPr>
            <a:xfrm>
              <a:off x="4354774" y="2313432"/>
              <a:ext cx="2642616" cy="1444752"/>
            </a:xfrm>
            <a:prstGeom prst="rect">
              <a:avLst/>
            </a:prstGeom>
            <a:noFill/>
            <a:ln/>
          </p:spPr>
          <p:txBody>
            <a:bodyPr wrap="square" lIns="381" tIns="381" rIns="381" bIns="381" rtlCol="0" anchor="ctr">
              <a:normAutofit/>
            </a:bodyPr>
            <a:lstStyle/>
            <a:p>
              <a:r>
                <a:rPr lang="en-US" sz="1400" dirty="0">
                  <a:solidFill>
                    <a:srgbClr val="111111"/>
                  </a:solidFill>
                  <a:latin typeface="Segoe UI" panose="020B0502040204020203" pitchFamily="34" charset="0"/>
                  <a:cs typeface="Segoe UI" panose="020B0502040204020203" pitchFamily="34" charset="0"/>
                </a:rPr>
                <a:t>Are a major source of stable and low-cost bank funding.</a:t>
              </a:r>
              <a:endParaRPr lang="en-US" sz="1400" dirty="0">
                <a:latin typeface="Segoe UI" panose="020B0502040204020203" pitchFamily="34" charset="0"/>
                <a:cs typeface="Segoe UI" panose="020B0502040204020203" pitchFamily="34" charset="0"/>
              </a:endParaRPr>
            </a:p>
            <a:p>
              <a:r>
                <a:rPr lang="en-US" sz="1400" dirty="0">
                  <a:solidFill>
                    <a:srgbClr val="111111"/>
                  </a:solidFill>
                  <a:latin typeface="Segoe UI" panose="020B0502040204020203" pitchFamily="34" charset="0"/>
                  <a:cs typeface="Segoe UI" panose="020B0502040204020203" pitchFamily="34" charset="0"/>
                </a:rPr>
                <a:t>They matter for liquidity buffers, ALM, interest-rate-risk models, and planning.</a:t>
              </a:r>
              <a:endParaRPr lang="en-US" sz="1400" dirty="0">
                <a:latin typeface="Segoe UI" panose="020B0502040204020203" pitchFamily="34" charset="0"/>
                <a:cs typeface="Segoe UI" panose="020B0502040204020203" pitchFamily="34" charset="0"/>
              </a:endParaRPr>
            </a:p>
          </p:txBody>
        </p:sp>
      </p:grpSp>
      <p:grpSp>
        <p:nvGrpSpPr>
          <p:cNvPr id="36" name="Group 35">
            <a:extLst>
              <a:ext uri="{FF2B5EF4-FFF2-40B4-BE49-F238E27FC236}">
                <a16:creationId xmlns:a16="http://schemas.microsoft.com/office/drawing/2014/main" id="{966D3372-0222-C11E-8480-A7BCD7CE85D9}"/>
              </a:ext>
            </a:extLst>
          </p:cNvPr>
          <p:cNvGrpSpPr/>
          <p:nvPr/>
        </p:nvGrpSpPr>
        <p:grpSpPr>
          <a:xfrm>
            <a:off x="8181360" y="1828800"/>
            <a:ext cx="3614400" cy="2011680"/>
            <a:chOff x="8044200" y="1828800"/>
            <a:chExt cx="3614400" cy="2011680"/>
          </a:xfrm>
        </p:grpSpPr>
        <p:sp>
          <p:nvSpPr>
            <p:cNvPr id="21" name="Shape 18"/>
            <p:cNvSpPr/>
            <p:nvPr/>
          </p:nvSpPr>
          <p:spPr>
            <a:xfrm>
              <a:off x="8044200" y="1828800"/>
              <a:ext cx="3614400" cy="2011680"/>
            </a:xfrm>
            <a:prstGeom prst="roundRect">
              <a:avLst>
                <a:gd name="adj" fmla="val 3636"/>
              </a:avLst>
            </a:prstGeom>
            <a:solidFill>
              <a:srgbClr val="F2F3F7"/>
            </a:solidFill>
            <a:ln w="6350">
              <a:solidFill>
                <a:srgbClr val="D5D7DE"/>
              </a:solidFill>
              <a:prstDash val="solid"/>
            </a:ln>
          </p:spPr>
          <p:txBody>
            <a:bodyPr/>
            <a:lstStyle/>
            <a:p>
              <a:endParaRPr lang="es-MX"/>
            </a:p>
          </p:txBody>
        </p:sp>
        <p:sp>
          <p:nvSpPr>
            <p:cNvPr id="22" name="Shape 19"/>
            <p:cNvSpPr/>
            <p:nvPr/>
          </p:nvSpPr>
          <p:spPr>
            <a:xfrm>
              <a:off x="8044200" y="1828800"/>
              <a:ext cx="3614400" cy="347472"/>
            </a:xfrm>
            <a:prstGeom prst="rect">
              <a:avLst/>
            </a:prstGeom>
            <a:solidFill>
              <a:srgbClr val="0E1886"/>
            </a:solidFill>
            <a:ln w="12700">
              <a:solidFill>
                <a:srgbClr val="0E1886"/>
              </a:solidFill>
              <a:prstDash val="solid"/>
            </a:ln>
          </p:spPr>
          <p:txBody>
            <a:bodyPr/>
            <a:lstStyle/>
            <a:p>
              <a:endParaRPr lang="es-MX"/>
            </a:p>
          </p:txBody>
        </p:sp>
        <p:sp>
          <p:nvSpPr>
            <p:cNvPr id="23" name="Text 20"/>
            <p:cNvSpPr/>
            <p:nvPr/>
          </p:nvSpPr>
          <p:spPr>
            <a:xfrm>
              <a:off x="8153928" y="1901952"/>
              <a:ext cx="275234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Forecasting challenge</a:t>
              </a:r>
              <a:endParaRPr lang="en-US" sz="1400" dirty="0">
                <a:latin typeface="Segoe UI" panose="020B0502040204020203" pitchFamily="34" charset="0"/>
                <a:cs typeface="Segoe UI" panose="020B0502040204020203" pitchFamily="34" charset="0"/>
              </a:endParaRPr>
            </a:p>
          </p:txBody>
        </p:sp>
        <p:sp>
          <p:nvSpPr>
            <p:cNvPr id="24" name="Text 21"/>
            <p:cNvSpPr/>
            <p:nvPr/>
          </p:nvSpPr>
          <p:spPr>
            <a:xfrm>
              <a:off x="8208792" y="2313432"/>
              <a:ext cx="2642616" cy="144475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Deposit series are persistent, non-stationary, and exposed to regime shifts in interest rates and macro-financial conditions.</a:t>
              </a:r>
              <a:endParaRPr lang="en-US" sz="1400" dirty="0">
                <a:latin typeface="Segoe UI" panose="020B0502040204020203" pitchFamily="34" charset="0"/>
                <a:cs typeface="Segoe UI" panose="020B0502040204020203" pitchFamily="34" charset="0"/>
              </a:endParaRPr>
            </a:p>
          </p:txBody>
        </p:sp>
      </p:grpSp>
      <p:grpSp>
        <p:nvGrpSpPr>
          <p:cNvPr id="39" name="Group 38">
            <a:extLst>
              <a:ext uri="{FF2B5EF4-FFF2-40B4-BE49-F238E27FC236}">
                <a16:creationId xmlns:a16="http://schemas.microsoft.com/office/drawing/2014/main" id="{128114EA-E00F-9024-8659-EC647120D1B7}"/>
              </a:ext>
            </a:extLst>
          </p:cNvPr>
          <p:cNvGrpSpPr/>
          <p:nvPr/>
        </p:nvGrpSpPr>
        <p:grpSpPr>
          <a:xfrm>
            <a:off x="1097280" y="4571999"/>
            <a:ext cx="9875520" cy="1142993"/>
            <a:chOff x="1097280" y="4571999"/>
            <a:chExt cx="9875520" cy="1142993"/>
          </a:xfrm>
        </p:grpSpPr>
        <p:sp>
          <p:nvSpPr>
            <p:cNvPr id="40" name="Shape 22">
              <a:extLst>
                <a:ext uri="{FF2B5EF4-FFF2-40B4-BE49-F238E27FC236}">
                  <a16:creationId xmlns:a16="http://schemas.microsoft.com/office/drawing/2014/main" id="{F528C1D3-8586-D629-ED98-5AC01C2D31BB}"/>
                </a:ext>
              </a:extLst>
            </p:cNvPr>
            <p:cNvSpPr/>
            <p:nvPr/>
          </p:nvSpPr>
          <p:spPr>
            <a:xfrm>
              <a:off x="1097280" y="4571999"/>
              <a:ext cx="9875520" cy="1142993"/>
            </a:xfrm>
            <a:prstGeom prst="roundRect">
              <a:avLst>
                <a:gd name="adj" fmla="val 8000"/>
              </a:avLst>
            </a:prstGeom>
            <a:solidFill>
              <a:srgbClr val="F2F3F7"/>
            </a:solidFill>
            <a:ln w="12700">
              <a:solidFill>
                <a:srgbClr val="D5D7DE"/>
              </a:solidFill>
              <a:prstDash val="solid"/>
            </a:ln>
          </p:spPr>
          <p:txBody>
            <a:bodyPr/>
            <a:lstStyle/>
            <a:p>
              <a:endParaRPr lang="en-US" noProof="0" dirty="0"/>
            </a:p>
          </p:txBody>
        </p:sp>
        <p:sp>
          <p:nvSpPr>
            <p:cNvPr id="41" name="Text 23">
              <a:extLst>
                <a:ext uri="{FF2B5EF4-FFF2-40B4-BE49-F238E27FC236}">
                  <a16:creationId xmlns:a16="http://schemas.microsoft.com/office/drawing/2014/main" id="{8A0ABF6C-4206-8491-5635-4C320CF7E52C}"/>
                </a:ext>
              </a:extLst>
            </p:cNvPr>
            <p:cNvSpPr/>
            <p:nvPr/>
          </p:nvSpPr>
          <p:spPr>
            <a:xfrm>
              <a:off x="1417320" y="4782312"/>
              <a:ext cx="1645920" cy="228600"/>
            </a:xfrm>
            <a:prstGeom prst="rect">
              <a:avLst/>
            </a:prstGeom>
            <a:noFill/>
            <a:ln/>
          </p:spPr>
          <p:txBody>
            <a:bodyPr wrap="square" lIns="0" tIns="0" rIns="0" bIns="0" rtlCol="0" anchor="ctr"/>
            <a:lstStyle/>
            <a:p>
              <a:pPr marL="0" indent="0">
                <a:buNone/>
              </a:pPr>
              <a:r>
                <a:rPr lang="en-US" sz="1400" b="1" noProof="0" dirty="0">
                  <a:solidFill>
                    <a:srgbClr val="0E1886"/>
                  </a:solidFill>
                  <a:latin typeface="Segoe UI" panose="020B0502040204020203" pitchFamily="34" charset="0"/>
                  <a:cs typeface="Segoe UI" panose="020B0502040204020203" pitchFamily="34" charset="0"/>
                </a:rPr>
                <a:t>Research Gap</a:t>
              </a:r>
            </a:p>
          </p:txBody>
        </p:sp>
        <p:sp>
          <p:nvSpPr>
            <p:cNvPr id="42" name="Text 24">
              <a:extLst>
                <a:ext uri="{FF2B5EF4-FFF2-40B4-BE49-F238E27FC236}">
                  <a16:creationId xmlns:a16="http://schemas.microsoft.com/office/drawing/2014/main" id="{7F6B9783-AAD1-ED31-2E9D-03EA257129C3}"/>
                </a:ext>
              </a:extLst>
            </p:cNvPr>
            <p:cNvSpPr/>
            <p:nvPr/>
          </p:nvSpPr>
          <p:spPr>
            <a:xfrm>
              <a:off x="3063240" y="4718304"/>
              <a:ext cx="7909560" cy="806196"/>
            </a:xfrm>
            <a:prstGeom prst="rect">
              <a:avLst/>
            </a:prstGeom>
            <a:noFill/>
            <a:ln/>
          </p:spPr>
          <p:txBody>
            <a:bodyPr wrap="square" lIns="254" tIns="254" rIns="254" bIns="254" rtlCol="0" anchor="ctr">
              <a:noAutofit/>
            </a:bodyPr>
            <a:lstStyle/>
            <a:p>
              <a:r>
                <a:rPr lang="en-US" sz="1400" b="1" dirty="0">
                  <a:solidFill>
                    <a:srgbClr val="0B1E62"/>
                  </a:solidFill>
                </a:rPr>
                <a:t>Literature does not offer one accepted forecasting framework regarding NMDs and academic research is limited. </a:t>
              </a:r>
              <a:endParaRPr lang="en-US" sz="1400" dirty="0"/>
            </a:p>
            <a:p>
              <a:pPr marL="342900" indent="-342900">
                <a:buAutoNum type="arabicPeriod"/>
              </a:pPr>
              <a:endParaRPr lang="en-US" sz="1400" noProof="0" dirty="0">
                <a:solidFill>
                  <a:srgbClr val="000000"/>
                </a:solidFill>
                <a:latin typeface="Segoe UI" panose="020B0502040204020203" pitchFamily="34" charset="0"/>
                <a:cs typeface="Segoe UI" panose="020B0502040204020203"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n-US" noProof="0" dirty="0"/>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noProof="0" dirty="0">
                <a:solidFill>
                  <a:srgbClr val="666666"/>
                </a:solidFill>
              </a:rPr>
              <a:t>LMU Munich | Advanced AI</a:t>
            </a:r>
            <a:endParaRPr lang="en-US" sz="650" noProof="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noProof="0" dirty="0">
                <a:solidFill>
                  <a:srgbClr val="666666"/>
                </a:solidFill>
              </a:rPr>
              <a:t>5</a:t>
            </a:r>
            <a:endParaRPr lang="en-US" sz="650" noProof="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noProof="0" dirty="0">
                <a:solidFill>
                  <a:srgbClr val="0E1886"/>
                </a:solidFill>
                <a:latin typeface="Segoe UI" panose="020B0502040204020203" pitchFamily="34" charset="0"/>
                <a:ea typeface="Arial" pitchFamily="34" charset="-122"/>
                <a:cs typeface="Segoe UI" panose="020B0502040204020203" pitchFamily="34" charset="0"/>
              </a:rPr>
              <a:t>Research questions and contribution</a:t>
            </a:r>
            <a:endParaRPr lang="en-US" sz="2800" noProof="0" dirty="0">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9637C7DB-EDD9-11A6-45BF-D2D686E82185}"/>
              </a:ext>
            </a:extLst>
          </p:cNvPr>
          <p:cNvGrpSpPr/>
          <p:nvPr/>
        </p:nvGrpSpPr>
        <p:grpSpPr>
          <a:xfrm>
            <a:off x="685800" y="2845371"/>
            <a:ext cx="3337560" cy="1828800"/>
            <a:chOff x="685800" y="1828800"/>
            <a:chExt cx="3337560" cy="1828800"/>
          </a:xfrm>
        </p:grpSpPr>
        <p:sp>
          <p:nvSpPr>
            <p:cNvPr id="13" name="Shape 10"/>
            <p:cNvSpPr/>
            <p:nvPr/>
          </p:nvSpPr>
          <p:spPr>
            <a:xfrm>
              <a:off x="685800" y="1828800"/>
              <a:ext cx="3337560" cy="1828800"/>
            </a:xfrm>
            <a:prstGeom prst="roundRect">
              <a:avLst>
                <a:gd name="adj" fmla="val 4000"/>
              </a:avLst>
            </a:prstGeom>
            <a:solidFill>
              <a:srgbClr val="F2F3F7"/>
            </a:solidFill>
            <a:ln w="6350">
              <a:solidFill>
                <a:srgbClr val="D5D7DE"/>
              </a:solidFill>
              <a:prstDash val="solid"/>
            </a:ln>
          </p:spPr>
          <p:txBody>
            <a:bodyPr/>
            <a:lstStyle/>
            <a:p>
              <a:endParaRPr lang="en-US" noProof="0" dirty="0"/>
            </a:p>
          </p:txBody>
        </p:sp>
        <p:sp>
          <p:nvSpPr>
            <p:cNvPr id="14" name="Shape 11"/>
            <p:cNvSpPr/>
            <p:nvPr/>
          </p:nvSpPr>
          <p:spPr>
            <a:xfrm>
              <a:off x="685800" y="1828800"/>
              <a:ext cx="3337560" cy="347472"/>
            </a:xfrm>
            <a:prstGeom prst="rect">
              <a:avLst/>
            </a:prstGeom>
            <a:solidFill>
              <a:srgbClr val="0E1886"/>
            </a:solidFill>
            <a:ln w="12700">
              <a:solidFill>
                <a:srgbClr val="0E1886"/>
              </a:solidFill>
              <a:prstDash val="solid"/>
            </a:ln>
          </p:spPr>
          <p:txBody>
            <a:bodyPr/>
            <a:lstStyle/>
            <a:p>
              <a:endParaRPr lang="en-US" noProof="0" dirty="0"/>
            </a:p>
          </p:txBody>
        </p:sp>
        <p:sp>
          <p:nvSpPr>
            <p:cNvPr id="15" name="Text 12"/>
            <p:cNvSpPr/>
            <p:nvPr/>
          </p:nvSpPr>
          <p:spPr>
            <a:xfrm>
              <a:off x="795528" y="1901952"/>
              <a:ext cx="3118104" cy="164592"/>
            </a:xfrm>
            <a:prstGeom prst="rect">
              <a:avLst/>
            </a:prstGeom>
            <a:noFill/>
            <a:ln/>
          </p:spPr>
          <p:txBody>
            <a:bodyPr wrap="square" lIns="0" tIns="0" rIns="0" bIns="0" rtlCol="0" anchor="ctr"/>
            <a:lstStyle/>
            <a:p>
              <a:pPr marL="0" indent="0">
                <a:buNone/>
              </a:pPr>
              <a:r>
                <a:rPr lang="en-US" sz="1400" b="1" noProof="0" dirty="0">
                  <a:solidFill>
                    <a:srgbClr val="FFFFFF"/>
                  </a:solidFill>
                  <a:latin typeface="Segoe UI" panose="020B0502040204020203" pitchFamily="34" charset="0"/>
                  <a:cs typeface="Segoe UI" panose="020B0502040204020203" pitchFamily="34" charset="0"/>
                </a:rPr>
                <a:t>RQ1</a:t>
              </a:r>
              <a:endParaRPr lang="en-US" sz="1400" noProof="0" dirty="0">
                <a:latin typeface="Segoe UI" panose="020B0502040204020203" pitchFamily="34" charset="0"/>
                <a:cs typeface="Segoe UI" panose="020B0502040204020203" pitchFamily="34" charset="0"/>
              </a:endParaRPr>
            </a:p>
          </p:txBody>
        </p:sp>
        <p:sp>
          <p:nvSpPr>
            <p:cNvPr id="16" name="Text 13"/>
            <p:cNvSpPr/>
            <p:nvPr/>
          </p:nvSpPr>
          <p:spPr>
            <a:xfrm>
              <a:off x="850392" y="2313432"/>
              <a:ext cx="3008376" cy="1261872"/>
            </a:xfrm>
            <a:prstGeom prst="rect">
              <a:avLst/>
            </a:prstGeom>
            <a:noFill/>
            <a:ln/>
          </p:spPr>
          <p:txBody>
            <a:bodyPr wrap="square" lIns="381" tIns="381" rIns="381" bIns="381" rtlCol="0" anchor="ctr">
              <a:normAutofit/>
            </a:bodyPr>
            <a:lstStyle/>
            <a:p>
              <a:r>
                <a:rPr lang="en-US" sz="1400" noProof="0" dirty="0">
                  <a:solidFill>
                    <a:srgbClr val="000000"/>
                  </a:solidFill>
                  <a:latin typeface="Segoe UI" panose="020B0502040204020203" pitchFamily="34" charset="0"/>
                  <a:cs typeface="Segoe UI" panose="020B0502040204020203" pitchFamily="34" charset="0"/>
                </a:rPr>
                <a:t>How accurately can statistical and machine learning models forecast German household overnight deposits over a 100-day horizon?</a:t>
              </a:r>
            </a:p>
          </p:txBody>
        </p:sp>
      </p:grpSp>
      <p:grpSp>
        <p:nvGrpSpPr>
          <p:cNvPr id="29" name="Group 28">
            <a:extLst>
              <a:ext uri="{FF2B5EF4-FFF2-40B4-BE49-F238E27FC236}">
                <a16:creationId xmlns:a16="http://schemas.microsoft.com/office/drawing/2014/main" id="{0DA79109-A243-1202-A069-035AD6D983AC}"/>
              </a:ext>
            </a:extLst>
          </p:cNvPr>
          <p:cNvGrpSpPr/>
          <p:nvPr/>
        </p:nvGrpSpPr>
        <p:grpSpPr>
          <a:xfrm>
            <a:off x="4434840" y="2845371"/>
            <a:ext cx="3337560" cy="1828800"/>
            <a:chOff x="4434840" y="1828800"/>
            <a:chExt cx="3337560" cy="1828800"/>
          </a:xfrm>
        </p:grpSpPr>
        <p:sp>
          <p:nvSpPr>
            <p:cNvPr id="17" name="Shape 14"/>
            <p:cNvSpPr/>
            <p:nvPr/>
          </p:nvSpPr>
          <p:spPr>
            <a:xfrm>
              <a:off x="4434840" y="1828800"/>
              <a:ext cx="3337560" cy="1828800"/>
            </a:xfrm>
            <a:prstGeom prst="roundRect">
              <a:avLst>
                <a:gd name="adj" fmla="val 4000"/>
              </a:avLst>
            </a:prstGeom>
            <a:solidFill>
              <a:srgbClr val="F2F3F7"/>
            </a:solidFill>
            <a:ln w="6350">
              <a:solidFill>
                <a:srgbClr val="D5D7DE"/>
              </a:solidFill>
              <a:prstDash val="solid"/>
            </a:ln>
          </p:spPr>
          <p:txBody>
            <a:bodyPr/>
            <a:lstStyle/>
            <a:p>
              <a:endParaRPr lang="en-US" noProof="0" dirty="0"/>
            </a:p>
          </p:txBody>
        </p:sp>
        <p:sp>
          <p:nvSpPr>
            <p:cNvPr id="18" name="Shape 15"/>
            <p:cNvSpPr/>
            <p:nvPr/>
          </p:nvSpPr>
          <p:spPr>
            <a:xfrm>
              <a:off x="4434840" y="1828800"/>
              <a:ext cx="3337560" cy="347472"/>
            </a:xfrm>
            <a:prstGeom prst="rect">
              <a:avLst/>
            </a:prstGeom>
            <a:solidFill>
              <a:srgbClr val="0E1886"/>
            </a:solidFill>
            <a:ln w="12700">
              <a:solidFill>
                <a:srgbClr val="0E1886"/>
              </a:solidFill>
              <a:prstDash val="solid"/>
            </a:ln>
          </p:spPr>
          <p:txBody>
            <a:bodyPr/>
            <a:lstStyle/>
            <a:p>
              <a:endParaRPr lang="en-US" noProof="0" dirty="0"/>
            </a:p>
          </p:txBody>
        </p:sp>
        <p:sp>
          <p:nvSpPr>
            <p:cNvPr id="19" name="Text 16"/>
            <p:cNvSpPr/>
            <p:nvPr/>
          </p:nvSpPr>
          <p:spPr>
            <a:xfrm>
              <a:off x="4544568" y="1901952"/>
              <a:ext cx="3118104" cy="164592"/>
            </a:xfrm>
            <a:prstGeom prst="rect">
              <a:avLst/>
            </a:prstGeom>
            <a:noFill/>
            <a:ln/>
          </p:spPr>
          <p:txBody>
            <a:bodyPr wrap="square" lIns="0" tIns="0" rIns="0" bIns="0" rtlCol="0" anchor="ctr"/>
            <a:lstStyle/>
            <a:p>
              <a:r>
                <a:rPr lang="en-US" sz="1400" b="1" noProof="0" dirty="0">
                  <a:solidFill>
                    <a:srgbClr val="FFFFFF"/>
                  </a:solidFill>
                  <a:latin typeface="Segoe UI" panose="020B0502040204020203" pitchFamily="34" charset="0"/>
                  <a:cs typeface="Segoe UI" panose="020B0502040204020203" pitchFamily="34" charset="0"/>
                </a:rPr>
                <a:t>RQ2</a:t>
              </a:r>
            </a:p>
          </p:txBody>
        </p:sp>
        <p:sp>
          <p:nvSpPr>
            <p:cNvPr id="20" name="Text 17"/>
            <p:cNvSpPr/>
            <p:nvPr/>
          </p:nvSpPr>
          <p:spPr>
            <a:xfrm>
              <a:off x="4599432" y="2313432"/>
              <a:ext cx="3008376" cy="1261872"/>
            </a:xfrm>
            <a:prstGeom prst="rect">
              <a:avLst/>
            </a:prstGeom>
            <a:noFill/>
            <a:ln/>
          </p:spPr>
          <p:txBody>
            <a:bodyPr wrap="square" lIns="381" tIns="381" rIns="381" bIns="381" rtlCol="0" anchor="ctr">
              <a:normAutofit/>
            </a:bodyPr>
            <a:lstStyle/>
            <a:p>
              <a:r>
                <a:rPr lang="en-US" sz="1400" noProof="0" dirty="0">
                  <a:solidFill>
                    <a:srgbClr val="000000"/>
                  </a:solidFill>
                  <a:latin typeface="Segoe UI" panose="020B0502040204020203" pitchFamily="34" charset="0"/>
                  <a:cs typeface="Segoe UI" panose="020B0502040204020203" pitchFamily="34" charset="0"/>
                </a:rPr>
                <a:t>Do nonlinear ML models outperform linear and naive benchmark models in reconstructed deposit levels?</a:t>
              </a:r>
            </a:p>
          </p:txBody>
        </p:sp>
      </p:grpSp>
      <p:grpSp>
        <p:nvGrpSpPr>
          <p:cNvPr id="28" name="Group 27">
            <a:extLst>
              <a:ext uri="{FF2B5EF4-FFF2-40B4-BE49-F238E27FC236}">
                <a16:creationId xmlns:a16="http://schemas.microsoft.com/office/drawing/2014/main" id="{3BA29079-C392-1E6D-AED6-1BB29F5DFD9D}"/>
              </a:ext>
            </a:extLst>
          </p:cNvPr>
          <p:cNvGrpSpPr/>
          <p:nvPr/>
        </p:nvGrpSpPr>
        <p:grpSpPr>
          <a:xfrm>
            <a:off x="8183880" y="2845371"/>
            <a:ext cx="3337560" cy="1828800"/>
            <a:chOff x="8183880" y="1828800"/>
            <a:chExt cx="3337560" cy="1828800"/>
          </a:xfrm>
        </p:grpSpPr>
        <p:sp>
          <p:nvSpPr>
            <p:cNvPr id="21" name="Shape 18"/>
            <p:cNvSpPr/>
            <p:nvPr/>
          </p:nvSpPr>
          <p:spPr>
            <a:xfrm>
              <a:off x="8183880" y="1828800"/>
              <a:ext cx="3337560" cy="1828800"/>
            </a:xfrm>
            <a:prstGeom prst="roundRect">
              <a:avLst>
                <a:gd name="adj" fmla="val 4000"/>
              </a:avLst>
            </a:prstGeom>
            <a:solidFill>
              <a:srgbClr val="F2F3F7"/>
            </a:solidFill>
            <a:ln w="6350">
              <a:solidFill>
                <a:srgbClr val="D5D7DE"/>
              </a:solidFill>
              <a:prstDash val="solid"/>
            </a:ln>
          </p:spPr>
          <p:txBody>
            <a:bodyPr/>
            <a:lstStyle/>
            <a:p>
              <a:endParaRPr lang="en-US" noProof="0" dirty="0"/>
            </a:p>
          </p:txBody>
        </p:sp>
        <p:sp>
          <p:nvSpPr>
            <p:cNvPr id="22" name="Shape 19"/>
            <p:cNvSpPr/>
            <p:nvPr/>
          </p:nvSpPr>
          <p:spPr>
            <a:xfrm>
              <a:off x="8183880" y="1828800"/>
              <a:ext cx="3337560" cy="347472"/>
            </a:xfrm>
            <a:prstGeom prst="rect">
              <a:avLst/>
            </a:prstGeom>
            <a:solidFill>
              <a:srgbClr val="0E1886"/>
            </a:solidFill>
            <a:ln w="12700">
              <a:solidFill>
                <a:srgbClr val="0E1886"/>
              </a:solidFill>
              <a:prstDash val="solid"/>
            </a:ln>
          </p:spPr>
          <p:txBody>
            <a:bodyPr/>
            <a:lstStyle/>
            <a:p>
              <a:endParaRPr lang="en-US" noProof="0" dirty="0"/>
            </a:p>
          </p:txBody>
        </p:sp>
        <p:sp>
          <p:nvSpPr>
            <p:cNvPr id="23" name="Text 20"/>
            <p:cNvSpPr/>
            <p:nvPr/>
          </p:nvSpPr>
          <p:spPr>
            <a:xfrm>
              <a:off x="8293608" y="1901952"/>
              <a:ext cx="3118104" cy="164592"/>
            </a:xfrm>
            <a:prstGeom prst="rect">
              <a:avLst/>
            </a:prstGeom>
            <a:noFill/>
            <a:ln/>
          </p:spPr>
          <p:txBody>
            <a:bodyPr wrap="square" lIns="0" tIns="0" rIns="0" bIns="0" rtlCol="0" anchor="ctr"/>
            <a:lstStyle/>
            <a:p>
              <a:pPr marL="0" indent="0">
                <a:buNone/>
              </a:pPr>
              <a:r>
                <a:rPr lang="en-US" sz="1400" b="1" noProof="0" dirty="0">
                  <a:solidFill>
                    <a:srgbClr val="FFFFFF"/>
                  </a:solidFill>
                  <a:latin typeface="Segoe UI" panose="020B0502040204020203" pitchFamily="34" charset="0"/>
                  <a:cs typeface="Segoe UI" panose="020B0502040204020203" pitchFamily="34" charset="0"/>
                </a:rPr>
                <a:t>RQ3</a:t>
              </a:r>
            </a:p>
          </p:txBody>
        </p:sp>
        <p:sp>
          <p:nvSpPr>
            <p:cNvPr id="24" name="Text 21"/>
            <p:cNvSpPr/>
            <p:nvPr/>
          </p:nvSpPr>
          <p:spPr>
            <a:xfrm>
              <a:off x="8348472" y="2313432"/>
              <a:ext cx="3008376" cy="1261872"/>
            </a:xfrm>
            <a:prstGeom prst="rect">
              <a:avLst/>
            </a:prstGeom>
            <a:noFill/>
            <a:ln/>
          </p:spPr>
          <p:txBody>
            <a:bodyPr wrap="square" lIns="381" tIns="381" rIns="381" bIns="381" rtlCol="0" anchor="ctr">
              <a:normAutofit/>
            </a:bodyPr>
            <a:lstStyle/>
            <a:p>
              <a:r>
                <a:rPr lang="en-US" sz="1400" noProof="0" dirty="0">
                  <a:solidFill>
                    <a:srgbClr val="000000"/>
                  </a:solidFill>
                  <a:latin typeface="Segoe UI" panose="020B0502040204020203" pitchFamily="34" charset="0"/>
                  <a:cs typeface="Segoe UI" panose="020B0502040204020203" pitchFamily="34" charset="0"/>
                </a:rPr>
                <a:t>Which covariate groups improve performance, and does this depend on the model architecture?</a:t>
              </a:r>
            </a:p>
          </p:txBody>
        </p:sp>
      </p:grpSp>
      <p:grpSp>
        <p:nvGrpSpPr>
          <p:cNvPr id="37" name="Group 36">
            <a:extLst>
              <a:ext uri="{FF2B5EF4-FFF2-40B4-BE49-F238E27FC236}">
                <a16:creationId xmlns:a16="http://schemas.microsoft.com/office/drawing/2014/main" id="{754A55FB-D444-58CA-50EC-11AF9976A623}"/>
              </a:ext>
            </a:extLst>
          </p:cNvPr>
          <p:cNvGrpSpPr/>
          <p:nvPr/>
        </p:nvGrpSpPr>
        <p:grpSpPr>
          <a:xfrm>
            <a:off x="1097280" y="5040000"/>
            <a:ext cx="9875520" cy="1142993"/>
            <a:chOff x="1097280" y="4571999"/>
            <a:chExt cx="9875520" cy="1142993"/>
          </a:xfrm>
        </p:grpSpPr>
        <p:sp>
          <p:nvSpPr>
            <p:cNvPr id="25" name="Shape 22"/>
            <p:cNvSpPr/>
            <p:nvPr/>
          </p:nvSpPr>
          <p:spPr>
            <a:xfrm>
              <a:off x="1097280" y="4571999"/>
              <a:ext cx="9875520" cy="1142993"/>
            </a:xfrm>
            <a:prstGeom prst="roundRect">
              <a:avLst>
                <a:gd name="adj" fmla="val 8000"/>
              </a:avLst>
            </a:prstGeom>
            <a:solidFill>
              <a:srgbClr val="F2F3F7"/>
            </a:solidFill>
            <a:ln w="12700">
              <a:solidFill>
                <a:srgbClr val="D5D7DE"/>
              </a:solidFill>
              <a:prstDash val="solid"/>
            </a:ln>
          </p:spPr>
          <p:txBody>
            <a:bodyPr/>
            <a:lstStyle/>
            <a:p>
              <a:endParaRPr lang="en-US" noProof="0" dirty="0"/>
            </a:p>
          </p:txBody>
        </p:sp>
        <p:sp>
          <p:nvSpPr>
            <p:cNvPr id="26" name="Text 23"/>
            <p:cNvSpPr/>
            <p:nvPr/>
          </p:nvSpPr>
          <p:spPr>
            <a:xfrm>
              <a:off x="1417320" y="4782312"/>
              <a:ext cx="1645920" cy="228600"/>
            </a:xfrm>
            <a:prstGeom prst="rect">
              <a:avLst/>
            </a:prstGeom>
            <a:noFill/>
            <a:ln/>
          </p:spPr>
          <p:txBody>
            <a:bodyPr wrap="square" lIns="0" tIns="0" rIns="0" bIns="0" rtlCol="0" anchor="ctr"/>
            <a:lstStyle/>
            <a:p>
              <a:pPr marL="0" indent="0">
                <a:buNone/>
              </a:pPr>
              <a:r>
                <a:rPr lang="en-US" sz="1400" b="1" noProof="0" dirty="0">
                  <a:solidFill>
                    <a:srgbClr val="0E1886"/>
                  </a:solidFill>
                  <a:latin typeface="Segoe UI" panose="020B0502040204020203" pitchFamily="34" charset="0"/>
                  <a:cs typeface="Segoe UI" panose="020B0502040204020203" pitchFamily="34" charset="0"/>
                </a:rPr>
                <a:t>Contributions</a:t>
              </a:r>
            </a:p>
          </p:txBody>
        </p:sp>
        <p:sp>
          <p:nvSpPr>
            <p:cNvPr id="27" name="Text 24"/>
            <p:cNvSpPr/>
            <p:nvPr/>
          </p:nvSpPr>
          <p:spPr>
            <a:xfrm>
              <a:off x="3063240" y="4680000"/>
              <a:ext cx="7909560" cy="806196"/>
            </a:xfrm>
            <a:prstGeom prst="rect">
              <a:avLst/>
            </a:prstGeom>
            <a:noFill/>
            <a:ln/>
          </p:spPr>
          <p:txBody>
            <a:bodyPr wrap="square" lIns="254" tIns="254" rIns="254" bIns="254" rtlCol="0" anchor="ctr">
              <a:noAutofit/>
            </a:bodyPr>
            <a:lstStyle/>
            <a:p>
              <a:pPr marL="342900" indent="-342900">
                <a:buAutoNum type="arabicPeriod"/>
              </a:pPr>
              <a:r>
                <a:rPr lang="en-US" sz="1400" noProof="0" dirty="0">
                  <a:solidFill>
                    <a:srgbClr val="000000"/>
                  </a:solidFill>
                  <a:latin typeface="Segoe UI" panose="020B0502040204020203" pitchFamily="34" charset="0"/>
                  <a:cs typeface="Segoe UI" panose="020B0502040204020203" pitchFamily="34" charset="0"/>
                </a:rPr>
                <a:t>E</a:t>
              </a:r>
              <a:r>
                <a:rPr lang="en-US" sz="1400" noProof="0" dirty="0"/>
                <a:t>xamines whether greater model complexity leads to more accurate forecasts. </a:t>
              </a:r>
            </a:p>
            <a:p>
              <a:pPr marL="342900" indent="-342900">
                <a:buAutoNum type="arabicPeriod"/>
              </a:pPr>
              <a:r>
                <a:rPr lang="en-US" sz="1400" noProof="0" dirty="0"/>
                <a:t>Evaluates how interest-rate, macroeconomic, and financial-market covariates affect forecasting performance </a:t>
              </a:r>
            </a:p>
            <a:p>
              <a:pPr marL="342900" indent="-342900">
                <a:buAutoNum type="arabicPeriod"/>
              </a:pPr>
              <a:r>
                <a:rPr lang="en-US" sz="1400" noProof="0" dirty="0"/>
                <a:t>Investigates whether model performance remains stable across different economic periods</a:t>
              </a:r>
              <a:endParaRPr lang="en-US" sz="1400" noProof="0" dirty="0">
                <a:solidFill>
                  <a:srgbClr val="000000"/>
                </a:solidFill>
                <a:latin typeface="Segoe UI" panose="020B0502040204020203" pitchFamily="34" charset="0"/>
                <a:cs typeface="Segoe UI" panose="020B0502040204020203" pitchFamily="34" charset="0"/>
              </a:endParaRPr>
            </a:p>
          </p:txBody>
        </p:sp>
      </p:grpSp>
      <p:grpSp>
        <p:nvGrpSpPr>
          <p:cNvPr id="42" name="Group 41">
            <a:extLst>
              <a:ext uri="{FF2B5EF4-FFF2-40B4-BE49-F238E27FC236}">
                <a16:creationId xmlns:a16="http://schemas.microsoft.com/office/drawing/2014/main" id="{2B9BC014-AF24-29D4-30FC-F794F5F63A3F}"/>
              </a:ext>
            </a:extLst>
          </p:cNvPr>
          <p:cNvGrpSpPr/>
          <p:nvPr/>
        </p:nvGrpSpPr>
        <p:grpSpPr>
          <a:xfrm>
            <a:off x="1097280" y="1828800"/>
            <a:ext cx="9875520" cy="650741"/>
            <a:chOff x="1097280" y="4571999"/>
            <a:chExt cx="9875520" cy="650741"/>
          </a:xfrm>
        </p:grpSpPr>
        <p:sp>
          <p:nvSpPr>
            <p:cNvPr id="43" name="Shape 22">
              <a:extLst>
                <a:ext uri="{FF2B5EF4-FFF2-40B4-BE49-F238E27FC236}">
                  <a16:creationId xmlns:a16="http://schemas.microsoft.com/office/drawing/2014/main" id="{D9CC114A-B466-B744-59F5-C5CAD9CFEBED}"/>
                </a:ext>
              </a:extLst>
            </p:cNvPr>
            <p:cNvSpPr/>
            <p:nvPr/>
          </p:nvSpPr>
          <p:spPr>
            <a:xfrm>
              <a:off x="1097280" y="4571999"/>
              <a:ext cx="9875520" cy="650741"/>
            </a:xfrm>
            <a:prstGeom prst="roundRect">
              <a:avLst>
                <a:gd name="adj" fmla="val 8000"/>
              </a:avLst>
            </a:prstGeom>
            <a:solidFill>
              <a:srgbClr val="F2F3F7"/>
            </a:solidFill>
            <a:ln w="12700">
              <a:solidFill>
                <a:srgbClr val="D5D7DE"/>
              </a:solidFill>
              <a:prstDash val="solid"/>
            </a:ln>
          </p:spPr>
          <p:txBody>
            <a:bodyPr/>
            <a:lstStyle/>
            <a:p>
              <a:endParaRPr lang="en-US" noProof="0" dirty="0"/>
            </a:p>
          </p:txBody>
        </p:sp>
        <p:sp>
          <p:nvSpPr>
            <p:cNvPr id="44" name="Text 23">
              <a:extLst>
                <a:ext uri="{FF2B5EF4-FFF2-40B4-BE49-F238E27FC236}">
                  <a16:creationId xmlns:a16="http://schemas.microsoft.com/office/drawing/2014/main" id="{DADD4E0F-FFBA-C980-5291-9A282906B66E}"/>
                </a:ext>
              </a:extLst>
            </p:cNvPr>
            <p:cNvSpPr/>
            <p:nvPr/>
          </p:nvSpPr>
          <p:spPr>
            <a:xfrm>
              <a:off x="1417320" y="4782312"/>
              <a:ext cx="1645920" cy="228600"/>
            </a:xfrm>
            <a:prstGeom prst="rect">
              <a:avLst/>
            </a:prstGeom>
            <a:noFill/>
            <a:ln/>
          </p:spPr>
          <p:txBody>
            <a:bodyPr wrap="square" lIns="0" tIns="0" rIns="0" bIns="0" rtlCol="0" anchor="ctr"/>
            <a:lstStyle/>
            <a:p>
              <a:pPr marL="0" indent="0">
                <a:buNone/>
              </a:pPr>
              <a:r>
                <a:rPr lang="en-US" sz="1400" b="1" noProof="0" dirty="0">
                  <a:solidFill>
                    <a:srgbClr val="0E1886"/>
                  </a:solidFill>
                  <a:latin typeface="Segoe UI" panose="020B0502040204020203" pitchFamily="34" charset="0"/>
                  <a:cs typeface="Segoe UI" panose="020B0502040204020203" pitchFamily="34" charset="0"/>
                </a:rPr>
                <a:t>Research Gap</a:t>
              </a:r>
            </a:p>
          </p:txBody>
        </p:sp>
        <p:sp>
          <p:nvSpPr>
            <p:cNvPr id="45" name="Text 24">
              <a:extLst>
                <a:ext uri="{FF2B5EF4-FFF2-40B4-BE49-F238E27FC236}">
                  <a16:creationId xmlns:a16="http://schemas.microsoft.com/office/drawing/2014/main" id="{E4799581-BA77-7C2A-7B37-843B9599AFD4}"/>
                </a:ext>
              </a:extLst>
            </p:cNvPr>
            <p:cNvSpPr/>
            <p:nvPr/>
          </p:nvSpPr>
          <p:spPr>
            <a:xfrm>
              <a:off x="3063240" y="4718304"/>
              <a:ext cx="7909560" cy="292608"/>
            </a:xfrm>
            <a:prstGeom prst="rect">
              <a:avLst/>
            </a:prstGeom>
            <a:noFill/>
            <a:ln/>
          </p:spPr>
          <p:txBody>
            <a:bodyPr wrap="square" lIns="254" tIns="254" rIns="254" bIns="254" rtlCol="0" anchor="ctr">
              <a:noAutofit/>
            </a:bodyPr>
            <a:lstStyle/>
            <a:p>
              <a:r>
                <a:rPr lang="en-US" sz="1400" dirty="0"/>
                <a:t>Literature does not offer one accepted forecasting framework regarding NMDs and academic research is limited.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6</a:t>
            </a:r>
            <a:endParaRPr lang="en-US" sz="650" dirty="0"/>
          </a:p>
        </p:txBody>
      </p:sp>
      <p:sp>
        <p:nvSpPr>
          <p:cNvPr id="11" name="Text 8"/>
          <p:cNvSpPr/>
          <p:nvPr/>
        </p:nvSpPr>
        <p:spPr>
          <a:xfrm>
            <a:off x="777240" y="2240280"/>
            <a:ext cx="10789920" cy="548640"/>
          </a:xfrm>
          <a:prstGeom prst="rect">
            <a:avLst/>
          </a:prstGeom>
          <a:noFill/>
          <a:ln/>
        </p:spPr>
        <p:txBody>
          <a:bodyPr wrap="square" lIns="0" tIns="0" rIns="0" bIns="0" rtlCol="0" anchor="ctr"/>
          <a:lstStyle/>
          <a:p>
            <a:pPr marL="0" indent="0" algn="ctr">
              <a:buNone/>
            </a:pPr>
            <a:r>
              <a:rPr lang="en-US" sz="3600" b="1" dirty="0">
                <a:solidFill>
                  <a:srgbClr val="0E1886"/>
                </a:solidFill>
                <a:latin typeface="Segoe UI" panose="020B0502040204020203" pitchFamily="34" charset="0"/>
                <a:cs typeface="Segoe UI" panose="020B0502040204020203" pitchFamily="34" charset="0"/>
              </a:rPr>
              <a:t>Data</a:t>
            </a:r>
            <a:endParaRPr lang="en-US" sz="3600" dirty="0">
              <a:latin typeface="Segoe UI" panose="020B0502040204020203" pitchFamily="34" charset="0"/>
              <a:cs typeface="Segoe UI" panose="020B0502040204020203" pitchFamily="34" charset="0"/>
            </a:endParaRPr>
          </a:p>
        </p:txBody>
      </p:sp>
      <p:sp>
        <p:nvSpPr>
          <p:cNvPr id="13" name="Shape 10"/>
          <p:cNvSpPr/>
          <p:nvPr/>
        </p:nvSpPr>
        <p:spPr>
          <a:xfrm>
            <a:off x="2011680" y="3886200"/>
            <a:ext cx="685800" cy="685800"/>
          </a:xfrm>
          <a:prstGeom prst="ellipse">
            <a:avLst/>
          </a:prstGeom>
          <a:solidFill>
            <a:srgbClr val="EDEEF2"/>
          </a:solidFill>
          <a:ln w="12700">
            <a:solidFill>
              <a:srgbClr val="D6D8E0"/>
            </a:solidFill>
            <a:prstDash val="solid"/>
          </a:ln>
        </p:spPr>
        <p:txBody>
          <a:bodyPr/>
          <a:lstStyle/>
          <a:p>
            <a:endParaRPr lang="es-MX" dirty="0">
              <a:latin typeface="Segoe UI" panose="020B0502040204020203" pitchFamily="34" charset="0"/>
              <a:cs typeface="Segoe UI" panose="020B0502040204020203" pitchFamily="34" charset="0"/>
            </a:endParaRPr>
          </a:p>
        </p:txBody>
      </p:sp>
      <p:sp>
        <p:nvSpPr>
          <p:cNvPr id="14" name="Text 11"/>
          <p:cNvSpPr/>
          <p:nvPr/>
        </p:nvSpPr>
        <p:spPr>
          <a:xfrm>
            <a:off x="201168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M</a:t>
            </a:r>
            <a:endParaRPr lang="en-US" sz="1300" dirty="0">
              <a:latin typeface="Segoe UI" panose="020B0502040204020203" pitchFamily="34" charset="0"/>
              <a:cs typeface="Segoe UI" panose="020B0502040204020203" pitchFamily="34" charset="0"/>
            </a:endParaRPr>
          </a:p>
        </p:txBody>
      </p:sp>
      <p:sp>
        <p:nvSpPr>
          <p:cNvPr id="15" name="Text 12"/>
          <p:cNvSpPr/>
          <p:nvPr/>
        </p:nvSpPr>
        <p:spPr>
          <a:xfrm>
            <a:off x="178308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Motivation</a:t>
            </a:r>
            <a:endParaRPr lang="en-US" sz="1200" dirty="0"/>
          </a:p>
        </p:txBody>
      </p:sp>
      <p:sp>
        <p:nvSpPr>
          <p:cNvPr id="16" name="Shape 13"/>
          <p:cNvSpPr/>
          <p:nvPr/>
        </p:nvSpPr>
        <p:spPr>
          <a:xfrm>
            <a:off x="4023360" y="3886200"/>
            <a:ext cx="685800" cy="685800"/>
          </a:xfrm>
          <a:prstGeom prst="ellipse">
            <a:avLst/>
          </a:prstGeom>
          <a:solidFill>
            <a:srgbClr val="0E1886"/>
          </a:solidFill>
          <a:ln w="12700">
            <a:solidFill>
              <a:srgbClr val="0E1886"/>
            </a:solidFill>
            <a:prstDash val="solid"/>
          </a:ln>
        </p:spPr>
        <p:txBody>
          <a:bodyPr/>
          <a:lstStyle/>
          <a:p>
            <a:endParaRPr lang="es-MX"/>
          </a:p>
        </p:txBody>
      </p:sp>
      <p:sp>
        <p:nvSpPr>
          <p:cNvPr id="17" name="Text 14"/>
          <p:cNvSpPr/>
          <p:nvPr/>
        </p:nvSpPr>
        <p:spPr>
          <a:xfrm>
            <a:off x="4023360" y="4132800"/>
            <a:ext cx="685800"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anose="020B0502040204020203" pitchFamily="34" charset="0"/>
                <a:cs typeface="Segoe UI" panose="020B0502040204020203" pitchFamily="34" charset="0"/>
              </a:rPr>
              <a:t>D</a:t>
            </a:r>
            <a:endParaRPr lang="en-US" sz="1300" dirty="0">
              <a:latin typeface="Segoe UI" panose="020B0502040204020203" pitchFamily="34" charset="0"/>
              <a:cs typeface="Segoe UI" panose="020B0502040204020203" pitchFamily="34" charset="0"/>
            </a:endParaRPr>
          </a:p>
        </p:txBody>
      </p:sp>
      <p:sp>
        <p:nvSpPr>
          <p:cNvPr id="18" name="Text 15"/>
          <p:cNvSpPr/>
          <p:nvPr/>
        </p:nvSpPr>
        <p:spPr>
          <a:xfrm>
            <a:off x="3794760" y="4709160"/>
            <a:ext cx="1143000" cy="228600"/>
          </a:xfrm>
          <a:prstGeom prst="rect">
            <a:avLst/>
          </a:prstGeom>
          <a:noFill/>
          <a:ln/>
        </p:spPr>
        <p:txBody>
          <a:bodyPr wrap="square" lIns="0" tIns="0" rIns="0" bIns="0" rtlCol="0" anchor="ctr"/>
          <a:lstStyle/>
          <a:p>
            <a:pPr marL="0" indent="0" algn="ctr">
              <a:buNone/>
            </a:pPr>
            <a:r>
              <a:rPr lang="en-US" sz="1200" b="1" dirty="0">
                <a:solidFill>
                  <a:srgbClr val="0E1886"/>
                </a:solidFill>
              </a:rPr>
              <a:t>Data</a:t>
            </a:r>
            <a:endParaRPr lang="en-US" sz="1200" dirty="0"/>
          </a:p>
        </p:txBody>
      </p:sp>
      <p:sp>
        <p:nvSpPr>
          <p:cNvPr id="19" name="Shape 16"/>
          <p:cNvSpPr/>
          <p:nvPr/>
        </p:nvSpPr>
        <p:spPr>
          <a:xfrm>
            <a:off x="603504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0" name="Text 17"/>
          <p:cNvSpPr/>
          <p:nvPr/>
        </p:nvSpPr>
        <p:spPr>
          <a:xfrm>
            <a:off x="603504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M</a:t>
            </a:r>
            <a:endParaRPr lang="en-US" sz="1300" dirty="0">
              <a:latin typeface="Segoe UI" panose="020B0502040204020203" pitchFamily="34" charset="0"/>
              <a:cs typeface="Segoe UI" panose="020B0502040204020203" pitchFamily="34" charset="0"/>
            </a:endParaRPr>
          </a:p>
        </p:txBody>
      </p:sp>
      <p:sp>
        <p:nvSpPr>
          <p:cNvPr id="21" name="Text 18"/>
          <p:cNvSpPr/>
          <p:nvPr/>
        </p:nvSpPr>
        <p:spPr>
          <a:xfrm>
            <a:off x="580644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Methods</a:t>
            </a:r>
            <a:endParaRPr lang="en-US" sz="1200" dirty="0"/>
          </a:p>
        </p:txBody>
      </p:sp>
      <p:sp>
        <p:nvSpPr>
          <p:cNvPr id="22" name="Shape 19"/>
          <p:cNvSpPr/>
          <p:nvPr/>
        </p:nvSpPr>
        <p:spPr>
          <a:xfrm>
            <a:off x="804672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3" name="Text 20"/>
          <p:cNvSpPr/>
          <p:nvPr/>
        </p:nvSpPr>
        <p:spPr>
          <a:xfrm>
            <a:off x="804672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R</a:t>
            </a:r>
            <a:endParaRPr lang="en-US" sz="1300" dirty="0">
              <a:latin typeface="Segoe UI" panose="020B0502040204020203" pitchFamily="34" charset="0"/>
              <a:cs typeface="Segoe UI" panose="020B0502040204020203" pitchFamily="34" charset="0"/>
            </a:endParaRPr>
          </a:p>
        </p:txBody>
      </p:sp>
      <p:sp>
        <p:nvSpPr>
          <p:cNvPr id="24" name="Text 21"/>
          <p:cNvSpPr/>
          <p:nvPr/>
        </p:nvSpPr>
        <p:spPr>
          <a:xfrm>
            <a:off x="781812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Results</a:t>
            </a:r>
            <a:endParaRPr lang="en-US" sz="1200" dirty="0"/>
          </a:p>
        </p:txBody>
      </p:sp>
      <p:sp>
        <p:nvSpPr>
          <p:cNvPr id="25" name="Shape 22"/>
          <p:cNvSpPr/>
          <p:nvPr/>
        </p:nvSpPr>
        <p:spPr>
          <a:xfrm>
            <a:off x="1005840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6" name="Text 23"/>
          <p:cNvSpPr/>
          <p:nvPr/>
        </p:nvSpPr>
        <p:spPr>
          <a:xfrm>
            <a:off x="1005840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latin typeface="Segoe UI" panose="020B0502040204020203" pitchFamily="34" charset="0"/>
                <a:cs typeface="Segoe UI" panose="020B0502040204020203" pitchFamily="34" charset="0"/>
              </a:rPr>
              <a:t>C</a:t>
            </a:r>
            <a:endParaRPr lang="en-US" sz="1300" dirty="0">
              <a:latin typeface="Segoe UI" panose="020B0502040204020203" pitchFamily="34" charset="0"/>
              <a:cs typeface="Segoe UI" panose="020B0502040204020203" pitchFamily="34" charset="0"/>
            </a:endParaRPr>
          </a:p>
        </p:txBody>
      </p:sp>
      <p:sp>
        <p:nvSpPr>
          <p:cNvPr id="27" name="Text 24"/>
          <p:cNvSpPr/>
          <p:nvPr/>
        </p:nvSpPr>
        <p:spPr>
          <a:xfrm>
            <a:off x="982980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Conclusion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7</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Data: public proxy target and macro-financial drivers</a:t>
            </a:r>
            <a:endParaRPr lang="en-US" sz="2800" dirty="0">
              <a:latin typeface="Segoe UI" panose="020B0502040204020203" pitchFamily="34" charset="0"/>
              <a:cs typeface="Segoe UI" panose="020B0502040204020203" pitchFamily="34" charset="0"/>
            </a:endParaRPr>
          </a:p>
        </p:txBody>
      </p:sp>
      <p:sp>
        <p:nvSpPr>
          <p:cNvPr id="13" name="Shape 10"/>
          <p:cNvSpPr/>
          <p:nvPr/>
        </p:nvSpPr>
        <p:spPr>
          <a:xfrm>
            <a:off x="548640" y="1828800"/>
            <a:ext cx="3840480" cy="3566160"/>
          </a:xfrm>
          <a:prstGeom prst="roundRect">
            <a:avLst>
              <a:gd name="adj" fmla="val 2051"/>
            </a:avLst>
          </a:prstGeom>
          <a:solidFill>
            <a:srgbClr val="F2F3F7"/>
          </a:solidFill>
          <a:ln w="12700">
            <a:solidFill>
              <a:srgbClr val="D5D7DE"/>
            </a:solidFill>
            <a:prstDash val="solid"/>
          </a:ln>
        </p:spPr>
        <p:txBody>
          <a:bodyPr/>
          <a:lstStyle/>
          <a:p>
            <a:endParaRPr lang="es-MX"/>
          </a:p>
        </p:txBody>
      </p:sp>
      <p:sp>
        <p:nvSpPr>
          <p:cNvPr id="14" name="Text 11"/>
          <p:cNvSpPr/>
          <p:nvPr/>
        </p:nvSpPr>
        <p:spPr>
          <a:xfrm>
            <a:off x="845820" y="2084832"/>
            <a:ext cx="3246120" cy="1154430"/>
          </a:xfrm>
          <a:prstGeom prst="rect">
            <a:avLst/>
          </a:prstGeom>
          <a:noFill/>
          <a:ln/>
        </p:spPr>
        <p:txBody>
          <a:bodyPr wrap="square" lIns="0" tIns="0" rIns="0" bIns="0" rtlCol="0" anchor="ctr"/>
          <a:lstStyle/>
          <a:p>
            <a:r>
              <a:rPr lang="en-US" b="1" dirty="0">
                <a:solidFill>
                  <a:srgbClr val="0E1886"/>
                </a:solidFill>
                <a:latin typeface="Segoe UI" panose="020B0502040204020203" pitchFamily="34" charset="0"/>
                <a:cs typeface="Segoe UI" panose="020B0502040204020203" pitchFamily="34" charset="0"/>
              </a:rPr>
              <a:t>Target variable: </a:t>
            </a:r>
          </a:p>
          <a:p>
            <a:r>
              <a:rPr lang="en-US" b="1" dirty="0">
                <a:solidFill>
                  <a:srgbClr val="0E1886"/>
                </a:solidFill>
                <a:latin typeface="Segoe UI" panose="020B0502040204020203" pitchFamily="34" charset="0"/>
                <a:cs typeface="Segoe UI" panose="020B0502040204020203" pitchFamily="34" charset="0"/>
              </a:rPr>
              <a:t>German household overnight deposits</a:t>
            </a:r>
          </a:p>
          <a:p>
            <a:pPr marL="0" indent="0">
              <a:buNone/>
            </a:pPr>
            <a:endParaRPr lang="en-US" dirty="0">
              <a:latin typeface="Segoe UI" panose="020B0502040204020203" pitchFamily="34" charset="0"/>
              <a:cs typeface="Segoe UI" panose="020B0502040204020203" pitchFamily="34" charset="0"/>
            </a:endParaRPr>
          </a:p>
        </p:txBody>
      </p:sp>
      <p:sp>
        <p:nvSpPr>
          <p:cNvPr id="15" name="Text 12"/>
          <p:cNvSpPr/>
          <p:nvPr/>
        </p:nvSpPr>
        <p:spPr>
          <a:xfrm>
            <a:off x="845820" y="2606040"/>
            <a:ext cx="3246120" cy="2194560"/>
          </a:xfrm>
          <a:prstGeom prst="rect">
            <a:avLst/>
          </a:prstGeom>
          <a:noFill/>
          <a:ln/>
        </p:spPr>
        <p:txBody>
          <a:bodyPr wrap="square" lIns="889" tIns="889" rIns="889" bIns="889" rtlCol="0" anchor="ctr">
            <a:normAutofit/>
          </a:bodyPr>
          <a:lstStyle/>
          <a:p>
            <a:pPr marL="285750" indent="-285750">
              <a:buFont typeface="Arial" panose="020B0604020202020204" pitchFamily="34" charset="0"/>
              <a:buChar char="•"/>
            </a:pPr>
            <a:r>
              <a:rPr lang="en-US" sz="1300" dirty="0">
                <a:solidFill>
                  <a:srgbClr val="000000"/>
                </a:solidFill>
                <a:latin typeface="Segoe UI" panose="020B0502040204020203" pitchFamily="34" charset="0"/>
                <a:cs typeface="Segoe UI" panose="020B0502040204020203" pitchFamily="34" charset="0"/>
              </a:rPr>
              <a:t>End-of-period volume</a:t>
            </a:r>
          </a:p>
          <a:p>
            <a:pPr marL="285750" indent="-285750">
              <a:buFont typeface="Arial" panose="020B0604020202020204" pitchFamily="34" charset="0"/>
              <a:buChar char="•"/>
            </a:pPr>
            <a:r>
              <a:rPr lang="en-US" sz="1300" dirty="0">
                <a:solidFill>
                  <a:srgbClr val="000000"/>
                </a:solidFill>
                <a:latin typeface="Segoe UI" panose="020B0502040204020203" pitchFamily="34" charset="0"/>
                <a:cs typeface="Segoe UI" panose="020B0502040204020203" pitchFamily="34" charset="0"/>
              </a:rPr>
              <a:t>EUR billions</a:t>
            </a:r>
            <a:endParaRPr lang="en-US" sz="13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300" dirty="0">
                <a:solidFill>
                  <a:srgbClr val="000000"/>
                </a:solidFill>
                <a:latin typeface="Segoe UI" panose="020B0502040204020203" pitchFamily="34" charset="0"/>
                <a:cs typeface="Segoe UI" panose="020B0502040204020203" pitchFamily="34" charset="0"/>
              </a:rPr>
              <a:t>Public proxy for aggregate household NMD-like deposits</a:t>
            </a:r>
            <a:endParaRPr lang="en-US" sz="13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300" dirty="0">
                <a:solidFill>
                  <a:srgbClr val="000000"/>
                </a:solidFill>
                <a:latin typeface="Segoe UI" panose="020B0502040204020203" pitchFamily="34" charset="0"/>
                <a:cs typeface="Segoe UI" panose="020B0502040204020203" pitchFamily="34" charset="0"/>
              </a:rPr>
              <a:t>Sample: Jan 2003–Sep 2025</a:t>
            </a:r>
            <a:endParaRPr lang="en-US" sz="1300" dirty="0">
              <a:latin typeface="Segoe UI" panose="020B0502040204020203" pitchFamily="34" charset="0"/>
              <a:cs typeface="Segoe UI" panose="020B0502040204020203" pitchFamily="34" charset="0"/>
            </a:endParaRPr>
          </a:p>
        </p:txBody>
      </p:sp>
      <p:sp>
        <p:nvSpPr>
          <p:cNvPr id="16" name="Text 13"/>
          <p:cNvSpPr/>
          <p:nvPr/>
        </p:nvSpPr>
        <p:spPr>
          <a:xfrm>
            <a:off x="4937760" y="2130552"/>
            <a:ext cx="2011680" cy="228600"/>
          </a:xfrm>
          <a:prstGeom prst="rect">
            <a:avLst/>
          </a:prstGeom>
          <a:noFill/>
          <a:ln/>
        </p:spPr>
        <p:txBody>
          <a:bodyPr wrap="square" lIns="0" tIns="0" rIns="0" bIns="0" rtlCol="0" anchor="ctr"/>
          <a:lstStyle/>
          <a:p>
            <a:pPr marL="0" indent="0">
              <a:buNone/>
            </a:pPr>
            <a:r>
              <a:rPr lang="en-US" sz="1800" b="1" dirty="0">
                <a:solidFill>
                  <a:srgbClr val="0E1886"/>
                </a:solidFill>
                <a:latin typeface="Segoe UI" panose="020B0502040204020203" pitchFamily="34" charset="0"/>
                <a:cs typeface="Segoe UI" panose="020B0502040204020203" pitchFamily="34" charset="0"/>
              </a:rPr>
              <a:t>Covariates</a:t>
            </a:r>
            <a:endParaRPr lang="en-US" sz="1800" dirty="0">
              <a:latin typeface="Segoe UI" panose="020B0502040204020203" pitchFamily="34" charset="0"/>
              <a:cs typeface="Segoe UI" panose="020B0502040204020203" pitchFamily="34" charset="0"/>
            </a:endParaRPr>
          </a:p>
        </p:txBody>
      </p:sp>
      <p:grpSp>
        <p:nvGrpSpPr>
          <p:cNvPr id="40" name="Group 39">
            <a:extLst>
              <a:ext uri="{FF2B5EF4-FFF2-40B4-BE49-F238E27FC236}">
                <a16:creationId xmlns:a16="http://schemas.microsoft.com/office/drawing/2014/main" id="{5EB7F566-88F2-6DC9-77E0-EDB7413E5D91}"/>
              </a:ext>
            </a:extLst>
          </p:cNvPr>
          <p:cNvGrpSpPr/>
          <p:nvPr/>
        </p:nvGrpSpPr>
        <p:grpSpPr>
          <a:xfrm>
            <a:off x="4937760" y="3131820"/>
            <a:ext cx="2514600" cy="594360"/>
            <a:chOff x="4937760" y="2331720"/>
            <a:chExt cx="2514600" cy="594360"/>
          </a:xfrm>
        </p:grpSpPr>
        <p:sp>
          <p:nvSpPr>
            <p:cNvPr id="17" name="Shape 14"/>
            <p:cNvSpPr/>
            <p:nvPr/>
          </p:nvSpPr>
          <p:spPr>
            <a:xfrm>
              <a:off x="4937760" y="233172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18" name="Text 15"/>
            <p:cNvSpPr/>
            <p:nvPr/>
          </p:nvSpPr>
          <p:spPr>
            <a:xfrm>
              <a:off x="5074920" y="2432304"/>
              <a:ext cx="1828800" cy="164592"/>
            </a:xfrm>
            <a:prstGeom prst="rect">
              <a:avLst/>
            </a:prstGeom>
            <a:noFill/>
            <a:ln/>
          </p:spPr>
          <p:txBody>
            <a:bodyPr wrap="square" lIns="0" tIns="0" rIns="0" bIns="0" rtlCol="0" anchor="ctr"/>
            <a:lstStyle/>
            <a:p>
              <a:pPr marL="0" indent="0">
                <a:buNone/>
              </a:pPr>
              <a:r>
                <a:rPr lang="en-US" sz="1300" b="1" dirty="0">
                  <a:solidFill>
                    <a:srgbClr val="0E1886"/>
                  </a:solidFill>
                  <a:latin typeface="Segoe UI" panose="020B0502040204020203" pitchFamily="34" charset="0"/>
                  <a:cs typeface="Segoe UI" panose="020B0502040204020203" pitchFamily="34" charset="0"/>
                </a:rPr>
                <a:t>Euro Short-Term Rate</a:t>
              </a:r>
              <a:endParaRPr lang="en-US" sz="1300" dirty="0">
                <a:latin typeface="Segoe UI" panose="020B0502040204020203" pitchFamily="34" charset="0"/>
                <a:cs typeface="Segoe UI" panose="020B0502040204020203" pitchFamily="34" charset="0"/>
              </a:endParaRPr>
            </a:p>
          </p:txBody>
        </p:sp>
      </p:grpSp>
      <p:grpSp>
        <p:nvGrpSpPr>
          <p:cNvPr id="39" name="Group 38">
            <a:extLst>
              <a:ext uri="{FF2B5EF4-FFF2-40B4-BE49-F238E27FC236}">
                <a16:creationId xmlns:a16="http://schemas.microsoft.com/office/drawing/2014/main" id="{84137970-596A-C372-643D-6DEBF72EBF1E}"/>
              </a:ext>
            </a:extLst>
          </p:cNvPr>
          <p:cNvGrpSpPr/>
          <p:nvPr/>
        </p:nvGrpSpPr>
        <p:grpSpPr>
          <a:xfrm>
            <a:off x="7955280" y="3131820"/>
            <a:ext cx="2514600" cy="594360"/>
            <a:chOff x="7955280" y="2331720"/>
            <a:chExt cx="2514600" cy="594360"/>
          </a:xfrm>
        </p:grpSpPr>
        <p:sp>
          <p:nvSpPr>
            <p:cNvPr id="20" name="Shape 17"/>
            <p:cNvSpPr/>
            <p:nvPr/>
          </p:nvSpPr>
          <p:spPr>
            <a:xfrm>
              <a:off x="7955280" y="233172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21" name="Text 18"/>
            <p:cNvSpPr/>
            <p:nvPr/>
          </p:nvSpPr>
          <p:spPr>
            <a:xfrm>
              <a:off x="8092440" y="2432304"/>
              <a:ext cx="1188720" cy="164592"/>
            </a:xfrm>
            <a:prstGeom prst="rect">
              <a:avLst/>
            </a:prstGeom>
            <a:noFill/>
            <a:ln/>
          </p:spPr>
          <p:txBody>
            <a:bodyPr wrap="square" lIns="0" tIns="0" rIns="0" bIns="0" rtlCol="0" anchor="ctr"/>
            <a:lstStyle/>
            <a:p>
              <a:pPr marL="0" indent="0">
                <a:buNone/>
              </a:pPr>
              <a:r>
                <a:rPr lang="en-US" sz="1300" b="1" dirty="0">
                  <a:solidFill>
                    <a:srgbClr val="0E1886"/>
                  </a:solidFill>
                  <a:latin typeface="Segoe UI" panose="020B0502040204020203" pitchFamily="34" charset="0"/>
                  <a:cs typeface="Segoe UI" panose="020B0502040204020203" pitchFamily="34" charset="0"/>
                </a:rPr>
                <a:t>Deposit</a:t>
              </a:r>
              <a:r>
                <a:rPr lang="en-US" sz="1200" b="1" dirty="0">
                  <a:solidFill>
                    <a:srgbClr val="0E1886"/>
                  </a:solidFill>
                </a:rPr>
                <a:t> </a:t>
              </a:r>
              <a:r>
                <a:rPr lang="en-US" sz="1200" b="1" dirty="0">
                  <a:solidFill>
                    <a:srgbClr val="0E1886"/>
                  </a:solidFill>
                  <a:latin typeface="Segoe UI" panose="020B0502040204020203" pitchFamily="34" charset="0"/>
                  <a:cs typeface="Segoe UI" panose="020B0502040204020203" pitchFamily="34" charset="0"/>
                </a:rPr>
                <a:t>rate</a:t>
              </a:r>
              <a:endParaRPr lang="en-US" sz="1200" dirty="0">
                <a:latin typeface="Segoe UI" panose="020B0502040204020203" pitchFamily="34" charset="0"/>
                <a:cs typeface="Segoe UI" panose="020B0502040204020203" pitchFamily="34" charset="0"/>
              </a:endParaRPr>
            </a:p>
          </p:txBody>
        </p:sp>
      </p:grpSp>
      <p:sp>
        <p:nvSpPr>
          <p:cNvPr id="23" name="Shape 20"/>
          <p:cNvSpPr/>
          <p:nvPr/>
        </p:nvSpPr>
        <p:spPr>
          <a:xfrm>
            <a:off x="4932000" y="396621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24" name="Text 21"/>
          <p:cNvSpPr/>
          <p:nvPr/>
        </p:nvSpPr>
        <p:spPr>
          <a:xfrm>
            <a:off x="5074920" y="4066794"/>
            <a:ext cx="2377440" cy="219456"/>
          </a:xfrm>
          <a:prstGeom prst="rect">
            <a:avLst/>
          </a:prstGeom>
          <a:noFill/>
          <a:ln/>
        </p:spPr>
        <p:txBody>
          <a:bodyPr wrap="square" lIns="0" tIns="0" rIns="0" bIns="0" rtlCol="0" anchor="ctr"/>
          <a:lstStyle/>
          <a:p>
            <a:r>
              <a:rPr lang="en-US" sz="1300" b="1" dirty="0">
                <a:solidFill>
                  <a:srgbClr val="0E1886"/>
                </a:solidFill>
                <a:latin typeface="Segoe UI" panose="020B0502040204020203" pitchFamily="34" charset="0"/>
                <a:cs typeface="Segoe UI" panose="020B0502040204020203" pitchFamily="34" charset="0"/>
              </a:rPr>
              <a:t>German Geopolitical Risk Index</a:t>
            </a:r>
          </a:p>
        </p:txBody>
      </p:sp>
      <p:grpSp>
        <p:nvGrpSpPr>
          <p:cNvPr id="41" name="Group 40">
            <a:extLst>
              <a:ext uri="{FF2B5EF4-FFF2-40B4-BE49-F238E27FC236}">
                <a16:creationId xmlns:a16="http://schemas.microsoft.com/office/drawing/2014/main" id="{19F320F5-9077-F476-6062-4CCE3B6CB18A}"/>
              </a:ext>
            </a:extLst>
          </p:cNvPr>
          <p:cNvGrpSpPr/>
          <p:nvPr/>
        </p:nvGrpSpPr>
        <p:grpSpPr>
          <a:xfrm>
            <a:off x="7955280" y="3966210"/>
            <a:ext cx="2514600" cy="594360"/>
            <a:chOff x="7955280" y="3200400"/>
            <a:chExt cx="2514600" cy="594360"/>
          </a:xfrm>
        </p:grpSpPr>
        <p:sp>
          <p:nvSpPr>
            <p:cNvPr id="26" name="Shape 23"/>
            <p:cNvSpPr/>
            <p:nvPr/>
          </p:nvSpPr>
          <p:spPr>
            <a:xfrm>
              <a:off x="7955280" y="320040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27" name="Text 24"/>
            <p:cNvSpPr/>
            <p:nvPr/>
          </p:nvSpPr>
          <p:spPr>
            <a:xfrm>
              <a:off x="8092440" y="3300984"/>
              <a:ext cx="1188720" cy="164592"/>
            </a:xfrm>
            <a:prstGeom prst="rect">
              <a:avLst/>
            </a:prstGeom>
            <a:noFill/>
            <a:ln/>
          </p:spPr>
          <p:txBody>
            <a:bodyPr wrap="square" lIns="0" tIns="0" rIns="0" bIns="0" rtlCol="0" anchor="ctr"/>
            <a:lstStyle/>
            <a:p>
              <a:pPr marL="0" indent="0">
                <a:buNone/>
              </a:pPr>
              <a:r>
                <a:rPr lang="en-US" sz="1300" b="1" dirty="0">
                  <a:solidFill>
                    <a:srgbClr val="0E1886"/>
                  </a:solidFill>
                  <a:latin typeface="Segoe UI" panose="020B0502040204020203" pitchFamily="34" charset="0"/>
                  <a:cs typeface="Segoe UI" panose="020B0502040204020203" pitchFamily="34" charset="0"/>
                </a:rPr>
                <a:t>MoM</a:t>
              </a:r>
              <a:r>
                <a:rPr lang="en-US" sz="1200" b="1" dirty="0">
                  <a:solidFill>
                    <a:srgbClr val="0E1886"/>
                  </a:solidFill>
                </a:rPr>
                <a:t> </a:t>
              </a:r>
              <a:r>
                <a:rPr lang="en-US" sz="1300" b="1" dirty="0">
                  <a:solidFill>
                    <a:srgbClr val="0E1886"/>
                  </a:solidFill>
                  <a:latin typeface="Segoe UI" panose="020B0502040204020203" pitchFamily="34" charset="0"/>
                  <a:cs typeface="Segoe UI" panose="020B0502040204020203" pitchFamily="34" charset="0"/>
                </a:rPr>
                <a:t>inflation</a:t>
              </a:r>
            </a:p>
          </p:txBody>
        </p:sp>
      </p:grpSp>
      <p:grpSp>
        <p:nvGrpSpPr>
          <p:cNvPr id="37" name="Group 36">
            <a:extLst>
              <a:ext uri="{FF2B5EF4-FFF2-40B4-BE49-F238E27FC236}">
                <a16:creationId xmlns:a16="http://schemas.microsoft.com/office/drawing/2014/main" id="{44CC67A6-FB5D-58DD-0463-8324E6DE0388}"/>
              </a:ext>
            </a:extLst>
          </p:cNvPr>
          <p:cNvGrpSpPr/>
          <p:nvPr/>
        </p:nvGrpSpPr>
        <p:grpSpPr>
          <a:xfrm>
            <a:off x="4937760" y="4800600"/>
            <a:ext cx="2514600" cy="594360"/>
            <a:chOff x="4937760" y="4069080"/>
            <a:chExt cx="2514600" cy="594360"/>
          </a:xfrm>
        </p:grpSpPr>
        <p:sp>
          <p:nvSpPr>
            <p:cNvPr id="29" name="Shape 26"/>
            <p:cNvSpPr/>
            <p:nvPr/>
          </p:nvSpPr>
          <p:spPr>
            <a:xfrm>
              <a:off x="4937760" y="406908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30" name="Text 27"/>
            <p:cNvSpPr/>
            <p:nvPr/>
          </p:nvSpPr>
          <p:spPr>
            <a:xfrm>
              <a:off x="5074919" y="4169664"/>
              <a:ext cx="2135505" cy="164591"/>
            </a:xfrm>
            <a:prstGeom prst="rect">
              <a:avLst/>
            </a:prstGeom>
            <a:noFill/>
            <a:ln/>
          </p:spPr>
          <p:txBody>
            <a:bodyPr wrap="square" lIns="0" tIns="0" rIns="0" bIns="0" rtlCol="0" anchor="ctr"/>
            <a:lstStyle/>
            <a:p>
              <a:r>
                <a:rPr lang="en-US" sz="1300" b="1" dirty="0">
                  <a:solidFill>
                    <a:srgbClr val="0E1886"/>
                  </a:solidFill>
                  <a:latin typeface="Segoe UI" panose="020B0502040204020203" pitchFamily="34" charset="0"/>
                  <a:cs typeface="Segoe UI" panose="020B0502040204020203" pitchFamily="34" charset="0"/>
                </a:rPr>
                <a:t>DAX daily closing prices</a:t>
              </a:r>
            </a:p>
          </p:txBody>
        </p:sp>
      </p:grpSp>
      <p:grpSp>
        <p:nvGrpSpPr>
          <p:cNvPr id="38" name="Group 37">
            <a:extLst>
              <a:ext uri="{FF2B5EF4-FFF2-40B4-BE49-F238E27FC236}">
                <a16:creationId xmlns:a16="http://schemas.microsoft.com/office/drawing/2014/main" id="{F8113726-F794-CE73-F773-5A1B68A7A4FC}"/>
              </a:ext>
            </a:extLst>
          </p:cNvPr>
          <p:cNvGrpSpPr/>
          <p:nvPr/>
        </p:nvGrpSpPr>
        <p:grpSpPr>
          <a:xfrm>
            <a:off x="7955280" y="4800600"/>
            <a:ext cx="2514600" cy="594360"/>
            <a:chOff x="7955280" y="4069080"/>
            <a:chExt cx="2514600" cy="594360"/>
          </a:xfrm>
        </p:grpSpPr>
        <p:sp>
          <p:nvSpPr>
            <p:cNvPr id="32" name="Shape 29"/>
            <p:cNvSpPr/>
            <p:nvPr/>
          </p:nvSpPr>
          <p:spPr>
            <a:xfrm>
              <a:off x="7955280" y="4069080"/>
              <a:ext cx="2514600" cy="594360"/>
            </a:xfrm>
            <a:prstGeom prst="roundRect">
              <a:avLst>
                <a:gd name="adj" fmla="val 9231"/>
              </a:avLst>
            </a:prstGeom>
            <a:solidFill>
              <a:srgbClr val="F4F5F8"/>
            </a:solidFill>
            <a:ln w="6350">
              <a:solidFill>
                <a:srgbClr val="D7DAE4"/>
              </a:solidFill>
              <a:prstDash val="solid"/>
            </a:ln>
          </p:spPr>
          <p:txBody>
            <a:bodyPr/>
            <a:lstStyle/>
            <a:p>
              <a:endParaRPr lang="es-MX"/>
            </a:p>
          </p:txBody>
        </p:sp>
        <p:sp>
          <p:nvSpPr>
            <p:cNvPr id="33" name="Text 30"/>
            <p:cNvSpPr/>
            <p:nvPr/>
          </p:nvSpPr>
          <p:spPr>
            <a:xfrm>
              <a:off x="8092440" y="4169664"/>
              <a:ext cx="1188720" cy="164592"/>
            </a:xfrm>
            <a:prstGeom prst="rect">
              <a:avLst/>
            </a:prstGeom>
            <a:noFill/>
            <a:ln/>
          </p:spPr>
          <p:txBody>
            <a:bodyPr wrap="square" lIns="0" tIns="0" rIns="0" bIns="0" rtlCol="0" anchor="ctr"/>
            <a:lstStyle/>
            <a:p>
              <a:r>
                <a:rPr lang="en-US" sz="1300" b="1" dirty="0">
                  <a:solidFill>
                    <a:srgbClr val="0E1886"/>
                  </a:solidFill>
                  <a:latin typeface="Segoe UI" panose="020B0502040204020203" pitchFamily="34" charset="0"/>
                  <a:cs typeface="Segoe UI" panose="020B0502040204020203" pitchFamily="34" charset="0"/>
                </a:rPr>
                <a:t>10Y Bond</a:t>
              </a:r>
            </a:p>
          </p:txBody>
        </p:sp>
      </p:grpSp>
      <p:sp>
        <p:nvSpPr>
          <p:cNvPr id="43" name="Left Brace 42">
            <a:extLst>
              <a:ext uri="{FF2B5EF4-FFF2-40B4-BE49-F238E27FC236}">
                <a16:creationId xmlns:a16="http://schemas.microsoft.com/office/drawing/2014/main" id="{78833570-B03E-07C6-4A88-26F98128B4B7}"/>
              </a:ext>
            </a:extLst>
          </p:cNvPr>
          <p:cNvSpPr/>
          <p:nvPr/>
        </p:nvSpPr>
        <p:spPr>
          <a:xfrm>
            <a:off x="4526279" y="1828800"/>
            <a:ext cx="198121" cy="356615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FDAD-52C0-9EB8-72D4-AF218CEB0911}"/>
            </a:ext>
          </a:extLst>
        </p:cNvPr>
        <p:cNvGrpSpPr/>
        <p:nvPr/>
      </p:nvGrpSpPr>
      <p:grpSpPr>
        <a:xfrm>
          <a:off x="0" y="0"/>
          <a:ext cx="0" cy="0"/>
          <a:chOff x="0" y="0"/>
          <a:chExt cx="0" cy="0"/>
        </a:xfrm>
      </p:grpSpPr>
      <p:pic>
        <p:nvPicPr>
          <p:cNvPr id="2" name="Image 0" descr="/mnt/data/nmd_assets/ai_blue_header.png">
            <a:extLst>
              <a:ext uri="{FF2B5EF4-FFF2-40B4-BE49-F238E27FC236}">
                <a16:creationId xmlns:a16="http://schemas.microsoft.com/office/drawing/2014/main" id="{92B6521B-439C-3A01-739B-00F357FE1D24}"/>
              </a:ext>
            </a:extLst>
          </p:cNvPr>
          <p:cNvPicPr>
            <a:picLocks noChangeAspect="1"/>
          </p:cNvPicPr>
          <p:nvPr/>
        </p:nvPicPr>
        <p:blipFill>
          <a:blip r:embed="rId3"/>
          <a:stretch>
            <a:fillRect/>
          </a:stretch>
        </p:blipFill>
        <p:spPr>
          <a:xfrm>
            <a:off x="411480" y="146304"/>
            <a:ext cx="1874520" cy="649224"/>
          </a:xfrm>
          <a:prstGeom prst="rect">
            <a:avLst/>
          </a:prstGeom>
        </p:spPr>
      </p:pic>
      <p:sp>
        <p:nvSpPr>
          <p:cNvPr id="8" name="Shape 5">
            <a:extLst>
              <a:ext uri="{FF2B5EF4-FFF2-40B4-BE49-F238E27FC236}">
                <a16:creationId xmlns:a16="http://schemas.microsoft.com/office/drawing/2014/main" id="{6BBCCC3D-C5BC-0FC7-7858-D676A768D323}"/>
              </a:ext>
            </a:extLst>
          </p:cNvPr>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a:extLst>
              <a:ext uri="{FF2B5EF4-FFF2-40B4-BE49-F238E27FC236}">
                <a16:creationId xmlns:a16="http://schemas.microsoft.com/office/drawing/2014/main" id="{4E789240-954D-AA65-8DA3-15B967F2A72E}"/>
              </a:ext>
            </a:extLst>
          </p:cNvPr>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a:extLst>
              <a:ext uri="{FF2B5EF4-FFF2-40B4-BE49-F238E27FC236}">
                <a16:creationId xmlns:a16="http://schemas.microsoft.com/office/drawing/2014/main" id="{6B60ACE9-0653-DA5C-6D32-AD81BA193C59}"/>
              </a:ext>
            </a:extLst>
          </p:cNvPr>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7</a:t>
            </a:r>
            <a:endParaRPr lang="en-US" sz="650" dirty="0"/>
          </a:p>
        </p:txBody>
      </p:sp>
      <p:sp>
        <p:nvSpPr>
          <p:cNvPr id="11" name="Text 8">
            <a:extLst>
              <a:ext uri="{FF2B5EF4-FFF2-40B4-BE49-F238E27FC236}">
                <a16:creationId xmlns:a16="http://schemas.microsoft.com/office/drawing/2014/main" id="{19F2DC0A-F586-8A7A-6688-0A03111DB497}"/>
              </a:ext>
            </a:extLst>
          </p:cNvPr>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Data: public proxy target and macro-financial drivers</a:t>
            </a:r>
            <a:endParaRPr lang="en-US" sz="2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64590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8</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Data preprocessing</a:t>
            </a:r>
            <a:endParaRPr lang="en-US" sz="2800" dirty="0">
              <a:latin typeface="Segoe UI" panose="020B0502040204020203" pitchFamily="34" charset="0"/>
              <a:cs typeface="Segoe UI" panose="020B0502040204020203" pitchFamily="34" charset="0"/>
            </a:endParaRPr>
          </a:p>
        </p:txBody>
      </p:sp>
      <p:grpSp>
        <p:nvGrpSpPr>
          <p:cNvPr id="31" name="Group 30">
            <a:extLst>
              <a:ext uri="{FF2B5EF4-FFF2-40B4-BE49-F238E27FC236}">
                <a16:creationId xmlns:a16="http://schemas.microsoft.com/office/drawing/2014/main" id="{DB3B03F0-A7A2-BF28-063E-33E128FBEC59}"/>
              </a:ext>
            </a:extLst>
          </p:cNvPr>
          <p:cNvGrpSpPr/>
          <p:nvPr/>
        </p:nvGrpSpPr>
        <p:grpSpPr>
          <a:xfrm>
            <a:off x="685800" y="1620000"/>
            <a:ext cx="2331720" cy="731520"/>
            <a:chOff x="685800" y="2057400"/>
            <a:chExt cx="2331720" cy="731520"/>
          </a:xfrm>
        </p:grpSpPr>
        <p:sp>
          <p:nvSpPr>
            <p:cNvPr id="13" name="Shape 10"/>
            <p:cNvSpPr/>
            <p:nvPr/>
          </p:nvSpPr>
          <p:spPr>
            <a:xfrm>
              <a:off x="685800" y="2057400"/>
              <a:ext cx="2331720" cy="731520"/>
            </a:xfrm>
            <a:prstGeom prst="chevron">
              <a:avLst/>
            </a:prstGeom>
            <a:solidFill>
              <a:srgbClr val="0E1886"/>
            </a:solidFill>
            <a:ln w="12700">
              <a:solidFill>
                <a:srgbClr val="0E1886"/>
              </a:solidFill>
              <a:prstDash val="solid"/>
            </a:ln>
          </p:spPr>
          <p:txBody>
            <a:bodyPr/>
            <a:lstStyle/>
            <a:p>
              <a:endParaRPr lang="es-MX"/>
            </a:p>
          </p:txBody>
        </p:sp>
        <p:sp>
          <p:nvSpPr>
            <p:cNvPr id="14" name="Text 11"/>
            <p:cNvSpPr/>
            <p:nvPr/>
          </p:nvSpPr>
          <p:spPr>
            <a:xfrm>
              <a:off x="966365" y="2267712"/>
              <a:ext cx="1783080" cy="20116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cs typeface="Segoe UI" panose="020B0502040204020203" pitchFamily="34" charset="0"/>
                </a:rPr>
                <a:t>Different frequencies</a:t>
              </a:r>
              <a:endParaRPr lang="en-US" sz="1200" dirty="0">
                <a:latin typeface="Segoe UI" panose="020B0502040204020203" pitchFamily="34" charset="0"/>
                <a:cs typeface="Segoe UI" panose="020B0502040204020203" pitchFamily="34" charset="0"/>
              </a:endParaRPr>
            </a:p>
          </p:txBody>
        </p:sp>
      </p:grpSp>
      <p:grpSp>
        <p:nvGrpSpPr>
          <p:cNvPr id="30" name="Group 29">
            <a:extLst>
              <a:ext uri="{FF2B5EF4-FFF2-40B4-BE49-F238E27FC236}">
                <a16:creationId xmlns:a16="http://schemas.microsoft.com/office/drawing/2014/main" id="{294E199F-7339-27C4-519D-C19EF48EA8C8}"/>
              </a:ext>
            </a:extLst>
          </p:cNvPr>
          <p:cNvGrpSpPr/>
          <p:nvPr/>
        </p:nvGrpSpPr>
        <p:grpSpPr>
          <a:xfrm>
            <a:off x="3584448" y="1620000"/>
            <a:ext cx="2331720" cy="731520"/>
            <a:chOff x="3584448" y="2057400"/>
            <a:chExt cx="2331720" cy="731520"/>
          </a:xfrm>
        </p:grpSpPr>
        <p:sp>
          <p:nvSpPr>
            <p:cNvPr id="16" name="Shape 13"/>
            <p:cNvSpPr/>
            <p:nvPr/>
          </p:nvSpPr>
          <p:spPr>
            <a:xfrm>
              <a:off x="3584448" y="2057400"/>
              <a:ext cx="2331720" cy="731520"/>
            </a:xfrm>
            <a:prstGeom prst="chevron">
              <a:avLst/>
            </a:prstGeom>
            <a:solidFill>
              <a:srgbClr val="273DAA"/>
            </a:solidFill>
            <a:ln w="12700">
              <a:solidFill>
                <a:srgbClr val="273DAA"/>
              </a:solidFill>
              <a:prstDash val="solid"/>
            </a:ln>
          </p:spPr>
          <p:txBody>
            <a:bodyPr/>
            <a:lstStyle/>
            <a:p>
              <a:endParaRPr lang="es-MX"/>
            </a:p>
          </p:txBody>
        </p:sp>
        <p:sp>
          <p:nvSpPr>
            <p:cNvPr id="17" name="Text 14"/>
            <p:cNvSpPr/>
            <p:nvPr/>
          </p:nvSpPr>
          <p:spPr>
            <a:xfrm>
              <a:off x="3858768" y="2267712"/>
              <a:ext cx="1783080" cy="20116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cs typeface="Segoe UI" panose="020B0502040204020203" pitchFamily="34" charset="0"/>
                </a:rPr>
                <a:t>Daily grid</a:t>
              </a:r>
              <a:endParaRPr lang="en-US" sz="1200" dirty="0">
                <a:latin typeface="Segoe UI" panose="020B0502040204020203" pitchFamily="34" charset="0"/>
                <a:cs typeface="Segoe UI" panose="020B0502040204020203" pitchFamily="34" charset="0"/>
              </a:endParaRPr>
            </a:p>
          </p:txBody>
        </p:sp>
      </p:grpSp>
      <p:grpSp>
        <p:nvGrpSpPr>
          <p:cNvPr id="29" name="Group 28">
            <a:extLst>
              <a:ext uri="{FF2B5EF4-FFF2-40B4-BE49-F238E27FC236}">
                <a16:creationId xmlns:a16="http://schemas.microsoft.com/office/drawing/2014/main" id="{74D50FBA-979A-0812-EE7E-FC1574B25826}"/>
              </a:ext>
            </a:extLst>
          </p:cNvPr>
          <p:cNvGrpSpPr/>
          <p:nvPr/>
        </p:nvGrpSpPr>
        <p:grpSpPr>
          <a:xfrm>
            <a:off x="6263640" y="1620000"/>
            <a:ext cx="2331720" cy="731520"/>
            <a:chOff x="6263640" y="2057400"/>
            <a:chExt cx="2331720" cy="731520"/>
          </a:xfrm>
        </p:grpSpPr>
        <p:sp>
          <p:nvSpPr>
            <p:cNvPr id="19" name="Shape 16"/>
            <p:cNvSpPr/>
            <p:nvPr/>
          </p:nvSpPr>
          <p:spPr>
            <a:xfrm>
              <a:off x="6263640" y="2057400"/>
              <a:ext cx="2331720" cy="731520"/>
            </a:xfrm>
            <a:prstGeom prst="chevron">
              <a:avLst/>
            </a:prstGeom>
            <a:solidFill>
              <a:srgbClr val="0E1886"/>
            </a:solidFill>
            <a:ln w="12700">
              <a:solidFill>
                <a:srgbClr val="0E1886"/>
              </a:solidFill>
              <a:prstDash val="solid"/>
            </a:ln>
          </p:spPr>
          <p:txBody>
            <a:bodyPr/>
            <a:lstStyle/>
            <a:p>
              <a:endParaRPr lang="es-MX"/>
            </a:p>
          </p:txBody>
        </p:sp>
        <p:sp>
          <p:nvSpPr>
            <p:cNvPr id="20" name="Text 17"/>
            <p:cNvSpPr/>
            <p:nvPr/>
          </p:nvSpPr>
          <p:spPr>
            <a:xfrm>
              <a:off x="6611112" y="2267712"/>
              <a:ext cx="1783080" cy="201600"/>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Segoe UI" panose="020B0502040204020203" pitchFamily="34" charset="0"/>
                  <a:cs typeface="Segoe UI" panose="020B0502040204020203" pitchFamily="34" charset="0"/>
                </a:rPr>
                <a:t>Interpolation</a:t>
              </a:r>
              <a:endParaRPr lang="en-US" sz="1200" dirty="0">
                <a:latin typeface="Segoe UI" panose="020B0502040204020203" pitchFamily="34" charset="0"/>
                <a:cs typeface="Segoe UI" panose="020B0502040204020203" pitchFamily="34" charset="0"/>
              </a:endParaRPr>
            </a:p>
          </p:txBody>
        </p:sp>
      </p:grpSp>
      <p:grpSp>
        <p:nvGrpSpPr>
          <p:cNvPr id="28" name="Group 27">
            <a:extLst>
              <a:ext uri="{FF2B5EF4-FFF2-40B4-BE49-F238E27FC236}">
                <a16:creationId xmlns:a16="http://schemas.microsoft.com/office/drawing/2014/main" id="{0AD1D45F-53D8-2501-261D-6610B513CBB4}"/>
              </a:ext>
            </a:extLst>
          </p:cNvPr>
          <p:cNvGrpSpPr/>
          <p:nvPr/>
        </p:nvGrpSpPr>
        <p:grpSpPr>
          <a:xfrm>
            <a:off x="9052560" y="1620000"/>
            <a:ext cx="2331720" cy="731520"/>
            <a:chOff x="9052560" y="2057400"/>
            <a:chExt cx="2331720" cy="731520"/>
          </a:xfrm>
        </p:grpSpPr>
        <p:sp>
          <p:nvSpPr>
            <p:cNvPr id="22" name="Shape 19"/>
            <p:cNvSpPr/>
            <p:nvPr/>
          </p:nvSpPr>
          <p:spPr>
            <a:xfrm>
              <a:off x="9052560" y="2057400"/>
              <a:ext cx="2331720" cy="731520"/>
            </a:xfrm>
            <a:prstGeom prst="chevron">
              <a:avLst/>
            </a:prstGeom>
            <a:solidFill>
              <a:srgbClr val="273DAA"/>
            </a:solidFill>
            <a:ln w="12700">
              <a:solidFill>
                <a:srgbClr val="273DAA"/>
              </a:solidFill>
              <a:prstDash val="solid"/>
            </a:ln>
          </p:spPr>
          <p:txBody>
            <a:bodyPr/>
            <a:lstStyle/>
            <a:p>
              <a:endParaRPr lang="es-MX"/>
            </a:p>
          </p:txBody>
        </p:sp>
        <p:sp>
          <p:nvSpPr>
            <p:cNvPr id="23" name="Text 20"/>
            <p:cNvSpPr/>
            <p:nvPr/>
          </p:nvSpPr>
          <p:spPr>
            <a:xfrm>
              <a:off x="9262872" y="2267712"/>
              <a:ext cx="1783080" cy="20116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cs typeface="Segoe UI" panose="020B0502040204020203" pitchFamily="34" charset="0"/>
                </a:rPr>
                <a:t>First differences</a:t>
              </a:r>
              <a:endParaRPr lang="en-US" sz="1200" dirty="0">
                <a:latin typeface="Segoe UI" panose="020B0502040204020203" pitchFamily="34" charset="0"/>
                <a:cs typeface="Segoe UI" panose="020B0502040204020203" pitchFamily="34"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9</a:t>
            </a:r>
            <a:endParaRPr lang="en-US" sz="650" dirty="0"/>
          </a:p>
        </p:txBody>
      </p:sp>
      <p:sp>
        <p:nvSpPr>
          <p:cNvPr id="11" name="Text 8"/>
          <p:cNvSpPr/>
          <p:nvPr/>
        </p:nvSpPr>
        <p:spPr>
          <a:xfrm>
            <a:off x="777240" y="2240280"/>
            <a:ext cx="10789920" cy="548640"/>
          </a:xfrm>
          <a:prstGeom prst="rect">
            <a:avLst/>
          </a:prstGeom>
          <a:noFill/>
          <a:ln/>
        </p:spPr>
        <p:txBody>
          <a:bodyPr wrap="square" lIns="0" tIns="0" rIns="0" bIns="0" rtlCol="0" anchor="ctr"/>
          <a:lstStyle/>
          <a:p>
            <a:pPr marL="0" indent="0" algn="ctr">
              <a:buNone/>
            </a:pPr>
            <a:r>
              <a:rPr lang="en-US" sz="3600" b="1" dirty="0">
                <a:solidFill>
                  <a:srgbClr val="0E1886"/>
                </a:solidFill>
                <a:latin typeface="Segoe UI" panose="020B0502040204020203" pitchFamily="34" charset="0"/>
                <a:cs typeface="Segoe UI" panose="020B0502040204020203" pitchFamily="34" charset="0"/>
              </a:rPr>
              <a:t>Methods</a:t>
            </a:r>
            <a:endParaRPr lang="en-US" sz="3600" dirty="0">
              <a:latin typeface="Segoe UI" panose="020B0502040204020203" pitchFamily="34" charset="0"/>
              <a:cs typeface="Segoe UI" panose="020B0502040204020203" pitchFamily="34" charset="0"/>
            </a:endParaRPr>
          </a:p>
        </p:txBody>
      </p:sp>
      <p:sp>
        <p:nvSpPr>
          <p:cNvPr id="13" name="Shape 10"/>
          <p:cNvSpPr/>
          <p:nvPr/>
        </p:nvSpPr>
        <p:spPr>
          <a:xfrm>
            <a:off x="201168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14" name="Text 11"/>
          <p:cNvSpPr/>
          <p:nvPr/>
        </p:nvSpPr>
        <p:spPr>
          <a:xfrm>
            <a:off x="201168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M</a:t>
            </a:r>
            <a:endParaRPr lang="en-US" sz="1300" dirty="0"/>
          </a:p>
        </p:txBody>
      </p:sp>
      <p:sp>
        <p:nvSpPr>
          <p:cNvPr id="15" name="Text 12"/>
          <p:cNvSpPr/>
          <p:nvPr/>
        </p:nvSpPr>
        <p:spPr>
          <a:xfrm>
            <a:off x="178308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Motivation</a:t>
            </a:r>
            <a:endParaRPr lang="en-US" sz="1200" dirty="0">
              <a:latin typeface="Segoe UI" panose="020B0502040204020203" pitchFamily="34" charset="0"/>
              <a:cs typeface="Segoe UI" panose="020B0502040204020203" pitchFamily="34" charset="0"/>
            </a:endParaRPr>
          </a:p>
        </p:txBody>
      </p:sp>
      <p:sp>
        <p:nvSpPr>
          <p:cNvPr id="16" name="Shape 13"/>
          <p:cNvSpPr/>
          <p:nvPr/>
        </p:nvSpPr>
        <p:spPr>
          <a:xfrm>
            <a:off x="402336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17" name="Text 14"/>
          <p:cNvSpPr/>
          <p:nvPr/>
        </p:nvSpPr>
        <p:spPr>
          <a:xfrm>
            <a:off x="402336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D</a:t>
            </a:r>
            <a:endParaRPr lang="en-US" sz="1300" dirty="0"/>
          </a:p>
        </p:txBody>
      </p:sp>
      <p:sp>
        <p:nvSpPr>
          <p:cNvPr id="18" name="Text 15"/>
          <p:cNvSpPr/>
          <p:nvPr/>
        </p:nvSpPr>
        <p:spPr>
          <a:xfrm>
            <a:off x="379476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Data</a:t>
            </a:r>
            <a:endParaRPr lang="en-US" sz="1200" dirty="0">
              <a:latin typeface="Segoe UI" panose="020B0502040204020203" pitchFamily="34" charset="0"/>
              <a:cs typeface="Segoe UI" panose="020B0502040204020203" pitchFamily="34" charset="0"/>
            </a:endParaRPr>
          </a:p>
        </p:txBody>
      </p:sp>
      <p:sp>
        <p:nvSpPr>
          <p:cNvPr id="19" name="Shape 16"/>
          <p:cNvSpPr/>
          <p:nvPr/>
        </p:nvSpPr>
        <p:spPr>
          <a:xfrm>
            <a:off x="6035040" y="3886200"/>
            <a:ext cx="685800" cy="685800"/>
          </a:xfrm>
          <a:prstGeom prst="ellipse">
            <a:avLst/>
          </a:prstGeom>
          <a:solidFill>
            <a:srgbClr val="0E1886"/>
          </a:solidFill>
          <a:ln w="12700">
            <a:solidFill>
              <a:srgbClr val="0E1886"/>
            </a:solidFill>
            <a:prstDash val="solid"/>
          </a:ln>
        </p:spPr>
        <p:txBody>
          <a:bodyPr/>
          <a:lstStyle/>
          <a:p>
            <a:endParaRPr lang="es-MX"/>
          </a:p>
        </p:txBody>
      </p:sp>
      <p:sp>
        <p:nvSpPr>
          <p:cNvPr id="20" name="Text 17"/>
          <p:cNvSpPr/>
          <p:nvPr/>
        </p:nvSpPr>
        <p:spPr>
          <a:xfrm>
            <a:off x="6035040" y="4132800"/>
            <a:ext cx="685800" cy="201168"/>
          </a:xfrm>
          <a:prstGeom prst="rect">
            <a:avLst/>
          </a:prstGeom>
          <a:noFill/>
          <a:ln/>
        </p:spPr>
        <p:txBody>
          <a:bodyPr wrap="square" lIns="0" tIns="0" rIns="0" bIns="0" rtlCol="0" anchor="ctr"/>
          <a:lstStyle/>
          <a:p>
            <a:pPr marL="0" indent="0" algn="ctr">
              <a:buNone/>
            </a:pPr>
            <a:r>
              <a:rPr lang="en-US" sz="1300" b="1" dirty="0">
                <a:solidFill>
                  <a:srgbClr val="FFFFFF"/>
                </a:solidFill>
              </a:rPr>
              <a:t>M</a:t>
            </a:r>
            <a:endParaRPr lang="en-US" sz="1300" dirty="0"/>
          </a:p>
        </p:txBody>
      </p:sp>
      <p:sp>
        <p:nvSpPr>
          <p:cNvPr id="21" name="Text 18"/>
          <p:cNvSpPr/>
          <p:nvPr/>
        </p:nvSpPr>
        <p:spPr>
          <a:xfrm>
            <a:off x="5806440" y="4709160"/>
            <a:ext cx="1143000" cy="228600"/>
          </a:xfrm>
          <a:prstGeom prst="rect">
            <a:avLst/>
          </a:prstGeom>
          <a:noFill/>
          <a:ln/>
        </p:spPr>
        <p:txBody>
          <a:bodyPr wrap="square" lIns="0" tIns="0" rIns="0" bIns="0" rtlCol="0" anchor="ctr"/>
          <a:lstStyle/>
          <a:p>
            <a:pPr marL="0" indent="0" algn="ctr">
              <a:buNone/>
            </a:pPr>
            <a:r>
              <a:rPr lang="en-US" sz="1200" b="1" dirty="0">
                <a:solidFill>
                  <a:srgbClr val="0E1886"/>
                </a:solidFill>
                <a:latin typeface="Segoe UI" panose="020B0502040204020203" pitchFamily="34" charset="0"/>
                <a:cs typeface="Segoe UI" panose="020B0502040204020203" pitchFamily="34" charset="0"/>
              </a:rPr>
              <a:t>Methods</a:t>
            </a:r>
            <a:endParaRPr lang="en-US" sz="1200" dirty="0">
              <a:latin typeface="Segoe UI" panose="020B0502040204020203" pitchFamily="34" charset="0"/>
              <a:cs typeface="Segoe UI" panose="020B0502040204020203" pitchFamily="34" charset="0"/>
            </a:endParaRPr>
          </a:p>
        </p:txBody>
      </p:sp>
      <p:sp>
        <p:nvSpPr>
          <p:cNvPr id="22" name="Shape 19"/>
          <p:cNvSpPr/>
          <p:nvPr/>
        </p:nvSpPr>
        <p:spPr>
          <a:xfrm>
            <a:off x="804672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3" name="Text 20"/>
          <p:cNvSpPr/>
          <p:nvPr/>
        </p:nvSpPr>
        <p:spPr>
          <a:xfrm>
            <a:off x="804672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R</a:t>
            </a:r>
            <a:endParaRPr lang="en-US" sz="1300" dirty="0"/>
          </a:p>
        </p:txBody>
      </p:sp>
      <p:sp>
        <p:nvSpPr>
          <p:cNvPr id="24" name="Text 21"/>
          <p:cNvSpPr/>
          <p:nvPr/>
        </p:nvSpPr>
        <p:spPr>
          <a:xfrm>
            <a:off x="781812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Results</a:t>
            </a:r>
            <a:endParaRPr lang="en-US" sz="1200" dirty="0">
              <a:latin typeface="Segoe UI" panose="020B0502040204020203" pitchFamily="34" charset="0"/>
              <a:cs typeface="Segoe UI" panose="020B0502040204020203" pitchFamily="34" charset="0"/>
            </a:endParaRPr>
          </a:p>
        </p:txBody>
      </p:sp>
      <p:sp>
        <p:nvSpPr>
          <p:cNvPr id="25" name="Shape 22"/>
          <p:cNvSpPr/>
          <p:nvPr/>
        </p:nvSpPr>
        <p:spPr>
          <a:xfrm>
            <a:off x="1005840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6" name="Text 23"/>
          <p:cNvSpPr/>
          <p:nvPr/>
        </p:nvSpPr>
        <p:spPr>
          <a:xfrm>
            <a:off x="1005840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C</a:t>
            </a:r>
            <a:endParaRPr lang="en-US" sz="1300" dirty="0"/>
          </a:p>
        </p:txBody>
      </p:sp>
      <p:sp>
        <p:nvSpPr>
          <p:cNvPr id="27" name="Text 24"/>
          <p:cNvSpPr/>
          <p:nvPr/>
        </p:nvSpPr>
        <p:spPr>
          <a:xfrm>
            <a:off x="982980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latin typeface="Segoe UI" panose="020B0502040204020203" pitchFamily="34" charset="0"/>
                <a:cs typeface="Segoe UI" panose="020B0502040204020203" pitchFamily="34" charset="0"/>
              </a:rPr>
              <a:t>Conclusion</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10</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Forecasting setup: direct 100-step prediction</a:t>
            </a:r>
            <a:endParaRPr lang="en-US" sz="2800" dirty="0">
              <a:latin typeface="Segoe UI" panose="020B0502040204020203" pitchFamily="34" charset="0"/>
              <a:cs typeface="Segoe UI" panose="020B0502040204020203" pitchFamily="34" charset="0"/>
            </a:endParaRPr>
          </a:p>
        </p:txBody>
      </p:sp>
      <mc:AlternateContent xmlns:mc="http://schemas.openxmlformats.org/markup-compatibility/2006">
        <mc:Choice xmlns:a14="http://schemas.microsoft.com/office/drawing/2010/main" Requires="a14">
          <p:sp>
            <p:nvSpPr>
              <p:cNvPr id="19" name="Text 16"/>
              <p:cNvSpPr/>
              <p:nvPr/>
            </p:nvSpPr>
            <p:spPr>
              <a:xfrm>
                <a:off x="3215640" y="5074920"/>
                <a:ext cx="5760720" cy="32004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sSub>
                        <m:sSubPr>
                          <m:ctrlPr>
                            <a:rPr lang="en-US" sz="1800" b="1" i="1" smtClean="0">
                              <a:solidFill>
                                <a:srgbClr val="0E1886"/>
                              </a:solidFill>
                              <a:latin typeface="Cambria Math" panose="02040503050406030204" pitchFamily="18" charset="0"/>
                            </a:rPr>
                          </m:ctrlPr>
                        </m:sSubPr>
                        <m:e>
                          <m:acc>
                            <m:accPr>
                              <m:chr m:val="ˆ"/>
                              <m:ctrlPr>
                                <a:rPr lang="en-US" sz="1800" b="1" i="1" smtClean="0">
                                  <a:solidFill>
                                    <a:srgbClr val="0E1886"/>
                                  </a:solidFill>
                                  <a:latin typeface="Cambria Math" panose="02040503050406030204" pitchFamily="18" charset="0"/>
                                </a:rPr>
                              </m:ctrlPr>
                            </m:accPr>
                            <m:e>
                              <m:r>
                                <a:rPr lang="en-US" sz="1800" b="1" i="1" smtClean="0">
                                  <a:solidFill>
                                    <a:srgbClr val="0E1886"/>
                                  </a:solidFill>
                                  <a:latin typeface="Cambria Math" panose="02040503050406030204" pitchFamily="18" charset="0"/>
                                </a:rPr>
                                <m:t>𝑦</m:t>
                              </m:r>
                            </m:e>
                          </m:acc>
                        </m:e>
                        <m:sub>
                          <m:r>
                            <a:rPr lang="en-US" sz="1800" b="1" i="1" smtClean="0">
                              <a:solidFill>
                                <a:srgbClr val="0E1886"/>
                              </a:solidFill>
                              <a:latin typeface="Cambria Math" panose="02040503050406030204" pitchFamily="18" charset="0"/>
                            </a:rPr>
                            <m:t>𝑡</m:t>
                          </m:r>
                          <m:r>
                            <a:rPr lang="en-US" sz="1800" b="1" i="1" smtClean="0">
                              <a:solidFill>
                                <a:srgbClr val="0E1886"/>
                              </a:solidFill>
                              <a:latin typeface="Cambria Math" panose="02040503050406030204" pitchFamily="18" charset="0"/>
                            </a:rPr>
                            <m:t>+</m:t>
                          </m:r>
                          <m:r>
                            <a:rPr lang="en-US" sz="1800" b="1" i="1" smtClean="0">
                              <a:solidFill>
                                <a:srgbClr val="0E1886"/>
                              </a:solidFill>
                              <a:latin typeface="Cambria Math" panose="02040503050406030204" pitchFamily="18" charset="0"/>
                            </a:rPr>
                            <m:t>h</m:t>
                          </m:r>
                        </m:sub>
                      </m:sSub>
                      <m:r>
                        <a:rPr lang="en-US" sz="1800" b="1" i="1" smtClean="0">
                          <a:solidFill>
                            <a:srgbClr val="0E1886"/>
                          </a:solidFill>
                          <a:latin typeface="Cambria Math" panose="02040503050406030204" pitchFamily="18" charset="0"/>
                        </a:rPr>
                        <m:t>=</m:t>
                      </m:r>
                      <m:sSub>
                        <m:sSubPr>
                          <m:ctrlPr>
                            <a:rPr lang="en-US" sz="1800" b="1" i="1" smtClean="0">
                              <a:solidFill>
                                <a:srgbClr val="0E1886"/>
                              </a:solidFill>
                              <a:latin typeface="Cambria Math" panose="02040503050406030204" pitchFamily="18" charset="0"/>
                            </a:rPr>
                          </m:ctrlPr>
                        </m:sSubPr>
                        <m:e>
                          <m:r>
                            <a:rPr lang="en-US" sz="1800" b="1" i="1" smtClean="0">
                              <a:solidFill>
                                <a:srgbClr val="0E1886"/>
                              </a:solidFill>
                              <a:latin typeface="Cambria Math" panose="02040503050406030204" pitchFamily="18" charset="0"/>
                            </a:rPr>
                            <m:t>𝑦</m:t>
                          </m:r>
                        </m:e>
                        <m:sub>
                          <m:r>
                            <a:rPr lang="en-US" sz="1800" b="1" i="1" smtClean="0">
                              <a:solidFill>
                                <a:srgbClr val="0E1886"/>
                              </a:solidFill>
                              <a:latin typeface="Cambria Math" panose="02040503050406030204" pitchFamily="18" charset="0"/>
                            </a:rPr>
                            <m:t>𝑡</m:t>
                          </m:r>
                        </m:sub>
                      </m:sSub>
                      <m:r>
                        <a:rPr lang="en-US" sz="1800" b="1" i="1" smtClean="0">
                          <a:solidFill>
                            <a:srgbClr val="0E1886"/>
                          </a:solidFill>
                          <a:latin typeface="Cambria Math" panose="02040503050406030204" pitchFamily="18" charset="0"/>
                        </a:rPr>
                        <m:t>+</m:t>
                      </m:r>
                      <m:nary>
                        <m:naryPr>
                          <m:chr m:val="∑"/>
                          <m:limLoc m:val="undOvr"/>
                          <m:ctrlPr>
                            <a:rPr lang="en-US" sz="1800" b="1" i="1" smtClean="0">
                              <a:solidFill>
                                <a:srgbClr val="0E1886"/>
                              </a:solidFill>
                              <a:latin typeface="Cambria Math" panose="02040503050406030204" pitchFamily="18" charset="0"/>
                            </a:rPr>
                          </m:ctrlPr>
                        </m:naryPr>
                        <m:sub>
                          <m:r>
                            <a:rPr lang="en-US" sz="1800" b="1" i="1" smtClean="0">
                              <a:solidFill>
                                <a:srgbClr val="0E1886"/>
                              </a:solidFill>
                              <a:latin typeface="Cambria Math" panose="02040503050406030204" pitchFamily="18" charset="0"/>
                            </a:rPr>
                            <m:t>𝑗</m:t>
                          </m:r>
                          <m:r>
                            <a:rPr lang="en-US" sz="1800" b="1" i="1" smtClean="0">
                              <a:solidFill>
                                <a:srgbClr val="0E1886"/>
                              </a:solidFill>
                              <a:latin typeface="Cambria Math" panose="02040503050406030204" pitchFamily="18" charset="0"/>
                            </a:rPr>
                            <m:t>=1</m:t>
                          </m:r>
                        </m:sub>
                        <m:sup>
                          <m:r>
                            <a:rPr lang="en-US" sz="1800" b="1" i="1" smtClean="0">
                              <a:solidFill>
                                <a:srgbClr val="0E1886"/>
                              </a:solidFill>
                              <a:latin typeface="Cambria Math" panose="02040503050406030204" pitchFamily="18" charset="0"/>
                            </a:rPr>
                            <m:t>h</m:t>
                          </m:r>
                        </m:sup>
                        <m:e>
                          <m:sSub>
                            <m:sSubPr>
                              <m:ctrlPr>
                                <a:rPr lang="en-US" sz="1800" b="1" i="1" smtClean="0">
                                  <a:solidFill>
                                    <a:srgbClr val="0E1886"/>
                                  </a:solidFill>
                                  <a:latin typeface="Cambria Math" panose="02040503050406030204" pitchFamily="18" charset="0"/>
                                </a:rPr>
                              </m:ctrlPr>
                            </m:sSubPr>
                            <m:e>
                              <m:acc>
                                <m:accPr>
                                  <m:chr m:val="̂"/>
                                  <m:ctrlPr>
                                    <a:rPr lang="en-US" sz="1800" b="1" i="1" smtClean="0">
                                      <a:solidFill>
                                        <a:srgbClr val="0E1886"/>
                                      </a:solidFill>
                                      <a:latin typeface="Cambria Math" panose="02040503050406030204" pitchFamily="18" charset="0"/>
                                    </a:rPr>
                                  </m:ctrlPr>
                                </m:accPr>
                                <m:e>
                                  <m:r>
                                    <m:rPr>
                                      <m:sty m:val="p"/>
                                    </m:rPr>
                                    <a:rPr lang="en-US" sz="1800" b="1" i="1" smtClean="0">
                                      <a:solidFill>
                                        <a:srgbClr val="0E1886"/>
                                      </a:solidFill>
                                      <a:latin typeface="Cambria Math" panose="02040503050406030204" pitchFamily="18" charset="0"/>
                                    </a:rPr>
                                    <m:t>Δ</m:t>
                                  </m:r>
                                  <m:r>
                                    <a:rPr lang="en-US" sz="1800" b="1" i="1" smtClean="0">
                                      <a:solidFill>
                                        <a:srgbClr val="0E1886"/>
                                      </a:solidFill>
                                      <a:latin typeface="Cambria Math" panose="02040503050406030204" pitchFamily="18" charset="0"/>
                                    </a:rPr>
                                    <m:t>𝑦</m:t>
                                  </m:r>
                                </m:e>
                              </m:acc>
                            </m:e>
                            <m:sub>
                              <m:r>
                                <a:rPr lang="en-US" sz="1800" b="1" i="1" smtClean="0">
                                  <a:solidFill>
                                    <a:srgbClr val="0E1886"/>
                                  </a:solidFill>
                                  <a:latin typeface="Cambria Math" panose="02040503050406030204" pitchFamily="18" charset="0"/>
                                </a:rPr>
                                <m:t>𝑡</m:t>
                              </m:r>
                              <m:r>
                                <a:rPr lang="en-US" sz="1800" b="1" i="1" smtClean="0">
                                  <a:solidFill>
                                    <a:srgbClr val="0E1886"/>
                                  </a:solidFill>
                                  <a:latin typeface="Cambria Math" panose="02040503050406030204" pitchFamily="18" charset="0"/>
                                </a:rPr>
                                <m:t>+</m:t>
                              </m:r>
                              <m:r>
                                <a:rPr lang="en-US" sz="1800" b="1" i="1" smtClean="0">
                                  <a:solidFill>
                                    <a:srgbClr val="0E1886"/>
                                  </a:solidFill>
                                  <a:latin typeface="Cambria Math" panose="02040503050406030204" pitchFamily="18" charset="0"/>
                                </a:rPr>
                                <m:t>𝑗</m:t>
                              </m:r>
                            </m:sub>
                          </m:sSub>
                        </m:e>
                      </m:nary>
                      <m:r>
                        <a:rPr lang="en-US" sz="1800" b="1" i="1" smtClean="0">
                          <a:solidFill>
                            <a:srgbClr val="0E1886"/>
                          </a:solidFill>
                          <a:latin typeface="Cambria Math" panose="02040503050406030204" pitchFamily="18" charset="0"/>
                        </a:rPr>
                        <m:t>,  </m:t>
                      </m:r>
                      <m:r>
                        <a:rPr lang="en-US" sz="1800" b="1" i="1" smtClean="0">
                          <a:solidFill>
                            <a:srgbClr val="0E1886"/>
                          </a:solidFill>
                          <a:latin typeface="Cambria Math" panose="02040503050406030204" pitchFamily="18" charset="0"/>
                        </a:rPr>
                        <m:t>h</m:t>
                      </m:r>
                      <m:r>
                        <a:rPr lang="en-US" sz="1800" b="1" i="1" smtClean="0">
                          <a:solidFill>
                            <a:srgbClr val="0E1886"/>
                          </a:solidFill>
                          <a:latin typeface="Cambria Math" panose="02040503050406030204" pitchFamily="18" charset="0"/>
                        </a:rPr>
                        <m:t>=1,…,100.</m:t>
                      </m:r>
                    </m:oMath>
                  </m:oMathPara>
                </a14:m>
                <a:endParaRPr lang="en-US" sz="1800" b="1" i="1" dirty="0">
                  <a:solidFill>
                    <a:srgbClr val="0E1886"/>
                  </a:solidFill>
                  <a:latin typeface="Cambria Math" panose="02040503050406030204" pitchFamily="18" charset="0"/>
                </a:endParaRPr>
              </a:p>
            </p:txBody>
          </p:sp>
        </mc:Choice>
        <mc:Fallback>
          <p:sp>
            <p:nvSpPr>
              <p:cNvPr id="19" name="Text 16"/>
              <p:cNvSpPr>
                <a:spLocks noRot="1" noChangeAspect="1" noMove="1" noResize="1" noEditPoints="1" noAdjustHandles="1" noChangeArrowheads="1" noChangeShapeType="1" noTextEdit="1"/>
              </p:cNvSpPr>
              <p:nvPr/>
            </p:nvSpPr>
            <p:spPr>
              <a:xfrm>
                <a:off x="3215640" y="5074920"/>
                <a:ext cx="5760720" cy="320040"/>
              </a:xfrm>
              <a:prstGeom prst="rect">
                <a:avLst/>
              </a:prstGeom>
              <a:blipFill>
                <a:blip r:embed="rId4"/>
                <a:stretch>
                  <a:fillRect t="-71154" b="-76923"/>
                </a:stretch>
              </a:blipFill>
              <a:ln/>
            </p:spPr>
            <p:txBody>
              <a:bodyPr/>
              <a:lstStyle/>
              <a:p>
                <a:r>
                  <a:rPr lang="es-MX">
                    <a:noFill/>
                  </a:rPr>
                  <a:t> </a:t>
                </a:r>
              </a:p>
            </p:txBody>
          </p:sp>
        </mc:Fallback>
      </mc:AlternateContent>
      <p:sp>
        <p:nvSpPr>
          <p:cNvPr id="20" name="Text 17"/>
          <p:cNvSpPr/>
          <p:nvPr/>
        </p:nvSpPr>
        <p:spPr>
          <a:xfrm>
            <a:off x="1051560" y="1783080"/>
            <a:ext cx="9966960" cy="777240"/>
          </a:xfrm>
          <a:prstGeom prst="rect">
            <a:avLst/>
          </a:prstGeom>
          <a:noFill/>
          <a:ln/>
        </p:spPr>
        <p:txBody>
          <a:bodyPr wrap="square" lIns="889" tIns="889" rIns="889" bIns="889" rtlCol="0" anchor="ctr">
            <a:normAutofit/>
          </a:bodyPr>
          <a:lstStyle/>
          <a:p>
            <a:endParaRPr lang="en-US" sz="1200" dirty="0">
              <a:latin typeface="Segoe UI" panose="020B0502040204020203" pitchFamily="34" charset="0"/>
              <a:cs typeface="Segoe UI" panose="020B0502040204020203" pitchFamily="34" charset="0"/>
            </a:endParaRPr>
          </a:p>
        </p:txBody>
      </p:sp>
      <p:grpSp>
        <p:nvGrpSpPr>
          <p:cNvPr id="32" name="Group 31">
            <a:extLst>
              <a:ext uri="{FF2B5EF4-FFF2-40B4-BE49-F238E27FC236}">
                <a16:creationId xmlns:a16="http://schemas.microsoft.com/office/drawing/2014/main" id="{12CB22DC-8372-6F55-D8EA-57ED1BEC4BE3}"/>
              </a:ext>
            </a:extLst>
          </p:cNvPr>
          <p:cNvGrpSpPr/>
          <p:nvPr/>
        </p:nvGrpSpPr>
        <p:grpSpPr>
          <a:xfrm>
            <a:off x="1159510" y="3095244"/>
            <a:ext cx="9872980" cy="1777367"/>
            <a:chOff x="1234440" y="2560320"/>
            <a:chExt cx="9872980" cy="1777367"/>
          </a:xfrm>
        </p:grpSpPr>
        <p:sp>
          <p:nvSpPr>
            <p:cNvPr id="22" name="Shape 11">
              <a:extLst>
                <a:ext uri="{FF2B5EF4-FFF2-40B4-BE49-F238E27FC236}">
                  <a16:creationId xmlns:a16="http://schemas.microsoft.com/office/drawing/2014/main" id="{66445439-767F-4E06-728F-9E0CB401134E}"/>
                </a:ext>
              </a:extLst>
            </p:cNvPr>
            <p:cNvSpPr/>
            <p:nvPr/>
          </p:nvSpPr>
          <p:spPr>
            <a:xfrm flipV="1">
              <a:off x="1234440" y="3147059"/>
              <a:ext cx="9692640" cy="7611"/>
            </a:xfrm>
            <a:prstGeom prst="line">
              <a:avLst/>
            </a:prstGeom>
            <a:noFill/>
            <a:ln w="25400">
              <a:solidFill>
                <a:srgbClr val="D9DEE8"/>
              </a:solidFill>
              <a:prstDash val="solid"/>
            </a:ln>
          </p:spPr>
          <p:txBody>
            <a:bodyPr/>
            <a:lstStyle/>
            <a:p>
              <a:endParaRPr lang="es-MX" dirty="0">
                <a:latin typeface="Segoe UI" panose="020B0502040204020203" pitchFamily="34" charset="0"/>
                <a:cs typeface="Segoe UI" panose="020B0502040204020203" pitchFamily="34" charset="0"/>
              </a:endParaRPr>
            </a:p>
          </p:txBody>
        </p:sp>
        <p:sp>
          <p:nvSpPr>
            <p:cNvPr id="24" name="Text 12">
              <a:extLst>
                <a:ext uri="{FF2B5EF4-FFF2-40B4-BE49-F238E27FC236}">
                  <a16:creationId xmlns:a16="http://schemas.microsoft.com/office/drawing/2014/main" id="{0230DC88-5932-CD06-150C-AEC78F0A1410}"/>
                </a:ext>
              </a:extLst>
            </p:cNvPr>
            <p:cNvSpPr/>
            <p:nvPr/>
          </p:nvSpPr>
          <p:spPr>
            <a:xfrm>
              <a:off x="1940560" y="2686045"/>
              <a:ext cx="4230369" cy="914400"/>
            </a:xfrm>
            <a:prstGeom prst="rect">
              <a:avLst/>
            </a:prstGeom>
            <a:solidFill>
              <a:srgbClr val="FFFFFF"/>
            </a:solidFill>
            <a:ln w="12700">
              <a:solidFill>
                <a:srgbClr val="0B1E62"/>
              </a:solidFill>
            </a:ln>
          </p:spPr>
          <p:txBody>
            <a:bodyPr wrap="square" lIns="1524" tIns="1524" rIns="1524" bIns="1524" rtlCol="0" anchor="ctr">
              <a:normAutofit/>
            </a:bodyPr>
            <a:lstStyle/>
            <a:p>
              <a:pPr marL="0" indent="0" algn="ctr">
                <a:buNone/>
              </a:pPr>
              <a:r>
                <a:rPr lang="en-US" sz="1600" b="1" dirty="0">
                  <a:solidFill>
                    <a:srgbClr val="0B1E62"/>
                  </a:solidFill>
                  <a:latin typeface="Segoe UI" panose="020B0502040204020203" pitchFamily="34" charset="0"/>
                  <a:cs typeface="Segoe UI" panose="020B0502040204020203" pitchFamily="34" charset="0"/>
                </a:rPr>
                <a:t>Historical window</a:t>
              </a:r>
              <a:endParaRPr lang="en-US" sz="1600" dirty="0">
                <a:latin typeface="Segoe UI" panose="020B0502040204020203" pitchFamily="34" charset="0"/>
                <a:cs typeface="Segoe UI" panose="020B0502040204020203" pitchFamily="34" charset="0"/>
              </a:endParaRPr>
            </a:p>
            <a:p>
              <a:pPr marL="0" indent="0" algn="ctr">
                <a:buNone/>
              </a:pPr>
              <a:r>
                <a:rPr lang="en-US" sz="1600" b="1" dirty="0">
                  <a:solidFill>
                    <a:srgbClr val="0B1E62"/>
                  </a:solidFill>
                  <a:latin typeface="Segoe UI" panose="020B0502040204020203" pitchFamily="34" charset="0"/>
                  <a:cs typeface="Segoe UI" panose="020B0502040204020203" pitchFamily="34" charset="0"/>
                </a:rPr>
                <a:t>L = 100 days</a:t>
              </a:r>
              <a:endParaRPr lang="en-US" sz="1600" dirty="0">
                <a:latin typeface="Segoe UI" panose="020B0502040204020203" pitchFamily="34" charset="0"/>
                <a:cs typeface="Segoe UI" panose="020B0502040204020203" pitchFamily="34" charset="0"/>
              </a:endParaRPr>
            </a:p>
          </p:txBody>
        </p:sp>
        <p:sp>
          <p:nvSpPr>
            <p:cNvPr id="28" name="Text 14">
              <a:extLst>
                <a:ext uri="{FF2B5EF4-FFF2-40B4-BE49-F238E27FC236}">
                  <a16:creationId xmlns:a16="http://schemas.microsoft.com/office/drawing/2014/main" id="{564E089C-8766-6274-1C89-91BD2E6040C8}"/>
                </a:ext>
              </a:extLst>
            </p:cNvPr>
            <p:cNvSpPr/>
            <p:nvPr/>
          </p:nvSpPr>
          <p:spPr>
            <a:xfrm>
              <a:off x="6007100" y="4063367"/>
              <a:ext cx="297180" cy="274320"/>
            </a:xfrm>
            <a:prstGeom prst="rect">
              <a:avLst/>
            </a:prstGeom>
            <a:noFill/>
            <a:ln/>
          </p:spPr>
          <p:txBody>
            <a:bodyPr wrap="square" lIns="0" tIns="0" rIns="0" bIns="0" rtlCol="0" anchor="ctr"/>
            <a:lstStyle/>
            <a:p>
              <a:pPr marL="0" indent="0" algn="ctr">
                <a:buNone/>
              </a:pPr>
              <a:r>
                <a:rPr lang="en-US" sz="1600" dirty="0">
                  <a:solidFill>
                    <a:srgbClr val="6A6E77"/>
                  </a:solidFill>
                  <a:latin typeface="Segoe UI" panose="020B0502040204020203" pitchFamily="34" charset="0"/>
                  <a:cs typeface="Segoe UI" panose="020B0502040204020203" pitchFamily="34" charset="0"/>
                </a:rPr>
                <a:t>t</a:t>
              </a:r>
              <a:endParaRPr lang="en-US" sz="1600" dirty="0">
                <a:latin typeface="Segoe UI" panose="020B0502040204020203" pitchFamily="34" charset="0"/>
                <a:cs typeface="Segoe UI" panose="020B0502040204020203" pitchFamily="34" charset="0"/>
              </a:endParaRPr>
            </a:p>
          </p:txBody>
        </p:sp>
        <p:sp>
          <p:nvSpPr>
            <p:cNvPr id="30" name="Text 15">
              <a:extLst>
                <a:ext uri="{FF2B5EF4-FFF2-40B4-BE49-F238E27FC236}">
                  <a16:creationId xmlns:a16="http://schemas.microsoft.com/office/drawing/2014/main" id="{F0840551-6FBF-5C33-5FFF-81E06A12BE28}"/>
                </a:ext>
              </a:extLst>
            </p:cNvPr>
            <p:cNvSpPr/>
            <p:nvPr/>
          </p:nvSpPr>
          <p:spPr>
            <a:xfrm>
              <a:off x="6170930" y="2686045"/>
              <a:ext cx="4059830" cy="914400"/>
            </a:xfrm>
            <a:prstGeom prst="rect">
              <a:avLst/>
            </a:prstGeom>
            <a:solidFill>
              <a:srgbClr val="F2F7FF"/>
            </a:solidFill>
            <a:ln w="12700">
              <a:solidFill>
                <a:srgbClr val="AFCDF6"/>
              </a:solidFill>
            </a:ln>
          </p:spPr>
          <p:txBody>
            <a:bodyPr wrap="square" lIns="1524" tIns="1524" rIns="1524" bIns="1524" rtlCol="0" anchor="ctr">
              <a:normAutofit/>
            </a:bodyPr>
            <a:lstStyle/>
            <a:p>
              <a:pPr marL="0" indent="0" algn="ctr">
                <a:buNone/>
              </a:pPr>
              <a:r>
                <a:rPr lang="en-US" sz="1600" b="1" dirty="0">
                  <a:solidFill>
                    <a:srgbClr val="0B1E62"/>
                  </a:solidFill>
                  <a:latin typeface="Segoe UI" panose="020B0502040204020203" pitchFamily="34" charset="0"/>
                  <a:cs typeface="Segoe UI" panose="020B0502040204020203" pitchFamily="34" charset="0"/>
                </a:rPr>
                <a:t>Forecast horizon</a:t>
              </a:r>
              <a:endParaRPr lang="en-US" sz="1600" dirty="0">
                <a:latin typeface="Segoe UI" panose="020B0502040204020203" pitchFamily="34" charset="0"/>
                <a:cs typeface="Segoe UI" panose="020B0502040204020203" pitchFamily="34" charset="0"/>
              </a:endParaRPr>
            </a:p>
            <a:p>
              <a:pPr marL="0" indent="0" algn="ctr">
                <a:buNone/>
              </a:pPr>
              <a:r>
                <a:rPr lang="en-US" sz="1600" b="1" dirty="0">
                  <a:solidFill>
                    <a:srgbClr val="0B1E62"/>
                  </a:solidFill>
                  <a:latin typeface="Segoe UI" panose="020B0502040204020203" pitchFamily="34" charset="0"/>
                  <a:cs typeface="Segoe UI" panose="020B0502040204020203" pitchFamily="34" charset="0"/>
                </a:rPr>
                <a:t>H = 100 days</a:t>
              </a:r>
              <a:endParaRPr lang="en-US" sz="1600" dirty="0">
                <a:latin typeface="Segoe UI" panose="020B0502040204020203" pitchFamily="34" charset="0"/>
                <a:cs typeface="Segoe UI" panose="020B0502040204020203" pitchFamily="34" charset="0"/>
              </a:endParaRPr>
            </a:p>
          </p:txBody>
        </p:sp>
        <p:sp>
          <p:nvSpPr>
            <p:cNvPr id="31" name="Isosceles Triangle 30">
              <a:extLst>
                <a:ext uri="{FF2B5EF4-FFF2-40B4-BE49-F238E27FC236}">
                  <a16:creationId xmlns:a16="http://schemas.microsoft.com/office/drawing/2014/main" id="{7873B1EE-800D-06A5-0892-CAC41CDC29B5}"/>
                </a:ext>
              </a:extLst>
            </p:cNvPr>
            <p:cNvSpPr/>
            <p:nvPr/>
          </p:nvSpPr>
          <p:spPr>
            <a:xfrm rot="5400000">
              <a:off x="10869650" y="3064500"/>
              <a:ext cx="295200" cy="180340"/>
            </a:xfrm>
            <a:prstGeom prst="triangle">
              <a:avLst/>
            </a:prstGeom>
            <a:solidFill>
              <a:srgbClr val="D9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atin typeface="Segoe UI" panose="020B0502040204020203" pitchFamily="34" charset="0"/>
                <a:cs typeface="Segoe UI" panose="020B0502040204020203" pitchFamily="34" charset="0"/>
              </a:endParaRPr>
            </a:p>
          </p:txBody>
        </p:sp>
        <p:sp>
          <p:nvSpPr>
            <p:cNvPr id="26" name="Shape 13">
              <a:extLst>
                <a:ext uri="{FF2B5EF4-FFF2-40B4-BE49-F238E27FC236}">
                  <a16:creationId xmlns:a16="http://schemas.microsoft.com/office/drawing/2014/main" id="{12F48C22-C0AD-5192-4BF3-4510651F3B07}"/>
                </a:ext>
              </a:extLst>
            </p:cNvPr>
            <p:cNvSpPr/>
            <p:nvPr/>
          </p:nvSpPr>
          <p:spPr>
            <a:xfrm>
              <a:off x="6170930" y="2560320"/>
              <a:ext cx="0" cy="1417320"/>
            </a:xfrm>
            <a:prstGeom prst="line">
              <a:avLst/>
            </a:prstGeom>
            <a:noFill/>
            <a:ln w="25400">
              <a:solidFill>
                <a:srgbClr val="0B1E62"/>
              </a:solidFill>
              <a:prstDash val="solid"/>
            </a:ln>
          </p:spPr>
          <p:txBody>
            <a:bodyPr/>
            <a:lstStyle/>
            <a:p>
              <a:endParaRPr lang="es-MX">
                <a:latin typeface="Segoe UI" panose="020B0502040204020203" pitchFamily="34" charset="0"/>
                <a:cs typeface="Segoe UI" panose="020B0502040204020203" pitchFamily="34" charset="0"/>
              </a:endParaRPr>
            </a:p>
          </p:txBody>
        </p:sp>
      </p:grpSp>
      <p:sp>
        <p:nvSpPr>
          <p:cNvPr id="34" name="Shape 22">
            <a:extLst>
              <a:ext uri="{FF2B5EF4-FFF2-40B4-BE49-F238E27FC236}">
                <a16:creationId xmlns:a16="http://schemas.microsoft.com/office/drawing/2014/main" id="{60A63E30-3E94-7263-DA3E-B8DA9AA8B4A9}"/>
              </a:ext>
            </a:extLst>
          </p:cNvPr>
          <p:cNvSpPr/>
          <p:nvPr/>
        </p:nvSpPr>
        <p:spPr>
          <a:xfrm>
            <a:off x="1066800" y="1754131"/>
            <a:ext cx="9875520" cy="914400"/>
          </a:xfrm>
          <a:prstGeom prst="roundRect">
            <a:avLst>
              <a:gd name="adj" fmla="val 8000"/>
            </a:avLst>
          </a:prstGeom>
          <a:solidFill>
            <a:srgbClr val="F2F3F7"/>
          </a:solidFill>
          <a:ln w="12700">
            <a:solidFill>
              <a:srgbClr val="D5D7DE"/>
            </a:solidFill>
            <a:prstDash val="solid"/>
          </a:ln>
        </p:spPr>
        <p:txBody>
          <a:bodyPr/>
          <a:lstStyle/>
          <a:p>
            <a:endParaRPr lang="en-US" noProof="0" dirty="0"/>
          </a:p>
        </p:txBody>
      </p:sp>
      <p:sp>
        <p:nvSpPr>
          <p:cNvPr id="35" name="Text 23">
            <a:extLst>
              <a:ext uri="{FF2B5EF4-FFF2-40B4-BE49-F238E27FC236}">
                <a16:creationId xmlns:a16="http://schemas.microsoft.com/office/drawing/2014/main" id="{6EDAF7E7-873F-C0DA-545F-417E2AFC66E5}"/>
              </a:ext>
            </a:extLst>
          </p:cNvPr>
          <p:cNvSpPr/>
          <p:nvPr/>
        </p:nvSpPr>
        <p:spPr>
          <a:xfrm>
            <a:off x="1386840" y="1964444"/>
            <a:ext cx="1645920" cy="228600"/>
          </a:xfrm>
          <a:prstGeom prst="rect">
            <a:avLst/>
          </a:prstGeom>
          <a:noFill/>
          <a:ln/>
        </p:spPr>
        <p:txBody>
          <a:bodyPr wrap="square" lIns="0" tIns="0" rIns="0" bIns="0" rtlCol="0" anchor="ctr"/>
          <a:lstStyle/>
          <a:p>
            <a:pPr marL="0" indent="0">
              <a:buNone/>
            </a:pPr>
            <a:r>
              <a:rPr lang="en-US" sz="1400" b="1" dirty="0">
                <a:solidFill>
                  <a:srgbClr val="0E1886"/>
                </a:solidFill>
                <a:latin typeface="Segoe UI" panose="020B0502040204020203" pitchFamily="34" charset="0"/>
                <a:cs typeface="Segoe UI" panose="020B0502040204020203" pitchFamily="34" charset="0"/>
              </a:rPr>
              <a:t>Forecasting Setup</a:t>
            </a:r>
            <a:endParaRPr lang="en-US" sz="1400" b="1" noProof="0" dirty="0">
              <a:solidFill>
                <a:srgbClr val="0E1886"/>
              </a:solidFill>
              <a:latin typeface="Segoe UI" panose="020B0502040204020203" pitchFamily="34" charset="0"/>
              <a:cs typeface="Segoe UI" panose="020B0502040204020203" pitchFamily="34" charset="0"/>
            </a:endParaRPr>
          </a:p>
        </p:txBody>
      </p:sp>
      <p:sp>
        <p:nvSpPr>
          <p:cNvPr id="36" name="Text 24">
            <a:extLst>
              <a:ext uri="{FF2B5EF4-FFF2-40B4-BE49-F238E27FC236}">
                <a16:creationId xmlns:a16="http://schemas.microsoft.com/office/drawing/2014/main" id="{4B24DC2D-9E97-B435-FAED-A7F8A6C781D3}"/>
              </a:ext>
            </a:extLst>
          </p:cNvPr>
          <p:cNvSpPr/>
          <p:nvPr/>
        </p:nvSpPr>
        <p:spPr>
          <a:xfrm>
            <a:off x="3032760" y="1900436"/>
            <a:ext cx="7909557" cy="818588"/>
          </a:xfrm>
          <a:prstGeom prst="rect">
            <a:avLst/>
          </a:prstGeom>
          <a:noFill/>
          <a:ln/>
        </p:spPr>
        <p:txBody>
          <a:bodyPr wrap="square" lIns="254" tIns="254" rIns="254" bIns="254" rtlCol="0" anchor="ctr">
            <a:noAutofit/>
          </a:bodyPr>
          <a:lstStyle/>
          <a:p>
            <a:pPr marL="285750" indent="-285750">
              <a:buFont typeface="Arial" panose="020B0604020202020204" pitchFamily="34" charset="0"/>
              <a:buChar char="•"/>
            </a:pPr>
            <a:r>
              <a:rPr lang="es-MX" sz="1400" dirty="0"/>
              <a:t>The </a:t>
            </a:r>
            <a:r>
              <a:rPr lang="es-MX" sz="1400" dirty="0" err="1"/>
              <a:t>previous</a:t>
            </a:r>
            <a:r>
              <a:rPr lang="es-MX" sz="1400" dirty="0"/>
              <a:t> 100 </a:t>
            </a:r>
            <a:r>
              <a:rPr lang="es-MX" sz="1400" dirty="0" err="1"/>
              <a:t>daily</a:t>
            </a:r>
            <a:r>
              <a:rPr lang="es-MX" sz="1400" dirty="0"/>
              <a:t> </a:t>
            </a:r>
            <a:r>
              <a:rPr lang="es-MX" sz="1400" dirty="0" err="1"/>
              <a:t>observations</a:t>
            </a:r>
            <a:r>
              <a:rPr lang="es-MX" sz="1400" dirty="0"/>
              <a:t> </a:t>
            </a:r>
            <a:r>
              <a:rPr lang="es-MX" sz="1400" dirty="0" err="1"/>
              <a:t>form</a:t>
            </a:r>
            <a:r>
              <a:rPr lang="es-MX" sz="1400" dirty="0"/>
              <a:t> </a:t>
            </a:r>
            <a:r>
              <a:rPr lang="es-MX" sz="1400" dirty="0" err="1"/>
              <a:t>the</a:t>
            </a:r>
            <a:r>
              <a:rPr lang="es-MX" sz="1400" dirty="0"/>
              <a:t> </a:t>
            </a:r>
            <a:r>
              <a:rPr lang="es-MX" sz="1400" dirty="0" err="1"/>
              <a:t>model</a:t>
            </a:r>
            <a:r>
              <a:rPr lang="es-MX" sz="1400" dirty="0"/>
              <a:t> input.</a:t>
            </a:r>
            <a:endParaRPr lang="en-US" sz="1400" dirty="0">
              <a:solidFill>
                <a:srgbClr val="000000"/>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rgbClr val="000000"/>
                </a:solidFill>
                <a:latin typeface="Segoe UI" panose="020B0502040204020203" pitchFamily="34" charset="0"/>
                <a:cs typeface="Segoe UI" panose="020B0502040204020203" pitchFamily="34" charset="0"/>
              </a:rPr>
              <a:t>All 100 future changes are predicted at once.</a:t>
            </a:r>
            <a:endParaRPr lang="en-US" sz="14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rgbClr val="000000"/>
                </a:solidFill>
                <a:latin typeface="Segoe UI" panose="020B0502040204020203" pitchFamily="34" charset="0"/>
                <a:cs typeface="Segoe UI" panose="020B0502040204020203" pitchFamily="34" charset="0"/>
              </a:rPr>
              <a:t>Future macro-financial covariates are not observed.</a:t>
            </a:r>
            <a:endParaRPr lang="en-US" sz="14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rgbClr val="000000"/>
                </a:solidFill>
                <a:latin typeface="Segoe UI" panose="020B0502040204020203" pitchFamily="34" charset="0"/>
                <a:cs typeface="Segoe UI" panose="020B0502040204020203" pitchFamily="34" charset="0"/>
              </a:rPr>
              <a:t>For sequence models, unknown future drivers are handled conservatively rather than leaked.</a:t>
            </a:r>
            <a:endParaRPr lang="en-US" sz="1400" dirty="0">
              <a:latin typeface="Segoe UI" panose="020B0502040204020203" pitchFamily="34" charset="0"/>
              <a:cs typeface="Segoe UI" panose="020B0502040204020203" pitchFamily="34" charset="0"/>
            </a:endParaRPr>
          </a:p>
          <a:p>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11</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Covariate design</a:t>
            </a:r>
          </a:p>
        </p:txBody>
      </p:sp>
      <p:sp>
        <p:nvSpPr>
          <p:cNvPr id="56" name="Shape 5">
            <a:extLst>
              <a:ext uri="{FF2B5EF4-FFF2-40B4-BE49-F238E27FC236}">
                <a16:creationId xmlns:a16="http://schemas.microsoft.com/office/drawing/2014/main" id="{315965DE-47D5-A5F2-C1C9-9ACD312C7E90}"/>
              </a:ext>
            </a:extLst>
          </p:cNvPr>
          <p:cNvSpPr/>
          <p:nvPr/>
        </p:nvSpPr>
        <p:spPr>
          <a:xfrm>
            <a:off x="713232" y="2011680"/>
            <a:ext cx="2788920" cy="1783080"/>
          </a:xfrm>
          <a:prstGeom prst="roundRect">
            <a:avLst>
              <a:gd name="adj" fmla="val 3077"/>
            </a:avLst>
          </a:prstGeom>
          <a:solidFill>
            <a:srgbClr val="FFFFFF"/>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58" name="Shape 6">
            <a:extLst>
              <a:ext uri="{FF2B5EF4-FFF2-40B4-BE49-F238E27FC236}">
                <a16:creationId xmlns:a16="http://schemas.microsoft.com/office/drawing/2014/main" id="{549507E3-9056-2357-9772-03B9FFD3D47D}"/>
              </a:ext>
            </a:extLst>
          </p:cNvPr>
          <p:cNvSpPr/>
          <p:nvPr/>
        </p:nvSpPr>
        <p:spPr>
          <a:xfrm>
            <a:off x="713232" y="2011680"/>
            <a:ext cx="2788920" cy="384048"/>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60" name="Text 7">
            <a:extLst>
              <a:ext uri="{FF2B5EF4-FFF2-40B4-BE49-F238E27FC236}">
                <a16:creationId xmlns:a16="http://schemas.microsoft.com/office/drawing/2014/main" id="{200A78B2-F45B-3E81-5364-87A2AB582448}"/>
              </a:ext>
            </a:extLst>
          </p:cNvPr>
          <p:cNvSpPr/>
          <p:nvPr/>
        </p:nvSpPr>
        <p:spPr>
          <a:xfrm>
            <a:off x="786384" y="2084832"/>
            <a:ext cx="2642616" cy="219456"/>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Interest-rate drivers</a:t>
            </a:r>
            <a:endParaRPr lang="en-US" sz="1400" dirty="0">
              <a:latin typeface="Segoe UI" panose="020B0502040204020203" pitchFamily="34" charset="0"/>
              <a:cs typeface="Segoe UI" panose="020B0502040204020203" pitchFamily="34" charset="0"/>
            </a:endParaRPr>
          </a:p>
        </p:txBody>
      </p:sp>
      <p:sp>
        <p:nvSpPr>
          <p:cNvPr id="62" name="Shape 8">
            <a:extLst>
              <a:ext uri="{FF2B5EF4-FFF2-40B4-BE49-F238E27FC236}">
                <a16:creationId xmlns:a16="http://schemas.microsoft.com/office/drawing/2014/main" id="{377151EF-48AE-D60B-0DA9-D616A96FFBD5}"/>
              </a:ext>
            </a:extLst>
          </p:cNvPr>
          <p:cNvSpPr/>
          <p:nvPr/>
        </p:nvSpPr>
        <p:spPr>
          <a:xfrm>
            <a:off x="877824" y="2606040"/>
            <a:ext cx="2459736" cy="438912"/>
          </a:xfrm>
          <a:prstGeom prst="roundRect">
            <a:avLst>
              <a:gd name="adj" fmla="val 8333"/>
            </a:avLst>
          </a:prstGeom>
          <a:no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64" name="Text 9">
            <a:extLst>
              <a:ext uri="{FF2B5EF4-FFF2-40B4-BE49-F238E27FC236}">
                <a16:creationId xmlns:a16="http://schemas.microsoft.com/office/drawing/2014/main" id="{59D37571-D5F4-D049-0798-3F91C9689CB4}"/>
              </a:ext>
            </a:extLst>
          </p:cNvPr>
          <p:cNvSpPr/>
          <p:nvPr/>
        </p:nvSpPr>
        <p:spPr>
          <a:xfrm>
            <a:off x="969264" y="2726055"/>
            <a:ext cx="2276856" cy="164592"/>
          </a:xfrm>
          <a:prstGeom prst="rect">
            <a:avLst/>
          </a:prstGeom>
          <a:noFill/>
          <a:ln/>
        </p:spPr>
        <p:txBody>
          <a:bodyPr wrap="square" lIns="635" tIns="635" rIns="635" bIns="635"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Euro short-term rate</a:t>
            </a:r>
            <a:endParaRPr lang="en-US" sz="1400" dirty="0">
              <a:latin typeface="Segoe UI" panose="020B0502040204020203" pitchFamily="34" charset="0"/>
              <a:cs typeface="Segoe UI" panose="020B0502040204020203" pitchFamily="34" charset="0"/>
            </a:endParaRPr>
          </a:p>
        </p:txBody>
      </p:sp>
      <p:sp>
        <p:nvSpPr>
          <p:cNvPr id="68" name="Shape 11">
            <a:extLst>
              <a:ext uri="{FF2B5EF4-FFF2-40B4-BE49-F238E27FC236}">
                <a16:creationId xmlns:a16="http://schemas.microsoft.com/office/drawing/2014/main" id="{78F84701-2376-2CD2-2107-04F00427BC05}"/>
              </a:ext>
            </a:extLst>
          </p:cNvPr>
          <p:cNvSpPr/>
          <p:nvPr/>
        </p:nvSpPr>
        <p:spPr>
          <a:xfrm>
            <a:off x="877824" y="3200400"/>
            <a:ext cx="2459736" cy="438912"/>
          </a:xfrm>
          <a:prstGeom prst="roundRect">
            <a:avLst>
              <a:gd name="adj" fmla="val 8333"/>
            </a:avLst>
          </a:prstGeom>
          <a:solidFill>
            <a:srgbClr val="FFFFFF"/>
          </a:solid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70" name="Text 12">
            <a:extLst>
              <a:ext uri="{FF2B5EF4-FFF2-40B4-BE49-F238E27FC236}">
                <a16:creationId xmlns:a16="http://schemas.microsoft.com/office/drawing/2014/main" id="{B2C1C9ED-E6D0-AEA0-0366-63ACD8951B93}"/>
              </a:ext>
            </a:extLst>
          </p:cNvPr>
          <p:cNvSpPr/>
          <p:nvPr/>
        </p:nvSpPr>
        <p:spPr>
          <a:xfrm>
            <a:off x="984504" y="3346704"/>
            <a:ext cx="2276856" cy="164592"/>
          </a:xfrm>
          <a:prstGeom prst="rect">
            <a:avLst/>
          </a:prstGeom>
          <a:noFill/>
          <a:ln/>
        </p:spPr>
        <p:txBody>
          <a:bodyPr wrap="square" lIns="635" tIns="635" rIns="635" bIns="635" rtlCol="0" anchor="ctr">
            <a:noAutofit/>
          </a:bodyPr>
          <a:lstStyle/>
          <a:p>
            <a:pPr marL="0" indent="0" algn="ctr">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Deposit rate</a:t>
            </a:r>
            <a:endParaRPr lang="en-US" sz="1400" dirty="0">
              <a:latin typeface="Segoe UI" panose="020B0502040204020203" pitchFamily="34" charset="0"/>
              <a:cs typeface="Segoe UI" panose="020B0502040204020203" pitchFamily="34" charset="0"/>
            </a:endParaRPr>
          </a:p>
        </p:txBody>
      </p:sp>
      <p:sp>
        <p:nvSpPr>
          <p:cNvPr id="74" name="Shape 14">
            <a:extLst>
              <a:ext uri="{FF2B5EF4-FFF2-40B4-BE49-F238E27FC236}">
                <a16:creationId xmlns:a16="http://schemas.microsoft.com/office/drawing/2014/main" id="{15AA179B-DC16-E59B-23EB-75337B997077}"/>
              </a:ext>
            </a:extLst>
          </p:cNvPr>
          <p:cNvSpPr/>
          <p:nvPr/>
        </p:nvSpPr>
        <p:spPr>
          <a:xfrm>
            <a:off x="3703320" y="2011680"/>
            <a:ext cx="2788920" cy="1783080"/>
          </a:xfrm>
          <a:prstGeom prst="roundRect">
            <a:avLst>
              <a:gd name="adj" fmla="val 3077"/>
            </a:avLst>
          </a:prstGeom>
          <a:solidFill>
            <a:srgbClr val="FFFFFF"/>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76" name="Shape 15">
            <a:extLst>
              <a:ext uri="{FF2B5EF4-FFF2-40B4-BE49-F238E27FC236}">
                <a16:creationId xmlns:a16="http://schemas.microsoft.com/office/drawing/2014/main" id="{F8DFFE46-6FF0-03FB-1E54-400B7F6EEB02}"/>
              </a:ext>
            </a:extLst>
          </p:cNvPr>
          <p:cNvSpPr/>
          <p:nvPr/>
        </p:nvSpPr>
        <p:spPr>
          <a:xfrm>
            <a:off x="3703320" y="2011680"/>
            <a:ext cx="2788920" cy="384048"/>
          </a:xfrm>
          <a:prstGeom prst="rect">
            <a:avLst/>
          </a:prstGeom>
          <a:solidFill>
            <a:srgbClr val="3747B0"/>
          </a:solidFill>
          <a:ln w="12700">
            <a:solidFill>
              <a:srgbClr val="3747B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78" name="Text 16">
            <a:extLst>
              <a:ext uri="{FF2B5EF4-FFF2-40B4-BE49-F238E27FC236}">
                <a16:creationId xmlns:a16="http://schemas.microsoft.com/office/drawing/2014/main" id="{3098ABF5-DDAA-5DD6-9BA0-49A46ACC7B20}"/>
              </a:ext>
            </a:extLst>
          </p:cNvPr>
          <p:cNvSpPr/>
          <p:nvPr/>
        </p:nvSpPr>
        <p:spPr>
          <a:xfrm>
            <a:off x="3776472" y="2084832"/>
            <a:ext cx="2642616" cy="219456"/>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Macroeconomic drivers</a:t>
            </a:r>
            <a:endParaRPr lang="en-US" sz="1400" dirty="0">
              <a:latin typeface="Segoe UI" panose="020B0502040204020203" pitchFamily="34" charset="0"/>
              <a:cs typeface="Segoe UI" panose="020B0502040204020203" pitchFamily="34" charset="0"/>
            </a:endParaRPr>
          </a:p>
        </p:txBody>
      </p:sp>
      <p:sp>
        <p:nvSpPr>
          <p:cNvPr id="80" name="Shape 17">
            <a:extLst>
              <a:ext uri="{FF2B5EF4-FFF2-40B4-BE49-F238E27FC236}">
                <a16:creationId xmlns:a16="http://schemas.microsoft.com/office/drawing/2014/main" id="{727DF88E-2278-B475-058D-2A6BDEEAB5E8}"/>
              </a:ext>
            </a:extLst>
          </p:cNvPr>
          <p:cNvSpPr/>
          <p:nvPr/>
        </p:nvSpPr>
        <p:spPr>
          <a:xfrm>
            <a:off x="3867912" y="2606040"/>
            <a:ext cx="2459736" cy="438912"/>
          </a:xfrm>
          <a:prstGeom prst="roundRect">
            <a:avLst>
              <a:gd name="adj" fmla="val 8333"/>
            </a:avLst>
          </a:prstGeom>
          <a:no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82" name="Text 18">
            <a:extLst>
              <a:ext uri="{FF2B5EF4-FFF2-40B4-BE49-F238E27FC236}">
                <a16:creationId xmlns:a16="http://schemas.microsoft.com/office/drawing/2014/main" id="{AFDF69BE-3AA3-7AB5-7E56-055B1E1F8C0C}"/>
              </a:ext>
            </a:extLst>
          </p:cNvPr>
          <p:cNvSpPr/>
          <p:nvPr/>
        </p:nvSpPr>
        <p:spPr>
          <a:xfrm>
            <a:off x="3959352" y="2726055"/>
            <a:ext cx="2276856" cy="164592"/>
          </a:xfrm>
          <a:prstGeom prst="rect">
            <a:avLst/>
          </a:prstGeom>
          <a:noFill/>
          <a:ln/>
        </p:spPr>
        <p:txBody>
          <a:bodyPr wrap="square" lIns="635" tIns="635" rIns="635" bIns="635" rtlCol="0" anchor="ctr">
            <a:noAutofit/>
          </a:bodyPr>
          <a:lstStyle/>
          <a:p>
            <a:r>
              <a:rPr lang="en-US" sz="1400" b="1" dirty="0">
                <a:solidFill>
                  <a:srgbClr val="0E1886"/>
                </a:solidFill>
                <a:latin typeface="Segoe UI" panose="020B0502040204020203" pitchFamily="34" charset="0"/>
                <a:cs typeface="Segoe UI" panose="020B0502040204020203" pitchFamily="34" charset="0"/>
              </a:rPr>
              <a:t>German Geopolitical Risk Index</a:t>
            </a:r>
          </a:p>
        </p:txBody>
      </p:sp>
      <p:sp>
        <p:nvSpPr>
          <p:cNvPr id="86" name="Shape 20">
            <a:extLst>
              <a:ext uri="{FF2B5EF4-FFF2-40B4-BE49-F238E27FC236}">
                <a16:creationId xmlns:a16="http://schemas.microsoft.com/office/drawing/2014/main" id="{38217130-8DF5-10D6-7F8F-CEB6317A1388}"/>
              </a:ext>
            </a:extLst>
          </p:cNvPr>
          <p:cNvSpPr/>
          <p:nvPr/>
        </p:nvSpPr>
        <p:spPr>
          <a:xfrm>
            <a:off x="3867912" y="3200400"/>
            <a:ext cx="2459736" cy="438912"/>
          </a:xfrm>
          <a:prstGeom prst="roundRect">
            <a:avLst>
              <a:gd name="adj" fmla="val 8333"/>
            </a:avLst>
          </a:prstGeom>
          <a:no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88" name="Text 21">
            <a:extLst>
              <a:ext uri="{FF2B5EF4-FFF2-40B4-BE49-F238E27FC236}">
                <a16:creationId xmlns:a16="http://schemas.microsoft.com/office/drawing/2014/main" id="{A5E61EE6-E17A-EDAD-432A-DE39E6458553}"/>
              </a:ext>
            </a:extLst>
          </p:cNvPr>
          <p:cNvSpPr/>
          <p:nvPr/>
        </p:nvSpPr>
        <p:spPr>
          <a:xfrm>
            <a:off x="3959352" y="3346704"/>
            <a:ext cx="2276856" cy="164592"/>
          </a:xfrm>
          <a:prstGeom prst="rect">
            <a:avLst/>
          </a:prstGeom>
          <a:noFill/>
          <a:ln/>
        </p:spPr>
        <p:txBody>
          <a:bodyPr wrap="square" lIns="635" tIns="635" rIns="635" bIns="635" rtlCol="0" anchor="ctr">
            <a:noAutofit/>
          </a:bodyPr>
          <a:lstStyle/>
          <a:p>
            <a:pPr marL="0" indent="0" algn="ctr">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MoM inflation</a:t>
            </a:r>
            <a:endParaRPr lang="en-US" sz="1400" dirty="0">
              <a:latin typeface="Segoe UI" panose="020B0502040204020203" pitchFamily="34" charset="0"/>
              <a:cs typeface="Segoe UI" panose="020B0502040204020203" pitchFamily="34" charset="0"/>
            </a:endParaRPr>
          </a:p>
        </p:txBody>
      </p:sp>
      <p:sp>
        <p:nvSpPr>
          <p:cNvPr id="92" name="Shape 23">
            <a:extLst>
              <a:ext uri="{FF2B5EF4-FFF2-40B4-BE49-F238E27FC236}">
                <a16:creationId xmlns:a16="http://schemas.microsoft.com/office/drawing/2014/main" id="{2A5BAA77-C028-090C-69EE-97DDFCF0866D}"/>
              </a:ext>
            </a:extLst>
          </p:cNvPr>
          <p:cNvSpPr/>
          <p:nvPr/>
        </p:nvSpPr>
        <p:spPr>
          <a:xfrm>
            <a:off x="6693408" y="2011680"/>
            <a:ext cx="2788920" cy="1783080"/>
          </a:xfrm>
          <a:prstGeom prst="roundRect">
            <a:avLst>
              <a:gd name="adj" fmla="val 3077"/>
            </a:avLst>
          </a:prstGeom>
          <a:solidFill>
            <a:srgbClr val="FFFFFF"/>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94" name="Shape 24">
            <a:extLst>
              <a:ext uri="{FF2B5EF4-FFF2-40B4-BE49-F238E27FC236}">
                <a16:creationId xmlns:a16="http://schemas.microsoft.com/office/drawing/2014/main" id="{15BA9109-96C2-E6DB-552A-EE489247D950}"/>
              </a:ext>
            </a:extLst>
          </p:cNvPr>
          <p:cNvSpPr/>
          <p:nvPr/>
        </p:nvSpPr>
        <p:spPr>
          <a:xfrm>
            <a:off x="6693408" y="2011680"/>
            <a:ext cx="2788920" cy="384048"/>
          </a:xfrm>
          <a:prstGeom prst="rect">
            <a:avLst/>
          </a:prstGeom>
          <a:solidFill>
            <a:srgbClr val="5965C9"/>
          </a:solidFill>
          <a:ln w="12700">
            <a:solidFill>
              <a:srgbClr val="5965C9"/>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96" name="Text 25">
            <a:extLst>
              <a:ext uri="{FF2B5EF4-FFF2-40B4-BE49-F238E27FC236}">
                <a16:creationId xmlns:a16="http://schemas.microsoft.com/office/drawing/2014/main" id="{79DE06D7-F557-A9DA-E9CF-EBE9ED991CED}"/>
              </a:ext>
            </a:extLst>
          </p:cNvPr>
          <p:cNvSpPr/>
          <p:nvPr/>
        </p:nvSpPr>
        <p:spPr>
          <a:xfrm>
            <a:off x="6766560" y="2084832"/>
            <a:ext cx="2642616" cy="219456"/>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Financial-market drivers</a:t>
            </a:r>
            <a:endParaRPr lang="en-US" sz="1400" dirty="0">
              <a:latin typeface="Segoe UI" panose="020B0502040204020203" pitchFamily="34" charset="0"/>
              <a:cs typeface="Segoe UI" panose="020B0502040204020203" pitchFamily="34" charset="0"/>
            </a:endParaRPr>
          </a:p>
        </p:txBody>
      </p:sp>
      <p:sp>
        <p:nvSpPr>
          <p:cNvPr id="98" name="Shape 26">
            <a:extLst>
              <a:ext uri="{FF2B5EF4-FFF2-40B4-BE49-F238E27FC236}">
                <a16:creationId xmlns:a16="http://schemas.microsoft.com/office/drawing/2014/main" id="{2F55B3DA-6C00-403A-0759-3CD40EABD324}"/>
              </a:ext>
            </a:extLst>
          </p:cNvPr>
          <p:cNvSpPr/>
          <p:nvPr/>
        </p:nvSpPr>
        <p:spPr>
          <a:xfrm>
            <a:off x="6858000" y="2606040"/>
            <a:ext cx="2459736" cy="438912"/>
          </a:xfrm>
          <a:prstGeom prst="roundRect">
            <a:avLst>
              <a:gd name="adj" fmla="val 8333"/>
            </a:avLst>
          </a:prstGeom>
          <a:no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00" name="Text 27">
            <a:extLst>
              <a:ext uri="{FF2B5EF4-FFF2-40B4-BE49-F238E27FC236}">
                <a16:creationId xmlns:a16="http://schemas.microsoft.com/office/drawing/2014/main" id="{4D896C92-D671-3DC6-8DA2-12C0FDD713BE}"/>
              </a:ext>
            </a:extLst>
          </p:cNvPr>
          <p:cNvSpPr/>
          <p:nvPr/>
        </p:nvSpPr>
        <p:spPr>
          <a:xfrm>
            <a:off x="6949440" y="2726055"/>
            <a:ext cx="2276856" cy="164592"/>
          </a:xfrm>
          <a:prstGeom prst="rect">
            <a:avLst/>
          </a:prstGeom>
          <a:noFill/>
          <a:ln/>
        </p:spPr>
        <p:txBody>
          <a:bodyPr wrap="square" lIns="635" tIns="635" rIns="635" bIns="635" rtlCol="0" anchor="ctr">
            <a:noAutofit/>
          </a:bodyPr>
          <a:lstStyle/>
          <a:p>
            <a:pPr marL="0" indent="0" algn="ctr">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DAX</a:t>
            </a:r>
            <a:endParaRPr lang="en-US" sz="1400" dirty="0">
              <a:latin typeface="Segoe UI" panose="020B0502040204020203" pitchFamily="34" charset="0"/>
              <a:cs typeface="Segoe UI" panose="020B0502040204020203" pitchFamily="34" charset="0"/>
            </a:endParaRPr>
          </a:p>
        </p:txBody>
      </p:sp>
      <p:sp>
        <p:nvSpPr>
          <p:cNvPr id="104" name="Shape 29">
            <a:extLst>
              <a:ext uri="{FF2B5EF4-FFF2-40B4-BE49-F238E27FC236}">
                <a16:creationId xmlns:a16="http://schemas.microsoft.com/office/drawing/2014/main" id="{AE387550-5ABD-F8F8-3206-F87560408DCC}"/>
              </a:ext>
            </a:extLst>
          </p:cNvPr>
          <p:cNvSpPr/>
          <p:nvPr/>
        </p:nvSpPr>
        <p:spPr>
          <a:xfrm>
            <a:off x="6858000" y="3200400"/>
            <a:ext cx="2459736" cy="438912"/>
          </a:xfrm>
          <a:prstGeom prst="roundRect">
            <a:avLst>
              <a:gd name="adj" fmla="val 8333"/>
            </a:avLst>
          </a:prstGeom>
          <a:solidFill>
            <a:srgbClr val="FFFFFF"/>
          </a:solidFill>
          <a:ln w="7620">
            <a:solidFill>
              <a:srgbClr val="E2E5EC"/>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06" name="Text 30">
            <a:extLst>
              <a:ext uri="{FF2B5EF4-FFF2-40B4-BE49-F238E27FC236}">
                <a16:creationId xmlns:a16="http://schemas.microsoft.com/office/drawing/2014/main" id="{33B03DF5-FDF4-4F21-6F52-6BFD9FD4AD8A}"/>
              </a:ext>
            </a:extLst>
          </p:cNvPr>
          <p:cNvSpPr/>
          <p:nvPr/>
        </p:nvSpPr>
        <p:spPr>
          <a:xfrm>
            <a:off x="6949440" y="3346704"/>
            <a:ext cx="2276856" cy="164592"/>
          </a:xfrm>
          <a:prstGeom prst="rect">
            <a:avLst/>
          </a:prstGeom>
          <a:noFill/>
          <a:ln/>
        </p:spPr>
        <p:txBody>
          <a:bodyPr wrap="square" lIns="635" tIns="635" rIns="635" bIns="635" rtlCol="0" anchor="ctr">
            <a:noAutofit/>
          </a:bodyPr>
          <a:lstStyle/>
          <a:p>
            <a:pPr marL="0" indent="0" algn="ctr">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10Y Bund yield</a:t>
            </a:r>
            <a:endParaRPr lang="en-US" sz="1400" dirty="0">
              <a:latin typeface="Segoe UI" panose="020B0502040204020203" pitchFamily="34" charset="0"/>
              <a:cs typeface="Segoe UI" panose="020B0502040204020203" pitchFamily="34" charset="0"/>
            </a:endParaRPr>
          </a:p>
        </p:txBody>
      </p:sp>
      <p:sp>
        <p:nvSpPr>
          <p:cNvPr id="110" name="Shape 32">
            <a:extLst>
              <a:ext uri="{FF2B5EF4-FFF2-40B4-BE49-F238E27FC236}">
                <a16:creationId xmlns:a16="http://schemas.microsoft.com/office/drawing/2014/main" id="{9CF6386D-9E05-4EA5-845B-E9A639F78D41}"/>
              </a:ext>
            </a:extLst>
          </p:cNvPr>
          <p:cNvSpPr/>
          <p:nvPr/>
        </p:nvSpPr>
        <p:spPr>
          <a:xfrm>
            <a:off x="4937760" y="3886200"/>
            <a:ext cx="320040" cy="329184"/>
          </a:xfrm>
          <a:prstGeom prst="downArrow">
            <a:avLst/>
          </a:prstGeom>
          <a:solidFill>
            <a:srgbClr val="0E1886">
              <a:alpha val="90000"/>
            </a:srgbClr>
          </a:solidFill>
          <a:ln w="12700">
            <a:solidFill>
              <a:srgbClr val="0E1886">
                <a:alpha val="0"/>
              </a:srgbClr>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12" name="Shape 33">
            <a:extLst>
              <a:ext uri="{FF2B5EF4-FFF2-40B4-BE49-F238E27FC236}">
                <a16:creationId xmlns:a16="http://schemas.microsoft.com/office/drawing/2014/main" id="{839D398F-00C3-AAAC-A7F7-384C2C84D6D5}"/>
              </a:ext>
            </a:extLst>
          </p:cNvPr>
          <p:cNvSpPr/>
          <p:nvPr/>
        </p:nvSpPr>
        <p:spPr>
          <a:xfrm>
            <a:off x="713232" y="4224528"/>
            <a:ext cx="1965960" cy="310896"/>
          </a:xfrm>
          <a:prstGeom prst="roundRect">
            <a:avLst>
              <a:gd name="adj" fmla="val 20588"/>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14" name="Text 34">
            <a:extLst>
              <a:ext uri="{FF2B5EF4-FFF2-40B4-BE49-F238E27FC236}">
                <a16:creationId xmlns:a16="http://schemas.microsoft.com/office/drawing/2014/main" id="{8DD10C67-C31D-A414-C8C3-E3ABE6691E83}"/>
              </a:ext>
            </a:extLst>
          </p:cNvPr>
          <p:cNvSpPr/>
          <p:nvPr/>
        </p:nvSpPr>
        <p:spPr>
          <a:xfrm>
            <a:off x="786384" y="4261104"/>
            <a:ext cx="1819656" cy="219456"/>
          </a:xfrm>
          <a:prstGeom prst="rect">
            <a:avLst/>
          </a:prstGeom>
          <a:noFill/>
          <a:ln/>
        </p:spPr>
        <p:txBody>
          <a:bodyPr wrap="square" lIns="635" tIns="635" rIns="635" bIns="635" rtlCol="0" anchor="ctr">
            <a:no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Covariate Sets</a:t>
            </a:r>
            <a:endParaRPr lang="en-US" sz="1400" dirty="0">
              <a:latin typeface="Segoe UI" panose="020B0502040204020203" pitchFamily="34" charset="0"/>
              <a:cs typeface="Segoe UI" panose="020B0502040204020203" pitchFamily="34" charset="0"/>
            </a:endParaRPr>
          </a:p>
        </p:txBody>
      </p:sp>
      <p:sp>
        <p:nvSpPr>
          <p:cNvPr id="116" name="Shape 35">
            <a:extLst>
              <a:ext uri="{FF2B5EF4-FFF2-40B4-BE49-F238E27FC236}">
                <a16:creationId xmlns:a16="http://schemas.microsoft.com/office/drawing/2014/main" id="{3616F6DF-AAA7-668E-9A3C-5559B792E123}"/>
              </a:ext>
            </a:extLst>
          </p:cNvPr>
          <p:cNvSpPr/>
          <p:nvPr/>
        </p:nvSpPr>
        <p:spPr>
          <a:xfrm>
            <a:off x="713232" y="4645152"/>
            <a:ext cx="3246120" cy="1374644"/>
          </a:xfrm>
          <a:prstGeom prst="roundRect">
            <a:avLst>
              <a:gd name="adj" fmla="val 5714"/>
            </a:avLst>
          </a:prstGeom>
          <a:solidFill>
            <a:srgbClr val="F4F5F8"/>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18" name="Shape 36">
            <a:extLst>
              <a:ext uri="{FF2B5EF4-FFF2-40B4-BE49-F238E27FC236}">
                <a16:creationId xmlns:a16="http://schemas.microsoft.com/office/drawing/2014/main" id="{E9ECF0E4-B2A4-127F-7E96-C00A7560C963}"/>
              </a:ext>
            </a:extLst>
          </p:cNvPr>
          <p:cNvSpPr/>
          <p:nvPr/>
        </p:nvSpPr>
        <p:spPr>
          <a:xfrm>
            <a:off x="850392" y="4791456"/>
            <a:ext cx="384048" cy="384048"/>
          </a:xfrm>
          <a:prstGeom prst="roundRect">
            <a:avLst>
              <a:gd name="adj" fmla="val 14286"/>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20" name="Text 37">
            <a:extLst>
              <a:ext uri="{FF2B5EF4-FFF2-40B4-BE49-F238E27FC236}">
                <a16:creationId xmlns:a16="http://schemas.microsoft.com/office/drawing/2014/main" id="{34737860-E08A-EF80-9574-F005F17789BB}"/>
              </a:ext>
            </a:extLst>
          </p:cNvPr>
          <p:cNvSpPr/>
          <p:nvPr/>
        </p:nvSpPr>
        <p:spPr>
          <a:xfrm>
            <a:off x="850392" y="4855464"/>
            <a:ext cx="384048" cy="146304"/>
          </a:xfrm>
          <a:prstGeom prst="rect">
            <a:avLst/>
          </a:prstGeom>
          <a:noFill/>
          <a:ln/>
        </p:spPr>
        <p:txBody>
          <a:bodyPr wrap="square" lIns="635" tIns="635" rIns="635" bIns="635" rtlCol="0" anchor="ctr">
            <a:no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122" name="Text 38">
            <a:extLst>
              <a:ext uri="{FF2B5EF4-FFF2-40B4-BE49-F238E27FC236}">
                <a16:creationId xmlns:a16="http://schemas.microsoft.com/office/drawing/2014/main" id="{FF88A6F9-A923-E39D-1529-8CD8CA6B920B}"/>
              </a:ext>
            </a:extLst>
          </p:cNvPr>
          <p:cNvSpPr/>
          <p:nvPr/>
        </p:nvSpPr>
        <p:spPr>
          <a:xfrm>
            <a:off x="1335024" y="4791456"/>
            <a:ext cx="2459736" cy="256032"/>
          </a:xfrm>
          <a:prstGeom prst="rect">
            <a:avLst/>
          </a:prstGeom>
          <a:noFill/>
          <a:ln/>
        </p:spPr>
        <p:txBody>
          <a:bodyPr wrap="square" lIns="635" tIns="635" rIns="635" bIns="635" rtlCol="0" anchor="ctr">
            <a:normAutofit/>
          </a:bodyPr>
          <a:lstStyle/>
          <a:p>
            <a:pPr marL="0" indent="0" algn="l">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Full set</a:t>
            </a:r>
            <a:endParaRPr lang="en-US" sz="1400" dirty="0">
              <a:latin typeface="Segoe UI" panose="020B0502040204020203" pitchFamily="34" charset="0"/>
              <a:cs typeface="Segoe UI" panose="020B0502040204020203" pitchFamily="34" charset="0"/>
            </a:endParaRPr>
          </a:p>
        </p:txBody>
      </p:sp>
      <p:sp>
        <p:nvSpPr>
          <p:cNvPr id="124" name="Text 39">
            <a:extLst>
              <a:ext uri="{FF2B5EF4-FFF2-40B4-BE49-F238E27FC236}">
                <a16:creationId xmlns:a16="http://schemas.microsoft.com/office/drawing/2014/main" id="{55806720-9819-0A04-78D1-F1820295C815}"/>
              </a:ext>
            </a:extLst>
          </p:cNvPr>
          <p:cNvSpPr/>
          <p:nvPr/>
        </p:nvSpPr>
        <p:spPr>
          <a:xfrm>
            <a:off x="1335024" y="5093208"/>
            <a:ext cx="2459736" cy="429768"/>
          </a:xfrm>
          <a:prstGeom prst="rect">
            <a:avLst/>
          </a:prstGeom>
          <a:noFill/>
          <a:ln/>
        </p:spPr>
        <p:txBody>
          <a:bodyPr wrap="square" lIns="635" tIns="635" rIns="635" bIns="635" rtlCol="0" anchor="ctr">
            <a:noAutofit/>
          </a:bodyPr>
          <a:lstStyle/>
          <a:p>
            <a:pPr marL="0" indent="0" algn="l">
              <a:buNone/>
            </a:pPr>
            <a:r>
              <a:rPr lang="en-US" sz="1400" dirty="0">
                <a:solidFill>
                  <a:srgbClr val="111111"/>
                </a:solidFill>
                <a:latin typeface="Segoe UI" panose="020B0502040204020203" pitchFamily="34" charset="0"/>
                <a:ea typeface="Arial" pitchFamily="34" charset="-122"/>
                <a:cs typeface="Segoe UI" panose="020B0502040204020203" pitchFamily="34" charset="0"/>
              </a:rPr>
              <a:t>All six covariates together</a:t>
            </a:r>
            <a:endParaRPr lang="en-US" sz="1400" dirty="0">
              <a:latin typeface="Segoe UI" panose="020B0502040204020203" pitchFamily="34" charset="0"/>
              <a:cs typeface="Segoe UI" panose="020B0502040204020203" pitchFamily="34" charset="0"/>
            </a:endParaRPr>
          </a:p>
        </p:txBody>
      </p:sp>
      <p:sp>
        <p:nvSpPr>
          <p:cNvPr id="126" name="Shape 40">
            <a:extLst>
              <a:ext uri="{FF2B5EF4-FFF2-40B4-BE49-F238E27FC236}">
                <a16:creationId xmlns:a16="http://schemas.microsoft.com/office/drawing/2014/main" id="{DAD01695-F5B2-E7B5-3D2B-3DDEBF077729}"/>
              </a:ext>
            </a:extLst>
          </p:cNvPr>
          <p:cNvSpPr/>
          <p:nvPr/>
        </p:nvSpPr>
        <p:spPr>
          <a:xfrm>
            <a:off x="4224528" y="4645151"/>
            <a:ext cx="3429000" cy="1374645"/>
          </a:xfrm>
          <a:prstGeom prst="roundRect">
            <a:avLst>
              <a:gd name="adj" fmla="val 5714"/>
            </a:avLst>
          </a:prstGeom>
          <a:solidFill>
            <a:srgbClr val="F4F5F8"/>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28" name="Shape 41">
            <a:extLst>
              <a:ext uri="{FF2B5EF4-FFF2-40B4-BE49-F238E27FC236}">
                <a16:creationId xmlns:a16="http://schemas.microsoft.com/office/drawing/2014/main" id="{832CC1F4-D304-DADC-865E-486551F7CB83}"/>
              </a:ext>
            </a:extLst>
          </p:cNvPr>
          <p:cNvSpPr/>
          <p:nvPr/>
        </p:nvSpPr>
        <p:spPr>
          <a:xfrm>
            <a:off x="4361688" y="4791456"/>
            <a:ext cx="384048" cy="384048"/>
          </a:xfrm>
          <a:prstGeom prst="roundRect">
            <a:avLst>
              <a:gd name="adj" fmla="val 14286"/>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30" name="Text 42">
            <a:extLst>
              <a:ext uri="{FF2B5EF4-FFF2-40B4-BE49-F238E27FC236}">
                <a16:creationId xmlns:a16="http://schemas.microsoft.com/office/drawing/2014/main" id="{833DD005-DC66-277A-3B75-16EB9454D5C2}"/>
              </a:ext>
            </a:extLst>
          </p:cNvPr>
          <p:cNvSpPr/>
          <p:nvPr/>
        </p:nvSpPr>
        <p:spPr>
          <a:xfrm>
            <a:off x="4361688" y="4855464"/>
            <a:ext cx="384048" cy="146304"/>
          </a:xfrm>
          <a:prstGeom prst="rect">
            <a:avLst/>
          </a:prstGeom>
          <a:noFill/>
          <a:ln/>
        </p:spPr>
        <p:txBody>
          <a:bodyPr wrap="square" lIns="635" tIns="635" rIns="635" bIns="635" rtlCol="0" anchor="ctr">
            <a:no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32" name="Text 43">
            <a:extLst>
              <a:ext uri="{FF2B5EF4-FFF2-40B4-BE49-F238E27FC236}">
                <a16:creationId xmlns:a16="http://schemas.microsoft.com/office/drawing/2014/main" id="{97B19E01-EBD0-E500-F32A-707DA0C88E6B}"/>
              </a:ext>
            </a:extLst>
          </p:cNvPr>
          <p:cNvSpPr/>
          <p:nvPr/>
        </p:nvSpPr>
        <p:spPr>
          <a:xfrm>
            <a:off x="4846320" y="4791456"/>
            <a:ext cx="2642616" cy="256032"/>
          </a:xfrm>
          <a:prstGeom prst="rect">
            <a:avLst/>
          </a:prstGeom>
          <a:noFill/>
          <a:ln/>
        </p:spPr>
        <p:txBody>
          <a:bodyPr wrap="square" lIns="635" tIns="635" rIns="635" bIns="635" rtlCol="0" anchor="ctr">
            <a:normAutofit/>
          </a:bodyPr>
          <a:lstStyle/>
          <a:p>
            <a:pPr marL="0" indent="0" algn="l">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Thematic subsets</a:t>
            </a:r>
            <a:endParaRPr lang="en-US" sz="1400" dirty="0">
              <a:latin typeface="Segoe UI" panose="020B0502040204020203" pitchFamily="34" charset="0"/>
              <a:cs typeface="Segoe UI" panose="020B0502040204020203" pitchFamily="34" charset="0"/>
            </a:endParaRPr>
          </a:p>
        </p:txBody>
      </p:sp>
      <p:sp>
        <p:nvSpPr>
          <p:cNvPr id="134" name="Text 44">
            <a:extLst>
              <a:ext uri="{FF2B5EF4-FFF2-40B4-BE49-F238E27FC236}">
                <a16:creationId xmlns:a16="http://schemas.microsoft.com/office/drawing/2014/main" id="{60EDC5DC-E2B9-C184-155C-638CB8A5E841}"/>
              </a:ext>
            </a:extLst>
          </p:cNvPr>
          <p:cNvSpPr/>
          <p:nvPr/>
        </p:nvSpPr>
        <p:spPr>
          <a:xfrm>
            <a:off x="4846320" y="5093207"/>
            <a:ext cx="2642616" cy="950975"/>
          </a:xfrm>
          <a:prstGeom prst="rect">
            <a:avLst/>
          </a:prstGeom>
          <a:noFill/>
          <a:ln/>
        </p:spPr>
        <p:txBody>
          <a:bodyPr wrap="square" lIns="635" tIns="635" rIns="635" bIns="635" rtlCol="0" anchor="ctr">
            <a:normAutofit/>
          </a:bodyPr>
          <a:lstStyle/>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Interest rate only</a:t>
            </a:r>
          </a:p>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Macroeconomic only </a:t>
            </a:r>
          </a:p>
          <a:p>
            <a:pPr marL="285750" indent="-285750" algn="l">
              <a:buFont typeface="Arial" panose="020B0604020202020204" pitchFamily="34" charset="0"/>
              <a:buChar char="•"/>
            </a:pPr>
            <a:r>
              <a:rPr lang="en-US" sz="1400" dirty="0">
                <a:solidFill>
                  <a:srgbClr val="111111"/>
                </a:solidFill>
                <a:latin typeface="Segoe UI" panose="020B0502040204020203" pitchFamily="34" charset="0"/>
                <a:cs typeface="Segoe UI" panose="020B0502040204020203" pitchFamily="34" charset="0"/>
              </a:rPr>
              <a:t>Financial market only</a:t>
            </a:r>
            <a:endParaRPr lang="en-US" sz="1400" dirty="0">
              <a:latin typeface="Segoe UI" panose="020B0502040204020203" pitchFamily="34" charset="0"/>
              <a:cs typeface="Segoe UI" panose="020B0502040204020203" pitchFamily="34" charset="0"/>
            </a:endParaRPr>
          </a:p>
        </p:txBody>
      </p:sp>
      <p:sp>
        <p:nvSpPr>
          <p:cNvPr id="136" name="Shape 45">
            <a:extLst>
              <a:ext uri="{FF2B5EF4-FFF2-40B4-BE49-F238E27FC236}">
                <a16:creationId xmlns:a16="http://schemas.microsoft.com/office/drawing/2014/main" id="{EB6EED24-8EEC-BD18-3147-9F9ED032286C}"/>
              </a:ext>
            </a:extLst>
          </p:cNvPr>
          <p:cNvSpPr/>
          <p:nvPr/>
        </p:nvSpPr>
        <p:spPr>
          <a:xfrm>
            <a:off x="7918704" y="4645152"/>
            <a:ext cx="3429000" cy="1374644"/>
          </a:xfrm>
          <a:prstGeom prst="roundRect">
            <a:avLst>
              <a:gd name="adj" fmla="val 5714"/>
            </a:avLst>
          </a:prstGeom>
          <a:solidFill>
            <a:srgbClr val="F4F5F8"/>
          </a:solidFill>
          <a:ln w="10160">
            <a:solidFill>
              <a:srgbClr val="D4D7E0"/>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38" name="Shape 46">
            <a:extLst>
              <a:ext uri="{FF2B5EF4-FFF2-40B4-BE49-F238E27FC236}">
                <a16:creationId xmlns:a16="http://schemas.microsoft.com/office/drawing/2014/main" id="{BAC9FDD8-38F6-63E8-65C2-9D6063DD5BD6}"/>
              </a:ext>
            </a:extLst>
          </p:cNvPr>
          <p:cNvSpPr/>
          <p:nvPr/>
        </p:nvSpPr>
        <p:spPr>
          <a:xfrm>
            <a:off x="8055864" y="4791456"/>
            <a:ext cx="384048" cy="384048"/>
          </a:xfrm>
          <a:prstGeom prst="roundRect">
            <a:avLst>
              <a:gd name="adj" fmla="val 14286"/>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0" name="Text 47">
            <a:extLst>
              <a:ext uri="{FF2B5EF4-FFF2-40B4-BE49-F238E27FC236}">
                <a16:creationId xmlns:a16="http://schemas.microsoft.com/office/drawing/2014/main" id="{3CEA8A69-929C-ADB8-EF00-E4C438DAD1DB}"/>
              </a:ext>
            </a:extLst>
          </p:cNvPr>
          <p:cNvSpPr/>
          <p:nvPr/>
        </p:nvSpPr>
        <p:spPr>
          <a:xfrm>
            <a:off x="8055864" y="4855464"/>
            <a:ext cx="384048" cy="146304"/>
          </a:xfrm>
          <a:prstGeom prst="rect">
            <a:avLst/>
          </a:prstGeom>
          <a:noFill/>
          <a:ln/>
        </p:spPr>
        <p:txBody>
          <a:bodyPr wrap="square" lIns="635" tIns="635" rIns="635" bIns="635" rtlCol="0" anchor="ctr">
            <a:noAutofit/>
          </a:bodyPr>
          <a:lstStyle/>
          <a:p>
            <a:pPr marL="0" indent="0" algn="ctr">
              <a:buNone/>
            </a:pPr>
            <a:r>
              <a:rPr lang="en-US" sz="1400" b="1" dirty="0">
                <a:solidFill>
                  <a:srgbClr val="FFFFFF"/>
                </a:solidFill>
                <a:latin typeface="Segoe UI" panose="020B0502040204020203" pitchFamily="34" charset="0"/>
                <a:ea typeface="Arial" pitchFamily="34" charset="-122"/>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
        <p:nvSpPr>
          <p:cNvPr id="142" name="Text 48">
            <a:extLst>
              <a:ext uri="{FF2B5EF4-FFF2-40B4-BE49-F238E27FC236}">
                <a16:creationId xmlns:a16="http://schemas.microsoft.com/office/drawing/2014/main" id="{4DEAC406-BCED-F827-0116-8E3464408611}"/>
              </a:ext>
            </a:extLst>
          </p:cNvPr>
          <p:cNvSpPr/>
          <p:nvPr/>
        </p:nvSpPr>
        <p:spPr>
          <a:xfrm>
            <a:off x="8540496" y="4791456"/>
            <a:ext cx="2642616" cy="256032"/>
          </a:xfrm>
          <a:prstGeom prst="rect">
            <a:avLst/>
          </a:prstGeom>
          <a:noFill/>
          <a:ln/>
        </p:spPr>
        <p:txBody>
          <a:bodyPr wrap="square" lIns="635" tIns="635" rIns="635" bIns="635" rtlCol="0" anchor="ctr">
            <a:normAutofit/>
          </a:bodyPr>
          <a:lstStyle/>
          <a:p>
            <a:pPr marL="0" indent="0" algn="l">
              <a:buNone/>
            </a:pPr>
            <a:r>
              <a:rPr lang="en-US" sz="1400" b="1" dirty="0">
                <a:solidFill>
                  <a:srgbClr val="0E1886"/>
                </a:solidFill>
                <a:latin typeface="Segoe UI" panose="020B0502040204020203" pitchFamily="34" charset="0"/>
                <a:ea typeface="Arial" pitchFamily="34" charset="-122"/>
                <a:cs typeface="Segoe UI" panose="020B0502040204020203" pitchFamily="34" charset="0"/>
              </a:rPr>
              <a:t>Single-variable tests</a:t>
            </a:r>
            <a:endParaRPr lang="en-US" sz="1400" dirty="0">
              <a:latin typeface="Segoe UI" panose="020B0502040204020203" pitchFamily="34" charset="0"/>
              <a:cs typeface="Segoe UI" panose="020B0502040204020203" pitchFamily="34" charset="0"/>
            </a:endParaRPr>
          </a:p>
        </p:txBody>
      </p:sp>
      <p:sp>
        <p:nvSpPr>
          <p:cNvPr id="144" name="Text 49">
            <a:extLst>
              <a:ext uri="{FF2B5EF4-FFF2-40B4-BE49-F238E27FC236}">
                <a16:creationId xmlns:a16="http://schemas.microsoft.com/office/drawing/2014/main" id="{929D26EF-1482-427B-0A80-F3684F404E10}"/>
              </a:ext>
            </a:extLst>
          </p:cNvPr>
          <p:cNvSpPr/>
          <p:nvPr/>
        </p:nvSpPr>
        <p:spPr>
          <a:xfrm>
            <a:off x="8540496" y="5093208"/>
            <a:ext cx="2801112" cy="832104"/>
          </a:xfrm>
          <a:prstGeom prst="rect">
            <a:avLst/>
          </a:prstGeom>
          <a:noFill/>
          <a:ln/>
        </p:spPr>
        <p:txBody>
          <a:bodyPr wrap="square" lIns="635" tIns="635" rIns="635" bIns="635" rtlCol="0" anchor="ctr">
            <a:noAutofit/>
          </a:bodyPr>
          <a:lstStyle/>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All except DAX</a:t>
            </a:r>
          </a:p>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All except inflation </a:t>
            </a:r>
          </a:p>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Euro-short term rate only </a:t>
            </a:r>
          </a:p>
          <a:p>
            <a:pPr marL="285750" indent="-285750" algn="l">
              <a:buFont typeface="Arial" panose="020B0604020202020204" pitchFamily="34" charset="0"/>
              <a:buChar char="•"/>
            </a:pPr>
            <a:r>
              <a:rPr lang="en-US" sz="1400" dirty="0">
                <a:solidFill>
                  <a:srgbClr val="111111"/>
                </a:solidFill>
                <a:latin typeface="Segoe UI" panose="020B0502040204020203" pitchFamily="34" charset="0"/>
                <a:ea typeface="Arial" pitchFamily="34" charset="-122"/>
                <a:cs typeface="Segoe UI" panose="020B0502040204020203" pitchFamily="34" charset="0"/>
              </a:rPr>
              <a:t>Deposit rate only.</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12</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From baseline models to deep learning</a:t>
            </a:r>
            <a:endParaRPr lang="en-US" sz="2800" dirty="0">
              <a:latin typeface="Segoe UI" panose="020B0502040204020203" pitchFamily="34" charset="0"/>
              <a:cs typeface="Segoe UI" panose="020B0502040204020203" pitchFamily="34" charset="0"/>
            </a:endParaRPr>
          </a:p>
        </p:txBody>
      </p:sp>
      <p:sp>
        <p:nvSpPr>
          <p:cNvPr id="13" name="Shape 10"/>
          <p:cNvSpPr/>
          <p:nvPr/>
        </p:nvSpPr>
        <p:spPr>
          <a:xfrm>
            <a:off x="731520" y="2286000"/>
            <a:ext cx="1554480" cy="960120"/>
          </a:xfrm>
          <a:prstGeom prst="roundRect">
            <a:avLst>
              <a:gd name="adj" fmla="val 7619"/>
            </a:avLst>
          </a:prstGeom>
          <a:solidFill>
            <a:srgbClr val="F0F0F0"/>
          </a:solidFill>
          <a:ln w="7620">
            <a:solidFill>
              <a:srgbClr val="D0D3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Text 11"/>
          <p:cNvSpPr/>
          <p:nvPr/>
        </p:nvSpPr>
        <p:spPr>
          <a:xfrm>
            <a:off x="80467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666666"/>
                </a:solidFill>
                <a:latin typeface="Segoe UI" panose="020B0502040204020203" pitchFamily="34" charset="0"/>
                <a:cs typeface="Segoe UI" panose="020B0502040204020203" pitchFamily="34" charset="0"/>
              </a:rPr>
              <a:t>Naive Hold</a:t>
            </a:r>
            <a:endParaRPr lang="en-US" sz="1400" dirty="0">
              <a:latin typeface="Segoe UI" panose="020B0502040204020203" pitchFamily="34" charset="0"/>
              <a:cs typeface="Segoe UI" panose="020B0502040204020203" pitchFamily="34" charset="0"/>
            </a:endParaRPr>
          </a:p>
        </p:txBody>
      </p:sp>
      <p:sp>
        <p:nvSpPr>
          <p:cNvPr id="15" name="Text 12"/>
          <p:cNvSpPr/>
          <p:nvPr/>
        </p:nvSpPr>
        <p:spPr>
          <a:xfrm>
            <a:off x="84124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constant level</a:t>
            </a:r>
            <a:endParaRPr lang="en-US" sz="1400" dirty="0">
              <a:latin typeface="Segoe UI" panose="020B0502040204020203" pitchFamily="34" charset="0"/>
              <a:cs typeface="Segoe UI" panose="020B0502040204020203" pitchFamily="34" charset="0"/>
            </a:endParaRPr>
          </a:p>
        </p:txBody>
      </p:sp>
      <p:sp>
        <p:nvSpPr>
          <p:cNvPr id="16" name="Shape 13"/>
          <p:cNvSpPr/>
          <p:nvPr/>
        </p:nvSpPr>
        <p:spPr>
          <a:xfrm>
            <a:off x="2606040" y="2286000"/>
            <a:ext cx="1554480" cy="960120"/>
          </a:xfrm>
          <a:prstGeom prst="roundRect">
            <a:avLst>
              <a:gd name="adj" fmla="val 7619"/>
            </a:avLst>
          </a:prstGeom>
          <a:solidFill>
            <a:srgbClr val="F0F0F0"/>
          </a:solidFill>
          <a:ln w="7620">
            <a:solidFill>
              <a:srgbClr val="D0D3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7" name="Text 14"/>
          <p:cNvSpPr/>
          <p:nvPr/>
        </p:nvSpPr>
        <p:spPr>
          <a:xfrm>
            <a:off x="267919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666666"/>
                </a:solidFill>
                <a:latin typeface="Segoe UI" panose="020B0502040204020203" pitchFamily="34" charset="0"/>
                <a:cs typeface="Segoe UI" panose="020B0502040204020203" pitchFamily="34" charset="0"/>
              </a:rPr>
              <a:t>Naive RW</a:t>
            </a:r>
            <a:endParaRPr lang="en-US" sz="1400" dirty="0">
              <a:latin typeface="Segoe UI" panose="020B0502040204020203" pitchFamily="34" charset="0"/>
              <a:cs typeface="Segoe UI" panose="020B0502040204020203" pitchFamily="34" charset="0"/>
            </a:endParaRPr>
          </a:p>
        </p:txBody>
      </p:sp>
      <p:sp>
        <p:nvSpPr>
          <p:cNvPr id="18" name="Text 15"/>
          <p:cNvSpPr/>
          <p:nvPr/>
        </p:nvSpPr>
        <p:spPr>
          <a:xfrm>
            <a:off x="271576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last change continues</a:t>
            </a:r>
            <a:endParaRPr lang="en-US" sz="1400" dirty="0">
              <a:latin typeface="Segoe UI" panose="020B0502040204020203" pitchFamily="34" charset="0"/>
              <a:cs typeface="Segoe UI" panose="020B0502040204020203" pitchFamily="34" charset="0"/>
            </a:endParaRPr>
          </a:p>
        </p:txBody>
      </p:sp>
      <p:sp>
        <p:nvSpPr>
          <p:cNvPr id="19" name="Shape 16"/>
          <p:cNvSpPr/>
          <p:nvPr/>
        </p:nvSpPr>
        <p:spPr>
          <a:xfrm>
            <a:off x="4480560" y="2286000"/>
            <a:ext cx="1554480" cy="960120"/>
          </a:xfrm>
          <a:prstGeom prst="roundRect">
            <a:avLst>
              <a:gd name="adj" fmla="val 7619"/>
            </a:avLst>
          </a:prstGeom>
          <a:solidFill>
            <a:srgbClr val="E8ECFF"/>
          </a:solidFill>
          <a:ln w="7620">
            <a:solidFill>
              <a:srgbClr val="D0D3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0" name="Text 17"/>
          <p:cNvSpPr/>
          <p:nvPr/>
        </p:nvSpPr>
        <p:spPr>
          <a:xfrm>
            <a:off x="455371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Ridge</a:t>
            </a:r>
            <a:endParaRPr lang="en-US" sz="1400" dirty="0">
              <a:latin typeface="Segoe UI" panose="020B0502040204020203" pitchFamily="34" charset="0"/>
              <a:cs typeface="Segoe UI" panose="020B0502040204020203" pitchFamily="34" charset="0"/>
            </a:endParaRPr>
          </a:p>
        </p:txBody>
      </p:sp>
      <p:sp>
        <p:nvSpPr>
          <p:cNvPr id="21" name="Text 18"/>
          <p:cNvSpPr/>
          <p:nvPr/>
        </p:nvSpPr>
        <p:spPr>
          <a:xfrm>
            <a:off x="459028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linear + L2 shrinkage</a:t>
            </a:r>
            <a:endParaRPr lang="en-US" sz="1400" dirty="0">
              <a:latin typeface="Segoe UI" panose="020B0502040204020203" pitchFamily="34" charset="0"/>
              <a:cs typeface="Segoe UI" panose="020B0502040204020203" pitchFamily="34" charset="0"/>
            </a:endParaRPr>
          </a:p>
        </p:txBody>
      </p:sp>
      <p:sp>
        <p:nvSpPr>
          <p:cNvPr id="22" name="Shape 19"/>
          <p:cNvSpPr/>
          <p:nvPr/>
        </p:nvSpPr>
        <p:spPr>
          <a:xfrm>
            <a:off x="6355080" y="2286000"/>
            <a:ext cx="1554480" cy="960120"/>
          </a:xfrm>
          <a:prstGeom prst="roundRect">
            <a:avLst>
              <a:gd name="adj" fmla="val 7619"/>
            </a:avLst>
          </a:prstGeom>
          <a:solidFill>
            <a:srgbClr val="FFF0D8"/>
          </a:solidFill>
          <a:ln w="7620">
            <a:solidFill>
              <a:srgbClr val="D0D3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3" name="Text 20"/>
          <p:cNvSpPr/>
          <p:nvPr/>
        </p:nvSpPr>
        <p:spPr>
          <a:xfrm>
            <a:off x="642823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XGBoost</a:t>
            </a:r>
            <a:endParaRPr lang="en-US" sz="1400" dirty="0">
              <a:latin typeface="Segoe UI" panose="020B0502040204020203" pitchFamily="34" charset="0"/>
              <a:cs typeface="Segoe UI" panose="020B0502040204020203" pitchFamily="34" charset="0"/>
            </a:endParaRPr>
          </a:p>
        </p:txBody>
      </p:sp>
      <p:sp>
        <p:nvSpPr>
          <p:cNvPr id="24" name="Text 21"/>
          <p:cNvSpPr/>
          <p:nvPr/>
        </p:nvSpPr>
        <p:spPr>
          <a:xfrm>
            <a:off x="646480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nonlinear trees</a:t>
            </a:r>
            <a:endParaRPr lang="en-US" sz="1400" dirty="0">
              <a:latin typeface="Segoe UI" panose="020B0502040204020203" pitchFamily="34" charset="0"/>
              <a:cs typeface="Segoe UI" panose="020B0502040204020203" pitchFamily="34" charset="0"/>
            </a:endParaRPr>
          </a:p>
        </p:txBody>
      </p:sp>
      <p:sp>
        <p:nvSpPr>
          <p:cNvPr id="25" name="Shape 22"/>
          <p:cNvSpPr/>
          <p:nvPr/>
        </p:nvSpPr>
        <p:spPr>
          <a:xfrm>
            <a:off x="8229600" y="2286000"/>
            <a:ext cx="1554480" cy="960120"/>
          </a:xfrm>
          <a:prstGeom prst="roundRect">
            <a:avLst>
              <a:gd name="adj" fmla="val 7619"/>
            </a:avLst>
          </a:prstGeom>
          <a:solidFill>
            <a:srgbClr val="EAF3FF"/>
          </a:solidFill>
          <a:ln w="7620">
            <a:solidFill>
              <a:srgbClr val="D0D3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6" name="Text 23"/>
          <p:cNvSpPr/>
          <p:nvPr/>
        </p:nvSpPr>
        <p:spPr>
          <a:xfrm>
            <a:off x="830275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FFN</a:t>
            </a:r>
            <a:endParaRPr lang="en-US" sz="1400" dirty="0">
              <a:latin typeface="Segoe UI" panose="020B0502040204020203" pitchFamily="34" charset="0"/>
              <a:cs typeface="Segoe UI" panose="020B0502040204020203" pitchFamily="34" charset="0"/>
            </a:endParaRPr>
          </a:p>
        </p:txBody>
      </p:sp>
      <p:sp>
        <p:nvSpPr>
          <p:cNvPr id="27" name="Text 24"/>
          <p:cNvSpPr/>
          <p:nvPr/>
        </p:nvSpPr>
        <p:spPr>
          <a:xfrm>
            <a:off x="833932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feedforward neural net</a:t>
            </a:r>
            <a:endParaRPr lang="en-US" sz="1400" dirty="0">
              <a:latin typeface="Segoe UI" panose="020B0502040204020203" pitchFamily="34" charset="0"/>
              <a:cs typeface="Segoe UI" panose="020B0502040204020203" pitchFamily="34" charset="0"/>
            </a:endParaRPr>
          </a:p>
        </p:txBody>
      </p:sp>
      <p:sp>
        <p:nvSpPr>
          <p:cNvPr id="28" name="Shape 25"/>
          <p:cNvSpPr/>
          <p:nvPr/>
        </p:nvSpPr>
        <p:spPr>
          <a:xfrm>
            <a:off x="10104120" y="2286000"/>
            <a:ext cx="1554480" cy="960120"/>
          </a:xfrm>
          <a:prstGeom prst="roundRect">
            <a:avLst>
              <a:gd name="adj" fmla="val 7619"/>
            </a:avLst>
          </a:prstGeom>
          <a:solidFill>
            <a:srgbClr val="EAF3FF"/>
          </a:solidFill>
          <a:ln w="7620">
            <a:solidFill>
              <a:srgbClr val="D0D3DE"/>
            </a:solidFill>
            <a:prstDash val="solid"/>
          </a:ln>
        </p:spPr>
        <p:txBody>
          <a:bodyPr/>
          <a:lstStyle/>
          <a:p>
            <a:endParaRPr lang="es-MX" sz="1400" dirty="0">
              <a:latin typeface="Segoe UI" panose="020B0502040204020203" pitchFamily="34" charset="0"/>
              <a:cs typeface="Segoe UI" panose="020B0502040204020203" pitchFamily="34" charset="0"/>
            </a:endParaRPr>
          </a:p>
        </p:txBody>
      </p:sp>
      <p:sp>
        <p:nvSpPr>
          <p:cNvPr id="29" name="Text 26"/>
          <p:cNvSpPr/>
          <p:nvPr/>
        </p:nvSpPr>
        <p:spPr>
          <a:xfrm>
            <a:off x="10177272" y="2542032"/>
            <a:ext cx="1408176" cy="164592"/>
          </a:xfrm>
          <a:prstGeom prst="rect">
            <a:avLst/>
          </a:prstGeom>
          <a:noFill/>
          <a:ln/>
        </p:spPr>
        <p:txBody>
          <a:bodyPr wrap="square" lIns="0" tIns="0" rIns="0" bIns="0"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TFT</a:t>
            </a:r>
            <a:endParaRPr lang="en-US" sz="1400" dirty="0">
              <a:latin typeface="Segoe UI" panose="020B0502040204020203" pitchFamily="34" charset="0"/>
              <a:cs typeface="Segoe UI" panose="020B0502040204020203" pitchFamily="34" charset="0"/>
            </a:endParaRPr>
          </a:p>
        </p:txBody>
      </p:sp>
      <p:sp>
        <p:nvSpPr>
          <p:cNvPr id="30" name="Text 27"/>
          <p:cNvSpPr/>
          <p:nvPr/>
        </p:nvSpPr>
        <p:spPr>
          <a:xfrm>
            <a:off x="10213848" y="2852928"/>
            <a:ext cx="1335024" cy="164592"/>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multi-horizon transformer</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13</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Evaluation: expanding-window rolling origins</a:t>
            </a:r>
            <a:endParaRPr lang="en-US" sz="2800" dirty="0">
              <a:latin typeface="Segoe UI" panose="020B0502040204020203" pitchFamily="34" charset="0"/>
              <a:cs typeface="Segoe UI" panose="020B0502040204020203" pitchFamily="34" charset="0"/>
            </a:endParaRPr>
          </a:p>
        </p:txBody>
      </p:sp>
      <p:sp>
        <p:nvSpPr>
          <p:cNvPr id="13" name="Shape 10"/>
          <p:cNvSpPr/>
          <p:nvPr/>
        </p:nvSpPr>
        <p:spPr>
          <a:xfrm>
            <a:off x="868680" y="2057400"/>
            <a:ext cx="2148840" cy="960120"/>
          </a:xfrm>
          <a:prstGeom prst="roundRect">
            <a:avLst>
              <a:gd name="adj" fmla="val 5714"/>
            </a:avLst>
          </a:prstGeom>
          <a:solidFill>
            <a:srgbClr val="FFF0F0"/>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Text 11"/>
          <p:cNvSpPr/>
          <p:nvPr/>
        </p:nvSpPr>
        <p:spPr>
          <a:xfrm>
            <a:off x="9784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2009-01-01</a:t>
            </a:r>
            <a:endParaRPr lang="en-US" sz="1400" dirty="0">
              <a:latin typeface="Segoe UI" panose="020B0502040204020203" pitchFamily="34" charset="0"/>
              <a:cs typeface="Segoe UI" panose="020B0502040204020203" pitchFamily="34" charset="0"/>
            </a:endParaRPr>
          </a:p>
        </p:txBody>
      </p:sp>
      <p:sp>
        <p:nvSpPr>
          <p:cNvPr id="15" name="Text 12"/>
          <p:cNvSpPr/>
          <p:nvPr/>
        </p:nvSpPr>
        <p:spPr>
          <a:xfrm>
            <a:off x="9784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Financial Crisis</a:t>
            </a:r>
            <a:endParaRPr lang="en-US" sz="1400" dirty="0">
              <a:latin typeface="Segoe UI" panose="020B0502040204020203" pitchFamily="34" charset="0"/>
              <a:cs typeface="Segoe UI" panose="020B0502040204020203" pitchFamily="34" charset="0"/>
            </a:endParaRPr>
          </a:p>
        </p:txBody>
      </p:sp>
      <p:sp>
        <p:nvSpPr>
          <p:cNvPr id="16" name="Shape 13"/>
          <p:cNvSpPr/>
          <p:nvPr/>
        </p:nvSpPr>
        <p:spPr>
          <a:xfrm>
            <a:off x="19385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7" name="Text 14"/>
          <p:cNvSpPr/>
          <p:nvPr/>
        </p:nvSpPr>
        <p:spPr>
          <a:xfrm>
            <a:off x="12344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18" name="Shape 15"/>
          <p:cNvSpPr/>
          <p:nvPr/>
        </p:nvSpPr>
        <p:spPr>
          <a:xfrm>
            <a:off x="3611880" y="2057400"/>
            <a:ext cx="2148840" cy="960120"/>
          </a:xfrm>
          <a:prstGeom prst="roundRect">
            <a:avLst>
              <a:gd name="adj" fmla="val 5714"/>
            </a:avLst>
          </a:prstGeom>
          <a:solidFill>
            <a:srgbClr val="EEF8FF"/>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9" name="Text 16"/>
          <p:cNvSpPr/>
          <p:nvPr/>
        </p:nvSpPr>
        <p:spPr>
          <a:xfrm>
            <a:off x="37216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2013-01-01</a:t>
            </a:r>
            <a:endParaRPr lang="en-US" sz="1400" dirty="0">
              <a:latin typeface="Segoe UI" panose="020B0502040204020203" pitchFamily="34" charset="0"/>
              <a:cs typeface="Segoe UI" panose="020B0502040204020203" pitchFamily="34" charset="0"/>
            </a:endParaRPr>
          </a:p>
        </p:txBody>
      </p:sp>
      <p:sp>
        <p:nvSpPr>
          <p:cNvPr id="20" name="Text 17"/>
          <p:cNvSpPr/>
          <p:nvPr/>
        </p:nvSpPr>
        <p:spPr>
          <a:xfrm>
            <a:off x="37216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Low Interest</a:t>
            </a:r>
            <a:endParaRPr lang="en-US" sz="1400" dirty="0">
              <a:latin typeface="Segoe UI" panose="020B0502040204020203" pitchFamily="34" charset="0"/>
              <a:cs typeface="Segoe UI" panose="020B0502040204020203" pitchFamily="34" charset="0"/>
            </a:endParaRPr>
          </a:p>
        </p:txBody>
      </p:sp>
      <p:sp>
        <p:nvSpPr>
          <p:cNvPr id="21" name="Shape 18"/>
          <p:cNvSpPr/>
          <p:nvPr/>
        </p:nvSpPr>
        <p:spPr>
          <a:xfrm>
            <a:off x="46817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2" name="Text 19"/>
          <p:cNvSpPr/>
          <p:nvPr/>
        </p:nvSpPr>
        <p:spPr>
          <a:xfrm>
            <a:off x="39776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23" name="Shape 20"/>
          <p:cNvSpPr/>
          <p:nvPr/>
        </p:nvSpPr>
        <p:spPr>
          <a:xfrm>
            <a:off x="6355080" y="2057400"/>
            <a:ext cx="2148840" cy="960120"/>
          </a:xfrm>
          <a:prstGeom prst="roundRect">
            <a:avLst>
              <a:gd name="adj" fmla="val 5714"/>
            </a:avLst>
          </a:prstGeom>
          <a:solidFill>
            <a:srgbClr val="F2F3F7"/>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4" name="Text 21"/>
          <p:cNvSpPr/>
          <p:nvPr/>
        </p:nvSpPr>
        <p:spPr>
          <a:xfrm>
            <a:off x="64648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2019-03-01</a:t>
            </a:r>
            <a:endParaRPr lang="en-US" sz="1400" dirty="0">
              <a:latin typeface="Segoe UI" panose="020B0502040204020203" pitchFamily="34" charset="0"/>
              <a:cs typeface="Segoe UI" panose="020B0502040204020203" pitchFamily="34" charset="0"/>
            </a:endParaRPr>
          </a:p>
        </p:txBody>
      </p:sp>
      <p:sp>
        <p:nvSpPr>
          <p:cNvPr id="25" name="Text 22"/>
          <p:cNvSpPr/>
          <p:nvPr/>
        </p:nvSpPr>
        <p:spPr>
          <a:xfrm>
            <a:off x="64648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Pre-COVID</a:t>
            </a:r>
            <a:endParaRPr lang="en-US" sz="1400" dirty="0">
              <a:latin typeface="Segoe UI" panose="020B0502040204020203" pitchFamily="34" charset="0"/>
              <a:cs typeface="Segoe UI" panose="020B0502040204020203" pitchFamily="34" charset="0"/>
            </a:endParaRPr>
          </a:p>
        </p:txBody>
      </p:sp>
      <p:sp>
        <p:nvSpPr>
          <p:cNvPr id="26" name="Shape 23"/>
          <p:cNvSpPr/>
          <p:nvPr/>
        </p:nvSpPr>
        <p:spPr>
          <a:xfrm>
            <a:off x="74249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7" name="Text 24"/>
          <p:cNvSpPr/>
          <p:nvPr/>
        </p:nvSpPr>
        <p:spPr>
          <a:xfrm>
            <a:off x="67208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28" name="Shape 25"/>
          <p:cNvSpPr/>
          <p:nvPr/>
        </p:nvSpPr>
        <p:spPr>
          <a:xfrm>
            <a:off x="9098280" y="2057400"/>
            <a:ext cx="2148840" cy="960120"/>
          </a:xfrm>
          <a:prstGeom prst="roundRect">
            <a:avLst>
              <a:gd name="adj" fmla="val 5714"/>
            </a:avLst>
          </a:prstGeom>
          <a:solidFill>
            <a:srgbClr val="FFF2E5"/>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9" name="Text 26"/>
          <p:cNvSpPr/>
          <p:nvPr/>
        </p:nvSpPr>
        <p:spPr>
          <a:xfrm>
            <a:off x="92080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2025-06-01</a:t>
            </a:r>
            <a:endParaRPr lang="en-US" sz="1400" dirty="0">
              <a:latin typeface="Segoe UI" panose="020B0502040204020203" pitchFamily="34" charset="0"/>
              <a:cs typeface="Segoe UI" panose="020B0502040204020203" pitchFamily="34" charset="0"/>
            </a:endParaRPr>
          </a:p>
        </p:txBody>
      </p:sp>
      <p:sp>
        <p:nvSpPr>
          <p:cNvPr id="30" name="Text 27"/>
          <p:cNvSpPr/>
          <p:nvPr/>
        </p:nvSpPr>
        <p:spPr>
          <a:xfrm>
            <a:off x="92080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High Interest</a:t>
            </a:r>
            <a:endParaRPr lang="en-US" sz="1400" dirty="0">
              <a:latin typeface="Segoe UI" panose="020B0502040204020203" pitchFamily="34" charset="0"/>
              <a:cs typeface="Segoe UI" panose="020B0502040204020203" pitchFamily="34" charset="0"/>
            </a:endParaRPr>
          </a:p>
        </p:txBody>
      </p:sp>
      <p:sp>
        <p:nvSpPr>
          <p:cNvPr id="31" name="Shape 28"/>
          <p:cNvSpPr/>
          <p:nvPr/>
        </p:nvSpPr>
        <p:spPr>
          <a:xfrm>
            <a:off x="101681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32" name="Text 29"/>
          <p:cNvSpPr/>
          <p:nvPr/>
        </p:nvSpPr>
        <p:spPr>
          <a:xfrm>
            <a:off x="94640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881CA-0FCC-3C88-5EE9-1266D472B2C3}"/>
            </a:ext>
          </a:extLst>
        </p:cNvPr>
        <p:cNvGrpSpPr/>
        <p:nvPr/>
      </p:nvGrpSpPr>
      <p:grpSpPr>
        <a:xfrm>
          <a:off x="0" y="0"/>
          <a:ext cx="0" cy="0"/>
          <a:chOff x="0" y="0"/>
          <a:chExt cx="0" cy="0"/>
        </a:xfrm>
      </p:grpSpPr>
      <p:pic>
        <p:nvPicPr>
          <p:cNvPr id="2" name="Image 0" descr="/mnt/data/nmd_assets/ai_blue_header.png">
            <a:extLst>
              <a:ext uri="{FF2B5EF4-FFF2-40B4-BE49-F238E27FC236}">
                <a16:creationId xmlns:a16="http://schemas.microsoft.com/office/drawing/2014/main" id="{F5EF6648-7AF9-0223-3AC5-6BFE0AFBCB6A}"/>
              </a:ext>
            </a:extLst>
          </p:cNvPr>
          <p:cNvPicPr>
            <a:picLocks noChangeAspect="1"/>
          </p:cNvPicPr>
          <p:nvPr/>
        </p:nvPicPr>
        <p:blipFill>
          <a:blip r:embed="rId3"/>
          <a:stretch>
            <a:fillRect/>
          </a:stretch>
        </p:blipFill>
        <p:spPr>
          <a:xfrm>
            <a:off x="411480" y="146304"/>
            <a:ext cx="1874520" cy="649224"/>
          </a:xfrm>
          <a:prstGeom prst="rect">
            <a:avLst/>
          </a:prstGeom>
        </p:spPr>
      </p:pic>
      <p:sp>
        <p:nvSpPr>
          <p:cNvPr id="8" name="Shape 5">
            <a:extLst>
              <a:ext uri="{FF2B5EF4-FFF2-40B4-BE49-F238E27FC236}">
                <a16:creationId xmlns:a16="http://schemas.microsoft.com/office/drawing/2014/main" id="{69A863EF-5075-A330-D862-3BD9934B3278}"/>
              </a:ext>
            </a:extLst>
          </p:cNvPr>
          <p:cNvSpPr/>
          <p:nvPr/>
        </p:nvSpPr>
        <p:spPr>
          <a:xfrm>
            <a:off x="411480" y="6483096"/>
            <a:ext cx="11247120" cy="0"/>
          </a:xfrm>
          <a:prstGeom prst="line">
            <a:avLst/>
          </a:prstGeom>
          <a:noFill/>
          <a:ln w="8890">
            <a:solidFill>
              <a:srgbClr val="A6A6A6"/>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9" name="Text 6">
            <a:extLst>
              <a:ext uri="{FF2B5EF4-FFF2-40B4-BE49-F238E27FC236}">
                <a16:creationId xmlns:a16="http://schemas.microsoft.com/office/drawing/2014/main" id="{13B4EC4A-0B6C-83D6-A025-2F2E0B65390C}"/>
              </a:ext>
            </a:extLst>
          </p:cNvPr>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a:extLst>
              <a:ext uri="{FF2B5EF4-FFF2-40B4-BE49-F238E27FC236}">
                <a16:creationId xmlns:a16="http://schemas.microsoft.com/office/drawing/2014/main" id="{BE21174D-4943-9F38-08D3-E0D1A4BF2380}"/>
              </a:ext>
            </a:extLst>
          </p:cNvPr>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13</a:t>
            </a:r>
            <a:endParaRPr lang="en-US" sz="650" dirty="0"/>
          </a:p>
        </p:txBody>
      </p:sp>
      <p:sp>
        <p:nvSpPr>
          <p:cNvPr id="11" name="Text 8">
            <a:extLst>
              <a:ext uri="{FF2B5EF4-FFF2-40B4-BE49-F238E27FC236}">
                <a16:creationId xmlns:a16="http://schemas.microsoft.com/office/drawing/2014/main" id="{673A8282-2D06-299F-B11C-60A1E255A30C}"/>
              </a:ext>
            </a:extLst>
          </p:cNvPr>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Evaluation: plots</a:t>
            </a:r>
          </a:p>
          <a:p>
            <a:pPr marL="0" indent="0">
              <a:buNone/>
            </a:pPr>
            <a:endParaRPr lang="en-US" sz="2800" dirty="0">
              <a:latin typeface="Segoe UI" panose="020B0502040204020203" pitchFamily="34" charset="0"/>
              <a:cs typeface="Segoe UI" panose="020B0502040204020203" pitchFamily="34" charset="0"/>
            </a:endParaRPr>
          </a:p>
        </p:txBody>
      </p:sp>
      <p:sp>
        <p:nvSpPr>
          <p:cNvPr id="13" name="Shape 10">
            <a:extLst>
              <a:ext uri="{FF2B5EF4-FFF2-40B4-BE49-F238E27FC236}">
                <a16:creationId xmlns:a16="http://schemas.microsoft.com/office/drawing/2014/main" id="{285E9231-1FAC-D37F-584B-FD5AEE28C13C}"/>
              </a:ext>
            </a:extLst>
          </p:cNvPr>
          <p:cNvSpPr/>
          <p:nvPr/>
        </p:nvSpPr>
        <p:spPr>
          <a:xfrm>
            <a:off x="868680" y="2057400"/>
            <a:ext cx="2148840" cy="960120"/>
          </a:xfrm>
          <a:prstGeom prst="roundRect">
            <a:avLst>
              <a:gd name="adj" fmla="val 5714"/>
            </a:avLst>
          </a:prstGeom>
          <a:solidFill>
            <a:srgbClr val="FFF0F0"/>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Text 11">
            <a:extLst>
              <a:ext uri="{FF2B5EF4-FFF2-40B4-BE49-F238E27FC236}">
                <a16:creationId xmlns:a16="http://schemas.microsoft.com/office/drawing/2014/main" id="{3BF56B05-4393-6F96-E726-09915D38E637}"/>
              </a:ext>
            </a:extLst>
          </p:cNvPr>
          <p:cNvSpPr/>
          <p:nvPr/>
        </p:nvSpPr>
        <p:spPr>
          <a:xfrm>
            <a:off x="9784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2009-01-01</a:t>
            </a:r>
            <a:endParaRPr lang="en-US" sz="1400" dirty="0">
              <a:latin typeface="Segoe UI" panose="020B0502040204020203" pitchFamily="34" charset="0"/>
              <a:cs typeface="Segoe UI" panose="020B0502040204020203" pitchFamily="34" charset="0"/>
            </a:endParaRPr>
          </a:p>
        </p:txBody>
      </p:sp>
      <p:sp>
        <p:nvSpPr>
          <p:cNvPr id="15" name="Text 12">
            <a:extLst>
              <a:ext uri="{FF2B5EF4-FFF2-40B4-BE49-F238E27FC236}">
                <a16:creationId xmlns:a16="http://schemas.microsoft.com/office/drawing/2014/main" id="{27B72C28-DD17-25FA-DA84-5039D958241B}"/>
              </a:ext>
            </a:extLst>
          </p:cNvPr>
          <p:cNvSpPr/>
          <p:nvPr/>
        </p:nvSpPr>
        <p:spPr>
          <a:xfrm>
            <a:off x="9784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Financial Crisis</a:t>
            </a:r>
            <a:endParaRPr lang="en-US" sz="1400" dirty="0">
              <a:latin typeface="Segoe UI" panose="020B0502040204020203" pitchFamily="34" charset="0"/>
              <a:cs typeface="Segoe UI" panose="020B0502040204020203" pitchFamily="34" charset="0"/>
            </a:endParaRPr>
          </a:p>
        </p:txBody>
      </p:sp>
      <p:sp>
        <p:nvSpPr>
          <p:cNvPr id="16" name="Shape 13">
            <a:extLst>
              <a:ext uri="{FF2B5EF4-FFF2-40B4-BE49-F238E27FC236}">
                <a16:creationId xmlns:a16="http://schemas.microsoft.com/office/drawing/2014/main" id="{7532C43E-D8D5-7CBC-69B1-88EE2978CF71}"/>
              </a:ext>
            </a:extLst>
          </p:cNvPr>
          <p:cNvSpPr/>
          <p:nvPr/>
        </p:nvSpPr>
        <p:spPr>
          <a:xfrm>
            <a:off x="19385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7" name="Text 14">
            <a:extLst>
              <a:ext uri="{FF2B5EF4-FFF2-40B4-BE49-F238E27FC236}">
                <a16:creationId xmlns:a16="http://schemas.microsoft.com/office/drawing/2014/main" id="{C92B0702-DF0C-6D03-901D-BF5B91955F34}"/>
              </a:ext>
            </a:extLst>
          </p:cNvPr>
          <p:cNvSpPr/>
          <p:nvPr/>
        </p:nvSpPr>
        <p:spPr>
          <a:xfrm>
            <a:off x="12344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18" name="Shape 15">
            <a:extLst>
              <a:ext uri="{FF2B5EF4-FFF2-40B4-BE49-F238E27FC236}">
                <a16:creationId xmlns:a16="http://schemas.microsoft.com/office/drawing/2014/main" id="{CCA68EDB-0F0F-9074-2248-DCC251B6957F}"/>
              </a:ext>
            </a:extLst>
          </p:cNvPr>
          <p:cNvSpPr/>
          <p:nvPr/>
        </p:nvSpPr>
        <p:spPr>
          <a:xfrm>
            <a:off x="3611880" y="2057400"/>
            <a:ext cx="2148840" cy="960120"/>
          </a:xfrm>
          <a:prstGeom prst="roundRect">
            <a:avLst>
              <a:gd name="adj" fmla="val 5714"/>
            </a:avLst>
          </a:prstGeom>
          <a:solidFill>
            <a:srgbClr val="EEF8FF"/>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9" name="Text 16">
            <a:extLst>
              <a:ext uri="{FF2B5EF4-FFF2-40B4-BE49-F238E27FC236}">
                <a16:creationId xmlns:a16="http://schemas.microsoft.com/office/drawing/2014/main" id="{8C253824-9C31-2CF9-F6A1-90863A4F40C1}"/>
              </a:ext>
            </a:extLst>
          </p:cNvPr>
          <p:cNvSpPr/>
          <p:nvPr/>
        </p:nvSpPr>
        <p:spPr>
          <a:xfrm>
            <a:off x="37216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2013-01-01</a:t>
            </a:r>
            <a:endParaRPr lang="en-US" sz="1400" dirty="0">
              <a:latin typeface="Segoe UI" panose="020B0502040204020203" pitchFamily="34" charset="0"/>
              <a:cs typeface="Segoe UI" panose="020B0502040204020203" pitchFamily="34" charset="0"/>
            </a:endParaRPr>
          </a:p>
        </p:txBody>
      </p:sp>
      <p:sp>
        <p:nvSpPr>
          <p:cNvPr id="20" name="Text 17">
            <a:extLst>
              <a:ext uri="{FF2B5EF4-FFF2-40B4-BE49-F238E27FC236}">
                <a16:creationId xmlns:a16="http://schemas.microsoft.com/office/drawing/2014/main" id="{E668A1C0-0971-E310-91E6-5B33427A8277}"/>
              </a:ext>
            </a:extLst>
          </p:cNvPr>
          <p:cNvSpPr/>
          <p:nvPr/>
        </p:nvSpPr>
        <p:spPr>
          <a:xfrm>
            <a:off x="37216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Low Interest</a:t>
            </a:r>
            <a:endParaRPr lang="en-US" sz="1400" dirty="0">
              <a:latin typeface="Segoe UI" panose="020B0502040204020203" pitchFamily="34" charset="0"/>
              <a:cs typeface="Segoe UI" panose="020B0502040204020203" pitchFamily="34" charset="0"/>
            </a:endParaRPr>
          </a:p>
        </p:txBody>
      </p:sp>
      <p:sp>
        <p:nvSpPr>
          <p:cNvPr id="21" name="Shape 18">
            <a:extLst>
              <a:ext uri="{FF2B5EF4-FFF2-40B4-BE49-F238E27FC236}">
                <a16:creationId xmlns:a16="http://schemas.microsoft.com/office/drawing/2014/main" id="{D6CBB03B-803F-925E-162F-E289758E42DA}"/>
              </a:ext>
            </a:extLst>
          </p:cNvPr>
          <p:cNvSpPr/>
          <p:nvPr/>
        </p:nvSpPr>
        <p:spPr>
          <a:xfrm>
            <a:off x="46817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2" name="Text 19">
            <a:extLst>
              <a:ext uri="{FF2B5EF4-FFF2-40B4-BE49-F238E27FC236}">
                <a16:creationId xmlns:a16="http://schemas.microsoft.com/office/drawing/2014/main" id="{90E20BC4-66AE-4E43-4C5B-E97173A0A3C1}"/>
              </a:ext>
            </a:extLst>
          </p:cNvPr>
          <p:cNvSpPr/>
          <p:nvPr/>
        </p:nvSpPr>
        <p:spPr>
          <a:xfrm>
            <a:off x="39776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23" name="Shape 20">
            <a:extLst>
              <a:ext uri="{FF2B5EF4-FFF2-40B4-BE49-F238E27FC236}">
                <a16:creationId xmlns:a16="http://schemas.microsoft.com/office/drawing/2014/main" id="{BE64AE78-A248-F64E-A382-5F84BFFFECE7}"/>
              </a:ext>
            </a:extLst>
          </p:cNvPr>
          <p:cNvSpPr/>
          <p:nvPr/>
        </p:nvSpPr>
        <p:spPr>
          <a:xfrm>
            <a:off x="6355080" y="2057400"/>
            <a:ext cx="2148840" cy="960120"/>
          </a:xfrm>
          <a:prstGeom prst="roundRect">
            <a:avLst>
              <a:gd name="adj" fmla="val 5714"/>
            </a:avLst>
          </a:prstGeom>
          <a:solidFill>
            <a:srgbClr val="F2F3F7"/>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4" name="Text 21">
            <a:extLst>
              <a:ext uri="{FF2B5EF4-FFF2-40B4-BE49-F238E27FC236}">
                <a16:creationId xmlns:a16="http://schemas.microsoft.com/office/drawing/2014/main" id="{24594170-12E0-9508-BDC6-411481C579B4}"/>
              </a:ext>
            </a:extLst>
          </p:cNvPr>
          <p:cNvSpPr/>
          <p:nvPr/>
        </p:nvSpPr>
        <p:spPr>
          <a:xfrm>
            <a:off x="64648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2019-03-01</a:t>
            </a:r>
            <a:endParaRPr lang="en-US" sz="1400" dirty="0">
              <a:latin typeface="Segoe UI" panose="020B0502040204020203" pitchFamily="34" charset="0"/>
              <a:cs typeface="Segoe UI" panose="020B0502040204020203" pitchFamily="34" charset="0"/>
            </a:endParaRPr>
          </a:p>
        </p:txBody>
      </p:sp>
      <p:sp>
        <p:nvSpPr>
          <p:cNvPr id="25" name="Text 22">
            <a:extLst>
              <a:ext uri="{FF2B5EF4-FFF2-40B4-BE49-F238E27FC236}">
                <a16:creationId xmlns:a16="http://schemas.microsoft.com/office/drawing/2014/main" id="{9B666D12-E532-80DB-13A4-96C477517FF3}"/>
              </a:ext>
            </a:extLst>
          </p:cNvPr>
          <p:cNvSpPr/>
          <p:nvPr/>
        </p:nvSpPr>
        <p:spPr>
          <a:xfrm>
            <a:off x="64648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Pre-COVID</a:t>
            </a:r>
            <a:endParaRPr lang="en-US" sz="1400" dirty="0">
              <a:latin typeface="Segoe UI" panose="020B0502040204020203" pitchFamily="34" charset="0"/>
              <a:cs typeface="Segoe UI" panose="020B0502040204020203" pitchFamily="34" charset="0"/>
            </a:endParaRPr>
          </a:p>
        </p:txBody>
      </p:sp>
      <p:sp>
        <p:nvSpPr>
          <p:cNvPr id="26" name="Shape 23">
            <a:extLst>
              <a:ext uri="{FF2B5EF4-FFF2-40B4-BE49-F238E27FC236}">
                <a16:creationId xmlns:a16="http://schemas.microsoft.com/office/drawing/2014/main" id="{69517A96-03EF-B97F-BC8E-7ABCAEB55833}"/>
              </a:ext>
            </a:extLst>
          </p:cNvPr>
          <p:cNvSpPr/>
          <p:nvPr/>
        </p:nvSpPr>
        <p:spPr>
          <a:xfrm>
            <a:off x="74249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7" name="Text 24">
            <a:extLst>
              <a:ext uri="{FF2B5EF4-FFF2-40B4-BE49-F238E27FC236}">
                <a16:creationId xmlns:a16="http://schemas.microsoft.com/office/drawing/2014/main" id="{D73F6FD7-8F5E-F6FA-E471-C2DA009109DC}"/>
              </a:ext>
            </a:extLst>
          </p:cNvPr>
          <p:cNvSpPr/>
          <p:nvPr/>
        </p:nvSpPr>
        <p:spPr>
          <a:xfrm>
            <a:off x="67208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
        <p:nvSpPr>
          <p:cNvPr id="28" name="Shape 25">
            <a:extLst>
              <a:ext uri="{FF2B5EF4-FFF2-40B4-BE49-F238E27FC236}">
                <a16:creationId xmlns:a16="http://schemas.microsoft.com/office/drawing/2014/main" id="{3847599A-8894-956C-5A7B-ABACD11D02C7}"/>
              </a:ext>
            </a:extLst>
          </p:cNvPr>
          <p:cNvSpPr/>
          <p:nvPr/>
        </p:nvSpPr>
        <p:spPr>
          <a:xfrm>
            <a:off x="9098280" y="2057400"/>
            <a:ext cx="2148840" cy="960120"/>
          </a:xfrm>
          <a:prstGeom prst="roundRect">
            <a:avLst>
              <a:gd name="adj" fmla="val 5714"/>
            </a:avLst>
          </a:prstGeom>
          <a:solidFill>
            <a:srgbClr val="FFF2E5"/>
          </a:solidFill>
          <a:ln w="762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9" name="Text 26">
            <a:extLst>
              <a:ext uri="{FF2B5EF4-FFF2-40B4-BE49-F238E27FC236}">
                <a16:creationId xmlns:a16="http://schemas.microsoft.com/office/drawing/2014/main" id="{C3E143FB-4691-3A5A-B629-A93DEDA43FAF}"/>
              </a:ext>
            </a:extLst>
          </p:cNvPr>
          <p:cNvSpPr/>
          <p:nvPr/>
        </p:nvSpPr>
        <p:spPr>
          <a:xfrm>
            <a:off x="9208008" y="2304288"/>
            <a:ext cx="192024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2025-06-01</a:t>
            </a:r>
            <a:endParaRPr lang="en-US" sz="1400" dirty="0">
              <a:latin typeface="Segoe UI" panose="020B0502040204020203" pitchFamily="34" charset="0"/>
              <a:cs typeface="Segoe UI" panose="020B0502040204020203" pitchFamily="34" charset="0"/>
            </a:endParaRPr>
          </a:p>
        </p:txBody>
      </p:sp>
      <p:sp>
        <p:nvSpPr>
          <p:cNvPr id="30" name="Text 27">
            <a:extLst>
              <a:ext uri="{FF2B5EF4-FFF2-40B4-BE49-F238E27FC236}">
                <a16:creationId xmlns:a16="http://schemas.microsoft.com/office/drawing/2014/main" id="{0B4A32C6-2A09-77B6-0FF9-31D346E41D70}"/>
              </a:ext>
            </a:extLst>
          </p:cNvPr>
          <p:cNvSpPr/>
          <p:nvPr/>
        </p:nvSpPr>
        <p:spPr>
          <a:xfrm>
            <a:off x="9208008" y="2651760"/>
            <a:ext cx="1920240" cy="164592"/>
          </a:xfrm>
          <a:prstGeom prst="rect">
            <a:avLst/>
          </a:prstGeom>
          <a:noFill/>
          <a:ln/>
        </p:spPr>
        <p:txBody>
          <a:bodyPr wrap="square" lIns="0" tIns="0" rIns="0" bIns="0" rtlCol="0" anchor="ctr"/>
          <a:lstStyle/>
          <a:p>
            <a:pPr marL="0" indent="0" algn="ctr">
              <a:buNone/>
            </a:pPr>
            <a:r>
              <a:rPr lang="en-US" sz="1400" dirty="0">
                <a:solidFill>
                  <a:srgbClr val="000000"/>
                </a:solidFill>
                <a:latin typeface="Segoe UI" panose="020B0502040204020203" pitchFamily="34" charset="0"/>
                <a:cs typeface="Segoe UI" panose="020B0502040204020203" pitchFamily="34" charset="0"/>
              </a:rPr>
              <a:t>High Interest</a:t>
            </a:r>
            <a:endParaRPr lang="en-US" sz="1400" dirty="0">
              <a:latin typeface="Segoe UI" panose="020B0502040204020203" pitchFamily="34" charset="0"/>
              <a:cs typeface="Segoe UI" panose="020B0502040204020203" pitchFamily="34" charset="0"/>
            </a:endParaRPr>
          </a:p>
        </p:txBody>
      </p:sp>
      <p:sp>
        <p:nvSpPr>
          <p:cNvPr id="31" name="Shape 28">
            <a:extLst>
              <a:ext uri="{FF2B5EF4-FFF2-40B4-BE49-F238E27FC236}">
                <a16:creationId xmlns:a16="http://schemas.microsoft.com/office/drawing/2014/main" id="{E2CB4447-139E-390E-A252-45A7D4BBA6F4}"/>
              </a:ext>
            </a:extLst>
          </p:cNvPr>
          <p:cNvSpPr/>
          <p:nvPr/>
        </p:nvSpPr>
        <p:spPr>
          <a:xfrm>
            <a:off x="10168128" y="3200400"/>
            <a:ext cx="0" cy="868680"/>
          </a:xfrm>
          <a:prstGeom prst="line">
            <a:avLst/>
          </a:prstGeom>
          <a:noFill/>
          <a:ln w="1905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32" name="Text 29">
            <a:extLst>
              <a:ext uri="{FF2B5EF4-FFF2-40B4-BE49-F238E27FC236}">
                <a16:creationId xmlns:a16="http://schemas.microsoft.com/office/drawing/2014/main" id="{2900C41D-94A5-2494-EB55-BD3629A29DBE}"/>
              </a:ext>
            </a:extLst>
          </p:cNvPr>
          <p:cNvSpPr/>
          <p:nvPr/>
        </p:nvSpPr>
        <p:spPr>
          <a:xfrm>
            <a:off x="9464040" y="4160520"/>
            <a:ext cx="1417320" cy="164592"/>
          </a:xfrm>
          <a:prstGeom prst="rect">
            <a:avLst/>
          </a:prstGeom>
          <a:noFill/>
          <a:ln/>
        </p:spPr>
        <p:txBody>
          <a:bodyPr wrap="square" lIns="0" tIns="0" rIns="0" bIns="0" rtlCol="0" anchor="ctr"/>
          <a:lstStyle/>
          <a:p>
            <a:pPr marL="0" indent="0" algn="ctr">
              <a:buNone/>
            </a:pPr>
            <a:r>
              <a:rPr lang="en-US" sz="1400" dirty="0">
                <a:solidFill>
                  <a:srgbClr val="666666"/>
                </a:solidFill>
                <a:latin typeface="Segoe UI" panose="020B0502040204020203" pitchFamily="34" charset="0"/>
                <a:cs typeface="Segoe UI" panose="020B0502040204020203" pitchFamily="34" charset="0"/>
              </a:rPr>
              <a:t>100-day test</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33264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14</a:t>
            </a:r>
            <a:endParaRPr lang="en-US" sz="650" dirty="0"/>
          </a:p>
        </p:txBody>
      </p:sp>
      <p:sp>
        <p:nvSpPr>
          <p:cNvPr id="11" name="Text 8"/>
          <p:cNvSpPr/>
          <p:nvPr/>
        </p:nvSpPr>
        <p:spPr>
          <a:xfrm>
            <a:off x="777240" y="2240280"/>
            <a:ext cx="10789920" cy="548640"/>
          </a:xfrm>
          <a:prstGeom prst="rect">
            <a:avLst/>
          </a:prstGeom>
          <a:noFill/>
          <a:ln/>
        </p:spPr>
        <p:txBody>
          <a:bodyPr wrap="square" lIns="0" tIns="0" rIns="0" bIns="0" rtlCol="0" anchor="ctr"/>
          <a:lstStyle/>
          <a:p>
            <a:pPr marL="0" indent="0" algn="ctr">
              <a:buNone/>
            </a:pPr>
            <a:r>
              <a:rPr lang="en-US" sz="3600" b="1" dirty="0">
                <a:solidFill>
                  <a:srgbClr val="0E1886"/>
                </a:solidFill>
                <a:latin typeface="Segoe UI" panose="020B0502040204020203" pitchFamily="34" charset="0"/>
                <a:cs typeface="Segoe UI" panose="020B0502040204020203" pitchFamily="34" charset="0"/>
              </a:rPr>
              <a:t>Results</a:t>
            </a:r>
            <a:endParaRPr lang="en-US" sz="3600" dirty="0">
              <a:latin typeface="Segoe UI" panose="020B0502040204020203" pitchFamily="34" charset="0"/>
              <a:cs typeface="Segoe UI" panose="020B0502040204020203" pitchFamily="34" charset="0"/>
            </a:endParaRPr>
          </a:p>
        </p:txBody>
      </p:sp>
      <p:sp>
        <p:nvSpPr>
          <p:cNvPr id="13" name="Shape 10"/>
          <p:cNvSpPr/>
          <p:nvPr/>
        </p:nvSpPr>
        <p:spPr>
          <a:xfrm>
            <a:off x="201168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14" name="Text 11"/>
          <p:cNvSpPr/>
          <p:nvPr/>
        </p:nvSpPr>
        <p:spPr>
          <a:xfrm>
            <a:off x="201168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M</a:t>
            </a:r>
            <a:endParaRPr lang="en-US" sz="1300" dirty="0"/>
          </a:p>
        </p:txBody>
      </p:sp>
      <p:sp>
        <p:nvSpPr>
          <p:cNvPr id="15" name="Text 12"/>
          <p:cNvSpPr/>
          <p:nvPr/>
        </p:nvSpPr>
        <p:spPr>
          <a:xfrm>
            <a:off x="178308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Motivation</a:t>
            </a:r>
            <a:endParaRPr lang="en-US" sz="1200" dirty="0"/>
          </a:p>
        </p:txBody>
      </p:sp>
      <p:sp>
        <p:nvSpPr>
          <p:cNvPr id="16" name="Shape 13"/>
          <p:cNvSpPr/>
          <p:nvPr/>
        </p:nvSpPr>
        <p:spPr>
          <a:xfrm>
            <a:off x="402336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17" name="Text 14"/>
          <p:cNvSpPr/>
          <p:nvPr/>
        </p:nvSpPr>
        <p:spPr>
          <a:xfrm>
            <a:off x="402336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D</a:t>
            </a:r>
            <a:endParaRPr lang="en-US" sz="1300" dirty="0"/>
          </a:p>
        </p:txBody>
      </p:sp>
      <p:sp>
        <p:nvSpPr>
          <p:cNvPr id="18" name="Text 15"/>
          <p:cNvSpPr/>
          <p:nvPr/>
        </p:nvSpPr>
        <p:spPr>
          <a:xfrm>
            <a:off x="379476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Data</a:t>
            </a:r>
            <a:endParaRPr lang="en-US" sz="1200" dirty="0"/>
          </a:p>
        </p:txBody>
      </p:sp>
      <p:sp>
        <p:nvSpPr>
          <p:cNvPr id="19" name="Shape 16"/>
          <p:cNvSpPr/>
          <p:nvPr/>
        </p:nvSpPr>
        <p:spPr>
          <a:xfrm>
            <a:off x="603504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0" name="Text 17"/>
          <p:cNvSpPr/>
          <p:nvPr/>
        </p:nvSpPr>
        <p:spPr>
          <a:xfrm>
            <a:off x="603504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M</a:t>
            </a:r>
            <a:endParaRPr lang="en-US" sz="1300" dirty="0"/>
          </a:p>
        </p:txBody>
      </p:sp>
      <p:sp>
        <p:nvSpPr>
          <p:cNvPr id="21" name="Text 18"/>
          <p:cNvSpPr/>
          <p:nvPr/>
        </p:nvSpPr>
        <p:spPr>
          <a:xfrm>
            <a:off x="580644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Methods</a:t>
            </a:r>
            <a:endParaRPr lang="en-US" sz="1200" dirty="0"/>
          </a:p>
        </p:txBody>
      </p:sp>
      <p:sp>
        <p:nvSpPr>
          <p:cNvPr id="22" name="Shape 19"/>
          <p:cNvSpPr/>
          <p:nvPr/>
        </p:nvSpPr>
        <p:spPr>
          <a:xfrm>
            <a:off x="8046720" y="3886200"/>
            <a:ext cx="685800" cy="685800"/>
          </a:xfrm>
          <a:prstGeom prst="ellipse">
            <a:avLst/>
          </a:prstGeom>
          <a:solidFill>
            <a:srgbClr val="0E1886"/>
          </a:solidFill>
          <a:ln w="12700">
            <a:solidFill>
              <a:srgbClr val="0E1886"/>
            </a:solidFill>
            <a:prstDash val="solid"/>
          </a:ln>
        </p:spPr>
        <p:txBody>
          <a:bodyPr/>
          <a:lstStyle/>
          <a:p>
            <a:endParaRPr lang="es-MX"/>
          </a:p>
        </p:txBody>
      </p:sp>
      <p:sp>
        <p:nvSpPr>
          <p:cNvPr id="23" name="Text 20"/>
          <p:cNvSpPr/>
          <p:nvPr/>
        </p:nvSpPr>
        <p:spPr>
          <a:xfrm>
            <a:off x="8046720" y="4132800"/>
            <a:ext cx="685800" cy="201168"/>
          </a:xfrm>
          <a:prstGeom prst="rect">
            <a:avLst/>
          </a:prstGeom>
          <a:noFill/>
          <a:ln/>
        </p:spPr>
        <p:txBody>
          <a:bodyPr wrap="square" lIns="0" tIns="0" rIns="0" bIns="0" rtlCol="0" anchor="ctr"/>
          <a:lstStyle/>
          <a:p>
            <a:pPr marL="0" indent="0" algn="ctr">
              <a:buNone/>
            </a:pPr>
            <a:r>
              <a:rPr lang="en-US" sz="1300" b="1" dirty="0">
                <a:solidFill>
                  <a:srgbClr val="FFFFFF"/>
                </a:solidFill>
              </a:rPr>
              <a:t>R</a:t>
            </a:r>
            <a:endParaRPr lang="en-US" sz="1300" dirty="0"/>
          </a:p>
        </p:txBody>
      </p:sp>
      <p:sp>
        <p:nvSpPr>
          <p:cNvPr id="24" name="Text 21"/>
          <p:cNvSpPr/>
          <p:nvPr/>
        </p:nvSpPr>
        <p:spPr>
          <a:xfrm>
            <a:off x="7818120" y="4709160"/>
            <a:ext cx="1143000" cy="228600"/>
          </a:xfrm>
          <a:prstGeom prst="rect">
            <a:avLst/>
          </a:prstGeom>
          <a:noFill/>
          <a:ln/>
        </p:spPr>
        <p:txBody>
          <a:bodyPr wrap="square" lIns="0" tIns="0" rIns="0" bIns="0" rtlCol="0" anchor="ctr"/>
          <a:lstStyle/>
          <a:p>
            <a:pPr marL="0" indent="0" algn="ctr">
              <a:buNone/>
            </a:pPr>
            <a:r>
              <a:rPr lang="en-US" sz="1200" b="1" dirty="0">
                <a:solidFill>
                  <a:srgbClr val="0E1886"/>
                </a:solidFill>
              </a:rPr>
              <a:t>Results</a:t>
            </a:r>
            <a:endParaRPr lang="en-US" sz="1200" dirty="0"/>
          </a:p>
        </p:txBody>
      </p:sp>
      <p:sp>
        <p:nvSpPr>
          <p:cNvPr id="25" name="Shape 22"/>
          <p:cNvSpPr/>
          <p:nvPr/>
        </p:nvSpPr>
        <p:spPr>
          <a:xfrm>
            <a:off x="10058400" y="3886200"/>
            <a:ext cx="685800" cy="685800"/>
          </a:xfrm>
          <a:prstGeom prst="ellipse">
            <a:avLst/>
          </a:prstGeom>
          <a:solidFill>
            <a:srgbClr val="EDEEF2"/>
          </a:solidFill>
          <a:ln w="12700">
            <a:solidFill>
              <a:srgbClr val="D6D8E0"/>
            </a:solidFill>
            <a:prstDash val="solid"/>
          </a:ln>
        </p:spPr>
        <p:txBody>
          <a:bodyPr/>
          <a:lstStyle/>
          <a:p>
            <a:endParaRPr lang="es-MX"/>
          </a:p>
        </p:txBody>
      </p:sp>
      <p:sp>
        <p:nvSpPr>
          <p:cNvPr id="26" name="Text 23"/>
          <p:cNvSpPr/>
          <p:nvPr/>
        </p:nvSpPr>
        <p:spPr>
          <a:xfrm>
            <a:off x="10058400" y="4132800"/>
            <a:ext cx="685800" cy="201168"/>
          </a:xfrm>
          <a:prstGeom prst="rect">
            <a:avLst/>
          </a:prstGeom>
          <a:noFill/>
          <a:ln/>
        </p:spPr>
        <p:txBody>
          <a:bodyPr wrap="square" lIns="0" tIns="0" rIns="0" bIns="0" rtlCol="0" anchor="ctr"/>
          <a:lstStyle/>
          <a:p>
            <a:pPr marL="0" indent="0" algn="ctr">
              <a:buNone/>
            </a:pPr>
            <a:r>
              <a:rPr lang="en-US" sz="1300" b="1" dirty="0">
                <a:solidFill>
                  <a:srgbClr val="BBBBBB"/>
                </a:solidFill>
              </a:rPr>
              <a:t>C</a:t>
            </a:r>
            <a:endParaRPr lang="en-US" sz="1300" dirty="0"/>
          </a:p>
        </p:txBody>
      </p:sp>
      <p:sp>
        <p:nvSpPr>
          <p:cNvPr id="27" name="Text 24"/>
          <p:cNvSpPr/>
          <p:nvPr/>
        </p:nvSpPr>
        <p:spPr>
          <a:xfrm>
            <a:off x="9829800" y="4709160"/>
            <a:ext cx="1143000" cy="228600"/>
          </a:xfrm>
          <a:prstGeom prst="rect">
            <a:avLst/>
          </a:prstGeom>
          <a:noFill/>
          <a:ln/>
        </p:spPr>
        <p:txBody>
          <a:bodyPr wrap="square" lIns="0" tIns="0" rIns="0" bIns="0" rtlCol="0" anchor="ctr"/>
          <a:lstStyle/>
          <a:p>
            <a:pPr marL="0" indent="0" algn="ctr">
              <a:buNone/>
            </a:pPr>
            <a:r>
              <a:rPr lang="en-US" sz="1200" dirty="0">
                <a:solidFill>
                  <a:srgbClr val="BBBBBB"/>
                </a:solidFill>
              </a:rPr>
              <a:t>Conclusion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15</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Primary results</a:t>
            </a:r>
            <a:endParaRPr lang="en-US" sz="2800" dirty="0">
              <a:latin typeface="Segoe UI" panose="020B0502040204020203" pitchFamily="34" charset="0"/>
              <a:cs typeface="Segoe UI" panose="020B0502040204020203" pitchFamily="34" charset="0"/>
            </a:endParaRPr>
          </a:p>
        </p:txBody>
      </p:sp>
      <p:sp>
        <p:nvSpPr>
          <p:cNvPr id="13" name="Shape 10"/>
          <p:cNvSpPr/>
          <p:nvPr/>
        </p:nvSpPr>
        <p:spPr>
          <a:xfrm>
            <a:off x="685800" y="1828800"/>
            <a:ext cx="10835640" cy="411480"/>
          </a:xfrm>
          <a:prstGeom prst="rect">
            <a:avLst/>
          </a:prstGeom>
          <a:solidFill>
            <a:srgbClr val="0E1886"/>
          </a:solidFill>
          <a:ln w="12700">
            <a:solidFill>
              <a:srgbClr val="0E1886"/>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14" name="Text 11"/>
          <p:cNvSpPr/>
          <p:nvPr/>
        </p:nvSpPr>
        <p:spPr>
          <a:xfrm>
            <a:off x="731520" y="1947672"/>
            <a:ext cx="457200" cy="109728"/>
          </a:xfrm>
          <a:prstGeom prst="rect">
            <a:avLst/>
          </a:prstGeom>
          <a:noFill/>
          <a:ln/>
        </p:spPr>
        <p:txBody>
          <a:bodyPr wrap="square" lIns="0" tIns="0" rIns="0" bIns="0" rtlCol="0" anchor="ctr">
            <a:noAutofit/>
          </a:bodyPr>
          <a:lstStyle/>
          <a:p>
            <a:pPr marL="0" indent="0" algn="l">
              <a:buNone/>
            </a:pPr>
            <a:r>
              <a:rPr lang="en-US" sz="1400" b="1" dirty="0">
                <a:solidFill>
                  <a:srgbClr val="FFFFFF"/>
                </a:solidFill>
                <a:latin typeface="Segoe UI" panose="020B0502040204020203" pitchFamily="34" charset="0"/>
                <a:cs typeface="Segoe UI" panose="020B0502040204020203" pitchFamily="34" charset="0"/>
              </a:rPr>
              <a:t>Rank</a:t>
            </a:r>
            <a:endParaRPr lang="en-US" sz="1400" dirty="0">
              <a:latin typeface="Segoe UI" panose="020B0502040204020203" pitchFamily="34" charset="0"/>
              <a:cs typeface="Segoe UI" panose="020B0502040204020203" pitchFamily="34" charset="0"/>
            </a:endParaRPr>
          </a:p>
        </p:txBody>
      </p:sp>
      <p:sp>
        <p:nvSpPr>
          <p:cNvPr id="15" name="Text 12"/>
          <p:cNvSpPr/>
          <p:nvPr/>
        </p:nvSpPr>
        <p:spPr>
          <a:xfrm>
            <a:off x="1280160" y="1947672"/>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FFFFFF"/>
                </a:solidFill>
                <a:latin typeface="Segoe UI" panose="020B0502040204020203" pitchFamily="34" charset="0"/>
                <a:cs typeface="Segoe UI" panose="020B0502040204020203" pitchFamily="34" charset="0"/>
              </a:rPr>
              <a:t>Model</a:t>
            </a:r>
            <a:endParaRPr lang="en-US" sz="1400" dirty="0">
              <a:latin typeface="Segoe UI" panose="020B0502040204020203" pitchFamily="34" charset="0"/>
              <a:cs typeface="Segoe UI" panose="020B0502040204020203" pitchFamily="34" charset="0"/>
            </a:endParaRPr>
          </a:p>
        </p:txBody>
      </p:sp>
      <p:sp>
        <p:nvSpPr>
          <p:cNvPr id="16" name="Text 13"/>
          <p:cNvSpPr/>
          <p:nvPr/>
        </p:nvSpPr>
        <p:spPr>
          <a:xfrm>
            <a:off x="2834640" y="1947672"/>
            <a:ext cx="2103120" cy="109728"/>
          </a:xfrm>
          <a:prstGeom prst="rect">
            <a:avLst/>
          </a:prstGeom>
          <a:noFill/>
          <a:ln/>
        </p:spPr>
        <p:txBody>
          <a:bodyPr wrap="square" lIns="0" tIns="0" rIns="0" bIns="0" rtlCol="0" anchor="ctr">
            <a:noAutofit/>
          </a:bodyPr>
          <a:lstStyle/>
          <a:p>
            <a:pPr marL="0" indent="0" algn="l">
              <a:buNone/>
            </a:pPr>
            <a:r>
              <a:rPr lang="en-US" sz="1400" b="1" dirty="0">
                <a:solidFill>
                  <a:srgbClr val="FFFFFF"/>
                </a:solidFill>
                <a:latin typeface="Segoe UI" panose="020B0502040204020203" pitchFamily="34" charset="0"/>
                <a:cs typeface="Segoe UI" panose="020B0502040204020203" pitchFamily="34" charset="0"/>
              </a:rPr>
              <a:t>Best fixed set</a:t>
            </a:r>
            <a:endParaRPr lang="en-US" sz="1400" dirty="0">
              <a:latin typeface="Segoe UI" panose="020B0502040204020203" pitchFamily="34" charset="0"/>
              <a:cs typeface="Segoe UI" panose="020B0502040204020203" pitchFamily="34" charset="0"/>
            </a:endParaRPr>
          </a:p>
        </p:txBody>
      </p:sp>
      <p:sp>
        <p:nvSpPr>
          <p:cNvPr id="17" name="Text 14"/>
          <p:cNvSpPr/>
          <p:nvPr/>
        </p:nvSpPr>
        <p:spPr>
          <a:xfrm>
            <a:off x="5029200" y="1947672"/>
            <a:ext cx="1280160" cy="109728"/>
          </a:xfrm>
          <a:prstGeom prst="rect">
            <a:avLst/>
          </a:prstGeom>
          <a:noFill/>
          <a:ln/>
        </p:spPr>
        <p:txBody>
          <a:bodyPr wrap="square" lIns="0" tIns="0" rIns="0" bIns="0" rtlCol="0" anchor="ctr">
            <a:noAutofit/>
          </a:bodyPr>
          <a:lstStyle/>
          <a:p>
            <a:pPr marL="0" indent="0" algn="ctr">
              <a:buNone/>
            </a:pPr>
            <a:r>
              <a:rPr lang="en-US" sz="1400" b="1" dirty="0">
                <a:solidFill>
                  <a:srgbClr val="FFFFFF"/>
                </a:solidFill>
                <a:latin typeface="Segoe UI" panose="020B0502040204020203" pitchFamily="34" charset="0"/>
                <a:cs typeface="Segoe UI" panose="020B0502040204020203" pitchFamily="34" charset="0"/>
              </a:rPr>
              <a:t>MAE [bn €]</a:t>
            </a:r>
            <a:endParaRPr lang="en-US" sz="1400" dirty="0">
              <a:latin typeface="Segoe UI" panose="020B0502040204020203" pitchFamily="34" charset="0"/>
              <a:cs typeface="Segoe UI" panose="020B0502040204020203" pitchFamily="34" charset="0"/>
            </a:endParaRPr>
          </a:p>
        </p:txBody>
      </p:sp>
      <p:sp>
        <p:nvSpPr>
          <p:cNvPr id="18" name="Text 15"/>
          <p:cNvSpPr/>
          <p:nvPr/>
        </p:nvSpPr>
        <p:spPr>
          <a:xfrm>
            <a:off x="6400800" y="1947672"/>
            <a:ext cx="1280160" cy="109728"/>
          </a:xfrm>
          <a:prstGeom prst="rect">
            <a:avLst/>
          </a:prstGeom>
          <a:noFill/>
          <a:ln/>
        </p:spPr>
        <p:txBody>
          <a:bodyPr wrap="square" lIns="0" tIns="0" rIns="0" bIns="0" rtlCol="0" anchor="ctr">
            <a:noAutofit/>
          </a:bodyPr>
          <a:lstStyle/>
          <a:p>
            <a:pPr marL="0" indent="0" algn="ctr">
              <a:buNone/>
            </a:pPr>
            <a:r>
              <a:rPr lang="en-US" sz="1400" b="1" dirty="0">
                <a:solidFill>
                  <a:srgbClr val="FFFFFF"/>
                </a:solidFill>
                <a:latin typeface="Segoe UI" panose="020B0502040204020203" pitchFamily="34" charset="0"/>
                <a:cs typeface="Segoe UI" panose="020B0502040204020203" pitchFamily="34" charset="0"/>
              </a:rPr>
              <a:t>RMSE [bn €]</a:t>
            </a:r>
            <a:endParaRPr lang="en-US" sz="1400" dirty="0">
              <a:latin typeface="Segoe UI" panose="020B0502040204020203" pitchFamily="34" charset="0"/>
              <a:cs typeface="Segoe UI" panose="020B0502040204020203" pitchFamily="34" charset="0"/>
            </a:endParaRPr>
          </a:p>
        </p:txBody>
      </p:sp>
      <p:sp>
        <p:nvSpPr>
          <p:cNvPr id="19" name="Text 16"/>
          <p:cNvSpPr/>
          <p:nvPr/>
        </p:nvSpPr>
        <p:spPr>
          <a:xfrm>
            <a:off x="7772400" y="1947672"/>
            <a:ext cx="1097280" cy="109728"/>
          </a:xfrm>
          <a:prstGeom prst="rect">
            <a:avLst/>
          </a:prstGeom>
          <a:noFill/>
          <a:ln/>
        </p:spPr>
        <p:txBody>
          <a:bodyPr wrap="square" lIns="0" tIns="0" rIns="0" bIns="0" rtlCol="0" anchor="ctr">
            <a:noAutofit/>
          </a:bodyPr>
          <a:lstStyle/>
          <a:p>
            <a:pPr marL="0" indent="0" algn="ctr">
              <a:buNone/>
            </a:pPr>
            <a:r>
              <a:rPr lang="en-US" sz="1400" b="1" dirty="0">
                <a:solidFill>
                  <a:srgbClr val="FFFFFF"/>
                </a:solidFill>
                <a:latin typeface="Segoe UI" panose="020B0502040204020203" pitchFamily="34" charset="0"/>
                <a:cs typeface="Segoe UI" panose="020B0502040204020203" pitchFamily="34" charset="0"/>
              </a:rPr>
              <a:t>Mean R²</a:t>
            </a:r>
            <a:endParaRPr lang="en-US" sz="1400" dirty="0">
              <a:latin typeface="Segoe UI" panose="020B0502040204020203" pitchFamily="34" charset="0"/>
              <a:cs typeface="Segoe UI" panose="020B0502040204020203" pitchFamily="34" charset="0"/>
            </a:endParaRPr>
          </a:p>
        </p:txBody>
      </p:sp>
      <p:sp>
        <p:nvSpPr>
          <p:cNvPr id="20" name="Shape 17"/>
          <p:cNvSpPr/>
          <p:nvPr/>
        </p:nvSpPr>
        <p:spPr>
          <a:xfrm>
            <a:off x="685800" y="2240280"/>
            <a:ext cx="10835640" cy="448056"/>
          </a:xfrm>
          <a:prstGeom prst="rect">
            <a:avLst/>
          </a:prstGeom>
          <a:solidFill>
            <a:srgbClr val="E8F3EA"/>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21" name="Text 18"/>
          <p:cNvSpPr/>
          <p:nvPr/>
        </p:nvSpPr>
        <p:spPr>
          <a:xfrm>
            <a:off x="731520" y="2386584"/>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22" name="Text 19"/>
          <p:cNvSpPr/>
          <p:nvPr/>
        </p:nvSpPr>
        <p:spPr>
          <a:xfrm>
            <a:off x="1280160" y="2386584"/>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Ridge</a:t>
            </a:r>
            <a:endParaRPr lang="en-US" sz="1400" dirty="0">
              <a:latin typeface="Segoe UI" panose="020B0502040204020203" pitchFamily="34" charset="0"/>
              <a:cs typeface="Segoe UI" panose="020B0502040204020203" pitchFamily="34" charset="0"/>
            </a:endParaRPr>
          </a:p>
        </p:txBody>
      </p:sp>
      <p:sp>
        <p:nvSpPr>
          <p:cNvPr id="23" name="Text 20"/>
          <p:cNvSpPr/>
          <p:nvPr/>
        </p:nvSpPr>
        <p:spPr>
          <a:xfrm>
            <a:off x="2834640" y="2386584"/>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All covariates</a:t>
            </a:r>
            <a:endParaRPr lang="en-US" sz="1400" dirty="0">
              <a:latin typeface="Segoe UI" panose="020B0502040204020203" pitchFamily="34" charset="0"/>
              <a:cs typeface="Segoe UI" panose="020B0502040204020203" pitchFamily="34" charset="0"/>
            </a:endParaRPr>
          </a:p>
        </p:txBody>
      </p:sp>
      <p:sp>
        <p:nvSpPr>
          <p:cNvPr id="24" name="Text 21"/>
          <p:cNvSpPr/>
          <p:nvPr/>
        </p:nvSpPr>
        <p:spPr>
          <a:xfrm>
            <a:off x="5029200" y="2386584"/>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9.36</a:t>
            </a:r>
            <a:endParaRPr lang="en-US" sz="1400" dirty="0">
              <a:latin typeface="Segoe UI" panose="020B0502040204020203" pitchFamily="34" charset="0"/>
              <a:cs typeface="Segoe UI" panose="020B0502040204020203" pitchFamily="34" charset="0"/>
            </a:endParaRPr>
          </a:p>
        </p:txBody>
      </p:sp>
      <p:sp>
        <p:nvSpPr>
          <p:cNvPr id="25" name="Text 22"/>
          <p:cNvSpPr/>
          <p:nvPr/>
        </p:nvSpPr>
        <p:spPr>
          <a:xfrm>
            <a:off x="6400800" y="2386584"/>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10.26</a:t>
            </a:r>
            <a:endParaRPr lang="en-US" sz="1400" dirty="0">
              <a:latin typeface="Segoe UI" panose="020B0502040204020203" pitchFamily="34" charset="0"/>
              <a:cs typeface="Segoe UI" panose="020B0502040204020203" pitchFamily="34" charset="0"/>
            </a:endParaRPr>
          </a:p>
        </p:txBody>
      </p:sp>
      <p:sp>
        <p:nvSpPr>
          <p:cNvPr id="26" name="Text 23"/>
          <p:cNvSpPr/>
          <p:nvPr/>
        </p:nvSpPr>
        <p:spPr>
          <a:xfrm>
            <a:off x="7772400" y="2386584"/>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0.178</a:t>
            </a:r>
            <a:endParaRPr lang="en-US" sz="1400" dirty="0">
              <a:latin typeface="Segoe UI" panose="020B0502040204020203" pitchFamily="34" charset="0"/>
              <a:cs typeface="Segoe UI" panose="020B0502040204020203" pitchFamily="34" charset="0"/>
            </a:endParaRPr>
          </a:p>
        </p:txBody>
      </p:sp>
      <p:sp>
        <p:nvSpPr>
          <p:cNvPr id="27" name="Shape 24"/>
          <p:cNvSpPr/>
          <p:nvPr/>
        </p:nvSpPr>
        <p:spPr>
          <a:xfrm>
            <a:off x="685800" y="2688336"/>
            <a:ext cx="10835640" cy="448056"/>
          </a:xfrm>
          <a:prstGeom prst="rect">
            <a:avLst/>
          </a:prstGeom>
          <a:solidFill>
            <a:srgbClr val="E8F3EA"/>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28" name="Text 25"/>
          <p:cNvSpPr/>
          <p:nvPr/>
        </p:nvSpPr>
        <p:spPr>
          <a:xfrm>
            <a:off x="731520" y="2834640"/>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29" name="Text 26"/>
          <p:cNvSpPr/>
          <p:nvPr/>
        </p:nvSpPr>
        <p:spPr>
          <a:xfrm>
            <a:off x="1280160" y="2834640"/>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TFT</a:t>
            </a:r>
            <a:endParaRPr lang="en-US" sz="1400" dirty="0">
              <a:latin typeface="Segoe UI" panose="020B0502040204020203" pitchFamily="34" charset="0"/>
              <a:cs typeface="Segoe UI" panose="020B0502040204020203" pitchFamily="34" charset="0"/>
            </a:endParaRPr>
          </a:p>
        </p:txBody>
      </p:sp>
      <p:sp>
        <p:nvSpPr>
          <p:cNvPr id="30" name="Text 27"/>
          <p:cNvSpPr/>
          <p:nvPr/>
        </p:nvSpPr>
        <p:spPr>
          <a:xfrm>
            <a:off x="2834640" y="2834640"/>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Macroeconomic</a:t>
            </a:r>
            <a:endParaRPr lang="en-US" sz="1400" dirty="0">
              <a:latin typeface="Segoe UI" panose="020B0502040204020203" pitchFamily="34" charset="0"/>
              <a:cs typeface="Segoe UI" panose="020B0502040204020203" pitchFamily="34" charset="0"/>
            </a:endParaRPr>
          </a:p>
        </p:txBody>
      </p:sp>
      <p:sp>
        <p:nvSpPr>
          <p:cNvPr id="31" name="Text 28"/>
          <p:cNvSpPr/>
          <p:nvPr/>
        </p:nvSpPr>
        <p:spPr>
          <a:xfrm>
            <a:off x="5029200" y="2834640"/>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10.78</a:t>
            </a:r>
            <a:endParaRPr lang="en-US" sz="1400" dirty="0">
              <a:latin typeface="Segoe UI" panose="020B0502040204020203" pitchFamily="34" charset="0"/>
              <a:cs typeface="Segoe UI" panose="020B0502040204020203" pitchFamily="34" charset="0"/>
            </a:endParaRPr>
          </a:p>
        </p:txBody>
      </p:sp>
      <p:sp>
        <p:nvSpPr>
          <p:cNvPr id="32" name="Text 29"/>
          <p:cNvSpPr/>
          <p:nvPr/>
        </p:nvSpPr>
        <p:spPr>
          <a:xfrm>
            <a:off x="6400800" y="2834640"/>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12.71</a:t>
            </a:r>
            <a:endParaRPr lang="en-US" sz="1400" dirty="0">
              <a:latin typeface="Segoe UI" panose="020B0502040204020203" pitchFamily="34" charset="0"/>
              <a:cs typeface="Segoe UI" panose="020B0502040204020203" pitchFamily="34" charset="0"/>
            </a:endParaRPr>
          </a:p>
        </p:txBody>
      </p:sp>
      <p:sp>
        <p:nvSpPr>
          <p:cNvPr id="33" name="Text 30"/>
          <p:cNvSpPr/>
          <p:nvPr/>
        </p:nvSpPr>
        <p:spPr>
          <a:xfrm>
            <a:off x="7772400" y="2834640"/>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−0.361</a:t>
            </a:r>
            <a:endParaRPr lang="en-US" sz="1400" dirty="0">
              <a:latin typeface="Segoe UI" panose="020B0502040204020203" pitchFamily="34" charset="0"/>
              <a:cs typeface="Segoe UI" panose="020B0502040204020203" pitchFamily="34" charset="0"/>
            </a:endParaRPr>
          </a:p>
        </p:txBody>
      </p:sp>
      <p:sp>
        <p:nvSpPr>
          <p:cNvPr id="34" name="Shape 31"/>
          <p:cNvSpPr/>
          <p:nvPr/>
        </p:nvSpPr>
        <p:spPr>
          <a:xfrm>
            <a:off x="685800" y="3136392"/>
            <a:ext cx="10835640" cy="448056"/>
          </a:xfrm>
          <a:prstGeom prst="rect">
            <a:avLst/>
          </a:prstGeom>
          <a:solidFill>
            <a:srgbClr val="F2F3F7"/>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35" name="Text 32"/>
          <p:cNvSpPr/>
          <p:nvPr/>
        </p:nvSpPr>
        <p:spPr>
          <a:xfrm>
            <a:off x="731520" y="3282696"/>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
        <p:nvSpPr>
          <p:cNvPr id="36" name="Text 33"/>
          <p:cNvSpPr/>
          <p:nvPr/>
        </p:nvSpPr>
        <p:spPr>
          <a:xfrm>
            <a:off x="1280160" y="3282696"/>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Naive RW</a:t>
            </a:r>
            <a:endParaRPr lang="en-US" sz="1400" dirty="0">
              <a:latin typeface="Segoe UI" panose="020B0502040204020203" pitchFamily="34" charset="0"/>
              <a:cs typeface="Segoe UI" panose="020B0502040204020203" pitchFamily="34" charset="0"/>
            </a:endParaRPr>
          </a:p>
        </p:txBody>
      </p:sp>
      <p:sp>
        <p:nvSpPr>
          <p:cNvPr id="37" name="Text 34"/>
          <p:cNvSpPr/>
          <p:nvPr/>
        </p:nvSpPr>
        <p:spPr>
          <a:xfrm>
            <a:off x="2834640" y="3282696"/>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None</a:t>
            </a:r>
            <a:endParaRPr lang="en-US" sz="1400" dirty="0">
              <a:latin typeface="Segoe UI" panose="020B0502040204020203" pitchFamily="34" charset="0"/>
              <a:cs typeface="Segoe UI" panose="020B0502040204020203" pitchFamily="34" charset="0"/>
            </a:endParaRPr>
          </a:p>
        </p:txBody>
      </p:sp>
      <p:sp>
        <p:nvSpPr>
          <p:cNvPr id="38" name="Text 35"/>
          <p:cNvSpPr/>
          <p:nvPr/>
        </p:nvSpPr>
        <p:spPr>
          <a:xfrm>
            <a:off x="5029200" y="3282696"/>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11.78</a:t>
            </a:r>
            <a:endParaRPr lang="en-US" sz="1400" dirty="0">
              <a:latin typeface="Segoe UI" panose="020B0502040204020203" pitchFamily="34" charset="0"/>
              <a:cs typeface="Segoe UI" panose="020B0502040204020203" pitchFamily="34" charset="0"/>
            </a:endParaRPr>
          </a:p>
        </p:txBody>
      </p:sp>
      <p:sp>
        <p:nvSpPr>
          <p:cNvPr id="39" name="Text 36"/>
          <p:cNvSpPr/>
          <p:nvPr/>
        </p:nvSpPr>
        <p:spPr>
          <a:xfrm>
            <a:off x="6400800" y="3282696"/>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14.41</a:t>
            </a:r>
            <a:endParaRPr lang="en-US" sz="1400" dirty="0">
              <a:latin typeface="Segoe UI" panose="020B0502040204020203" pitchFamily="34" charset="0"/>
              <a:cs typeface="Segoe UI" panose="020B0502040204020203" pitchFamily="34" charset="0"/>
            </a:endParaRPr>
          </a:p>
        </p:txBody>
      </p:sp>
      <p:sp>
        <p:nvSpPr>
          <p:cNvPr id="40" name="Text 37"/>
          <p:cNvSpPr/>
          <p:nvPr/>
        </p:nvSpPr>
        <p:spPr>
          <a:xfrm>
            <a:off x="7772400" y="3282696"/>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−0.564</a:t>
            </a:r>
            <a:endParaRPr lang="en-US" sz="1400" dirty="0">
              <a:latin typeface="Segoe UI" panose="020B0502040204020203" pitchFamily="34" charset="0"/>
              <a:cs typeface="Segoe UI" panose="020B0502040204020203" pitchFamily="34" charset="0"/>
            </a:endParaRPr>
          </a:p>
        </p:txBody>
      </p:sp>
      <p:sp>
        <p:nvSpPr>
          <p:cNvPr id="41" name="Shape 38"/>
          <p:cNvSpPr/>
          <p:nvPr/>
        </p:nvSpPr>
        <p:spPr>
          <a:xfrm>
            <a:off x="685800" y="3584448"/>
            <a:ext cx="10835640" cy="448056"/>
          </a:xfrm>
          <a:prstGeom prst="rect">
            <a:avLst/>
          </a:prstGeom>
          <a:solidFill>
            <a:srgbClr val="FFFFFF"/>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42" name="Text 39"/>
          <p:cNvSpPr/>
          <p:nvPr/>
        </p:nvSpPr>
        <p:spPr>
          <a:xfrm>
            <a:off x="731520" y="3730752"/>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4</a:t>
            </a:r>
            <a:endParaRPr lang="en-US" sz="1400" dirty="0">
              <a:latin typeface="Segoe UI" panose="020B0502040204020203" pitchFamily="34" charset="0"/>
              <a:cs typeface="Segoe UI" panose="020B0502040204020203" pitchFamily="34" charset="0"/>
            </a:endParaRPr>
          </a:p>
        </p:txBody>
      </p:sp>
      <p:sp>
        <p:nvSpPr>
          <p:cNvPr id="43" name="Text 40"/>
          <p:cNvSpPr/>
          <p:nvPr/>
        </p:nvSpPr>
        <p:spPr>
          <a:xfrm>
            <a:off x="1280160" y="3730752"/>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FFN</a:t>
            </a:r>
            <a:endParaRPr lang="en-US" sz="1400" dirty="0">
              <a:latin typeface="Segoe UI" panose="020B0502040204020203" pitchFamily="34" charset="0"/>
              <a:cs typeface="Segoe UI" panose="020B0502040204020203" pitchFamily="34" charset="0"/>
            </a:endParaRPr>
          </a:p>
        </p:txBody>
      </p:sp>
      <p:sp>
        <p:nvSpPr>
          <p:cNvPr id="44" name="Text 41"/>
          <p:cNvSpPr/>
          <p:nvPr/>
        </p:nvSpPr>
        <p:spPr>
          <a:xfrm>
            <a:off x="2834640" y="3730752"/>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Macroeconomic</a:t>
            </a:r>
            <a:endParaRPr lang="en-US" sz="1400" dirty="0">
              <a:latin typeface="Segoe UI" panose="020B0502040204020203" pitchFamily="34" charset="0"/>
              <a:cs typeface="Segoe UI" panose="020B0502040204020203" pitchFamily="34" charset="0"/>
            </a:endParaRPr>
          </a:p>
        </p:txBody>
      </p:sp>
      <p:sp>
        <p:nvSpPr>
          <p:cNvPr id="45" name="Text 42"/>
          <p:cNvSpPr/>
          <p:nvPr/>
        </p:nvSpPr>
        <p:spPr>
          <a:xfrm>
            <a:off x="5029200" y="3730752"/>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11.85</a:t>
            </a:r>
            <a:endParaRPr lang="en-US" sz="1400" dirty="0">
              <a:latin typeface="Segoe UI" panose="020B0502040204020203" pitchFamily="34" charset="0"/>
              <a:cs typeface="Segoe UI" panose="020B0502040204020203" pitchFamily="34" charset="0"/>
            </a:endParaRPr>
          </a:p>
        </p:txBody>
      </p:sp>
      <p:sp>
        <p:nvSpPr>
          <p:cNvPr id="46" name="Text 43"/>
          <p:cNvSpPr/>
          <p:nvPr/>
        </p:nvSpPr>
        <p:spPr>
          <a:xfrm>
            <a:off x="6400800" y="3730752"/>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15.22</a:t>
            </a:r>
            <a:endParaRPr lang="en-US" sz="1400" dirty="0">
              <a:latin typeface="Segoe UI" panose="020B0502040204020203" pitchFamily="34" charset="0"/>
              <a:cs typeface="Segoe UI" panose="020B0502040204020203" pitchFamily="34" charset="0"/>
            </a:endParaRPr>
          </a:p>
        </p:txBody>
      </p:sp>
      <p:sp>
        <p:nvSpPr>
          <p:cNvPr id="47" name="Text 44"/>
          <p:cNvSpPr/>
          <p:nvPr/>
        </p:nvSpPr>
        <p:spPr>
          <a:xfrm>
            <a:off x="7772400" y="3730752"/>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−0.605</a:t>
            </a:r>
            <a:endParaRPr lang="en-US" sz="1400" dirty="0">
              <a:latin typeface="Segoe UI" panose="020B0502040204020203" pitchFamily="34" charset="0"/>
              <a:cs typeface="Segoe UI" panose="020B0502040204020203" pitchFamily="34" charset="0"/>
            </a:endParaRPr>
          </a:p>
        </p:txBody>
      </p:sp>
      <p:sp>
        <p:nvSpPr>
          <p:cNvPr id="48" name="Shape 45"/>
          <p:cNvSpPr/>
          <p:nvPr/>
        </p:nvSpPr>
        <p:spPr>
          <a:xfrm>
            <a:off x="685800" y="4032504"/>
            <a:ext cx="10835640" cy="448056"/>
          </a:xfrm>
          <a:prstGeom prst="rect">
            <a:avLst/>
          </a:prstGeom>
          <a:solidFill>
            <a:srgbClr val="F2F3F7"/>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49" name="Text 46"/>
          <p:cNvSpPr/>
          <p:nvPr/>
        </p:nvSpPr>
        <p:spPr>
          <a:xfrm>
            <a:off x="731520" y="4178808"/>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5</a:t>
            </a:r>
            <a:endParaRPr lang="en-US" sz="1400" dirty="0">
              <a:latin typeface="Segoe UI" panose="020B0502040204020203" pitchFamily="34" charset="0"/>
              <a:cs typeface="Segoe UI" panose="020B0502040204020203" pitchFamily="34" charset="0"/>
            </a:endParaRPr>
          </a:p>
        </p:txBody>
      </p:sp>
      <p:sp>
        <p:nvSpPr>
          <p:cNvPr id="50" name="Text 47"/>
          <p:cNvSpPr/>
          <p:nvPr/>
        </p:nvSpPr>
        <p:spPr>
          <a:xfrm>
            <a:off x="1280160" y="4178808"/>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XGBoost</a:t>
            </a:r>
            <a:endParaRPr lang="en-US" sz="1400" dirty="0">
              <a:latin typeface="Segoe UI" panose="020B0502040204020203" pitchFamily="34" charset="0"/>
              <a:cs typeface="Segoe UI" panose="020B0502040204020203" pitchFamily="34" charset="0"/>
            </a:endParaRPr>
          </a:p>
        </p:txBody>
      </p:sp>
      <p:sp>
        <p:nvSpPr>
          <p:cNvPr id="51" name="Text 48"/>
          <p:cNvSpPr/>
          <p:nvPr/>
        </p:nvSpPr>
        <p:spPr>
          <a:xfrm>
            <a:off x="2834640" y="4178808"/>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Excluding inflation</a:t>
            </a:r>
            <a:endParaRPr lang="en-US" sz="1400" dirty="0">
              <a:latin typeface="Segoe UI" panose="020B0502040204020203" pitchFamily="34" charset="0"/>
              <a:cs typeface="Segoe UI" panose="020B0502040204020203" pitchFamily="34" charset="0"/>
            </a:endParaRPr>
          </a:p>
        </p:txBody>
      </p:sp>
      <p:sp>
        <p:nvSpPr>
          <p:cNvPr id="52" name="Text 49"/>
          <p:cNvSpPr/>
          <p:nvPr/>
        </p:nvSpPr>
        <p:spPr>
          <a:xfrm>
            <a:off x="5029200" y="4178808"/>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12.71</a:t>
            </a:r>
            <a:endParaRPr lang="en-US" sz="1400" dirty="0">
              <a:latin typeface="Segoe UI" panose="020B0502040204020203" pitchFamily="34" charset="0"/>
              <a:cs typeface="Segoe UI" panose="020B0502040204020203" pitchFamily="34" charset="0"/>
            </a:endParaRPr>
          </a:p>
        </p:txBody>
      </p:sp>
      <p:sp>
        <p:nvSpPr>
          <p:cNvPr id="53" name="Text 50"/>
          <p:cNvSpPr/>
          <p:nvPr/>
        </p:nvSpPr>
        <p:spPr>
          <a:xfrm>
            <a:off x="6400800" y="4178808"/>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14.90</a:t>
            </a:r>
            <a:endParaRPr lang="en-US" sz="1400" dirty="0">
              <a:latin typeface="Segoe UI" panose="020B0502040204020203" pitchFamily="34" charset="0"/>
              <a:cs typeface="Segoe UI" panose="020B0502040204020203" pitchFamily="34" charset="0"/>
            </a:endParaRPr>
          </a:p>
        </p:txBody>
      </p:sp>
      <p:sp>
        <p:nvSpPr>
          <p:cNvPr id="54" name="Text 51"/>
          <p:cNvSpPr/>
          <p:nvPr/>
        </p:nvSpPr>
        <p:spPr>
          <a:xfrm>
            <a:off x="7772400" y="4178808"/>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−0.784</a:t>
            </a:r>
            <a:endParaRPr lang="en-US" sz="1400" dirty="0">
              <a:latin typeface="Segoe UI" panose="020B0502040204020203" pitchFamily="34" charset="0"/>
              <a:cs typeface="Segoe UI" panose="020B0502040204020203" pitchFamily="34" charset="0"/>
            </a:endParaRPr>
          </a:p>
        </p:txBody>
      </p:sp>
      <p:sp>
        <p:nvSpPr>
          <p:cNvPr id="55" name="Shape 52"/>
          <p:cNvSpPr/>
          <p:nvPr/>
        </p:nvSpPr>
        <p:spPr>
          <a:xfrm>
            <a:off x="685800" y="4480560"/>
            <a:ext cx="10835640" cy="448056"/>
          </a:xfrm>
          <a:prstGeom prst="rect">
            <a:avLst/>
          </a:prstGeom>
          <a:solidFill>
            <a:srgbClr val="FFFFFF"/>
          </a:solidFill>
          <a:ln w="5080">
            <a:solidFill>
              <a:srgbClr val="D6D8E0"/>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56" name="Text 53"/>
          <p:cNvSpPr/>
          <p:nvPr/>
        </p:nvSpPr>
        <p:spPr>
          <a:xfrm>
            <a:off x="731520" y="4626864"/>
            <a:ext cx="457200" cy="109728"/>
          </a:xfrm>
          <a:prstGeom prst="rect">
            <a:avLst/>
          </a:prstGeom>
          <a:noFill/>
          <a:ln/>
        </p:spPr>
        <p:txBody>
          <a:bodyPr wrap="square" lIns="0" tIns="0" rIns="0" bIns="0" rtlCol="0" anchor="ctr">
            <a:noAutofit/>
          </a:bodyPr>
          <a:lstStyle/>
          <a:p>
            <a:pPr marL="0" indent="0" algn="ctr">
              <a:buNone/>
            </a:pPr>
            <a:r>
              <a:rPr lang="en-US" sz="1400" b="1" dirty="0">
                <a:solidFill>
                  <a:srgbClr val="000000"/>
                </a:solidFill>
                <a:latin typeface="Segoe UI" panose="020B0502040204020203" pitchFamily="34" charset="0"/>
                <a:cs typeface="Segoe UI" panose="020B0502040204020203" pitchFamily="34" charset="0"/>
              </a:rPr>
              <a:t>6</a:t>
            </a:r>
            <a:endParaRPr lang="en-US" sz="1400" dirty="0">
              <a:latin typeface="Segoe UI" panose="020B0502040204020203" pitchFamily="34" charset="0"/>
              <a:cs typeface="Segoe UI" panose="020B0502040204020203" pitchFamily="34" charset="0"/>
            </a:endParaRPr>
          </a:p>
        </p:txBody>
      </p:sp>
      <p:sp>
        <p:nvSpPr>
          <p:cNvPr id="57" name="Text 54"/>
          <p:cNvSpPr/>
          <p:nvPr/>
        </p:nvSpPr>
        <p:spPr>
          <a:xfrm>
            <a:off x="1280160" y="4626864"/>
            <a:ext cx="1463040" cy="109728"/>
          </a:xfrm>
          <a:prstGeom prst="rect">
            <a:avLst/>
          </a:prstGeom>
          <a:noFill/>
          <a:ln/>
        </p:spPr>
        <p:txBody>
          <a:bodyPr wrap="square" lIns="0" tIns="0" rIns="0" bIns="0" rtlCol="0" anchor="ctr">
            <a:noAutofit/>
          </a:bodyPr>
          <a:lstStyle/>
          <a:p>
            <a:pPr marL="0" indent="0" algn="l">
              <a:buNone/>
            </a:pPr>
            <a:r>
              <a:rPr lang="en-US" sz="1400" b="1" dirty="0">
                <a:solidFill>
                  <a:srgbClr val="0E1886"/>
                </a:solidFill>
                <a:latin typeface="Segoe UI" panose="020B0502040204020203" pitchFamily="34" charset="0"/>
                <a:cs typeface="Segoe UI" panose="020B0502040204020203" pitchFamily="34" charset="0"/>
              </a:rPr>
              <a:t>Naive Hold</a:t>
            </a:r>
            <a:endParaRPr lang="en-US" sz="1400" dirty="0">
              <a:latin typeface="Segoe UI" panose="020B0502040204020203" pitchFamily="34" charset="0"/>
              <a:cs typeface="Segoe UI" panose="020B0502040204020203" pitchFamily="34" charset="0"/>
            </a:endParaRPr>
          </a:p>
        </p:txBody>
      </p:sp>
      <p:sp>
        <p:nvSpPr>
          <p:cNvPr id="58" name="Text 55"/>
          <p:cNvSpPr/>
          <p:nvPr/>
        </p:nvSpPr>
        <p:spPr>
          <a:xfrm>
            <a:off x="2834640" y="4626864"/>
            <a:ext cx="2103120" cy="109728"/>
          </a:xfrm>
          <a:prstGeom prst="rect">
            <a:avLst/>
          </a:prstGeom>
          <a:noFill/>
          <a:ln/>
        </p:spPr>
        <p:txBody>
          <a:bodyPr wrap="square" lIns="0" tIns="0" rIns="0" bIns="0" rtlCol="0" anchor="ctr">
            <a:noAutofit/>
          </a:bodyPr>
          <a:lstStyle/>
          <a:p>
            <a:pPr marL="0" indent="0" algn="l">
              <a:buNone/>
            </a:pPr>
            <a:r>
              <a:rPr lang="en-US" sz="1400" dirty="0">
                <a:solidFill>
                  <a:srgbClr val="000000"/>
                </a:solidFill>
                <a:latin typeface="Segoe UI" panose="020B0502040204020203" pitchFamily="34" charset="0"/>
                <a:cs typeface="Segoe UI" panose="020B0502040204020203" pitchFamily="34" charset="0"/>
              </a:rPr>
              <a:t>None</a:t>
            </a:r>
            <a:endParaRPr lang="en-US" sz="1400" dirty="0">
              <a:latin typeface="Segoe UI" panose="020B0502040204020203" pitchFamily="34" charset="0"/>
              <a:cs typeface="Segoe UI" panose="020B0502040204020203" pitchFamily="34" charset="0"/>
            </a:endParaRPr>
          </a:p>
        </p:txBody>
      </p:sp>
      <p:sp>
        <p:nvSpPr>
          <p:cNvPr id="59" name="Text 56"/>
          <p:cNvSpPr/>
          <p:nvPr/>
        </p:nvSpPr>
        <p:spPr>
          <a:xfrm>
            <a:off x="5029200" y="4626864"/>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17.38</a:t>
            </a:r>
            <a:endParaRPr lang="en-US" sz="1400" dirty="0">
              <a:latin typeface="Segoe UI" panose="020B0502040204020203" pitchFamily="34" charset="0"/>
              <a:cs typeface="Segoe UI" panose="020B0502040204020203" pitchFamily="34" charset="0"/>
            </a:endParaRPr>
          </a:p>
        </p:txBody>
      </p:sp>
      <p:sp>
        <p:nvSpPr>
          <p:cNvPr id="60" name="Text 57"/>
          <p:cNvSpPr/>
          <p:nvPr/>
        </p:nvSpPr>
        <p:spPr>
          <a:xfrm>
            <a:off x="6400800" y="4626864"/>
            <a:ext cx="128016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21.03</a:t>
            </a:r>
            <a:endParaRPr lang="en-US" sz="1400" dirty="0">
              <a:latin typeface="Segoe UI" panose="020B0502040204020203" pitchFamily="34" charset="0"/>
              <a:cs typeface="Segoe UI" panose="020B0502040204020203" pitchFamily="34" charset="0"/>
            </a:endParaRPr>
          </a:p>
        </p:txBody>
      </p:sp>
      <p:sp>
        <p:nvSpPr>
          <p:cNvPr id="61" name="Text 58"/>
          <p:cNvSpPr/>
          <p:nvPr/>
        </p:nvSpPr>
        <p:spPr>
          <a:xfrm>
            <a:off x="7772400" y="4626864"/>
            <a:ext cx="1097280" cy="109728"/>
          </a:xfrm>
          <a:prstGeom prst="rect">
            <a:avLst/>
          </a:prstGeom>
          <a:noFill/>
          <a:ln/>
        </p:spPr>
        <p:txBody>
          <a:bodyPr wrap="square" lIns="0" tIns="0" rIns="0" bIns="0"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−2.246</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E3DD-2985-D715-E177-B4809A045E7B}"/>
            </a:ext>
          </a:extLst>
        </p:cNvPr>
        <p:cNvGrpSpPr/>
        <p:nvPr/>
      </p:nvGrpSpPr>
      <p:grpSpPr>
        <a:xfrm>
          <a:off x="0" y="0"/>
          <a:ext cx="0" cy="0"/>
          <a:chOff x="0" y="0"/>
          <a:chExt cx="0" cy="0"/>
        </a:xfrm>
      </p:grpSpPr>
      <p:pic>
        <p:nvPicPr>
          <p:cNvPr id="2" name="Image 0" descr="/mnt/data/nmd_assets/ai_blue_header.png">
            <a:extLst>
              <a:ext uri="{FF2B5EF4-FFF2-40B4-BE49-F238E27FC236}">
                <a16:creationId xmlns:a16="http://schemas.microsoft.com/office/drawing/2014/main" id="{2AF4A8CC-B280-D38C-9315-0554A63D7300}"/>
              </a:ext>
            </a:extLst>
          </p:cNvPr>
          <p:cNvPicPr>
            <a:picLocks noChangeAspect="1"/>
          </p:cNvPicPr>
          <p:nvPr/>
        </p:nvPicPr>
        <p:blipFill>
          <a:blip r:embed="rId3"/>
          <a:stretch>
            <a:fillRect/>
          </a:stretch>
        </p:blipFill>
        <p:spPr>
          <a:xfrm>
            <a:off x="411480" y="146304"/>
            <a:ext cx="1874520" cy="649224"/>
          </a:xfrm>
          <a:prstGeom prst="rect">
            <a:avLst/>
          </a:prstGeom>
        </p:spPr>
      </p:pic>
      <p:sp>
        <p:nvSpPr>
          <p:cNvPr id="8" name="Shape 5">
            <a:extLst>
              <a:ext uri="{FF2B5EF4-FFF2-40B4-BE49-F238E27FC236}">
                <a16:creationId xmlns:a16="http://schemas.microsoft.com/office/drawing/2014/main" id="{B77F9329-11B3-C765-D46E-8A2CB34C2AAC}"/>
              </a:ext>
            </a:extLst>
          </p:cNvPr>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a:extLst>
              <a:ext uri="{FF2B5EF4-FFF2-40B4-BE49-F238E27FC236}">
                <a16:creationId xmlns:a16="http://schemas.microsoft.com/office/drawing/2014/main" id="{CD86457C-4D6A-4567-6B3B-5B6B7798DF98}"/>
              </a:ext>
            </a:extLst>
          </p:cNvPr>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a:extLst>
              <a:ext uri="{FF2B5EF4-FFF2-40B4-BE49-F238E27FC236}">
                <a16:creationId xmlns:a16="http://schemas.microsoft.com/office/drawing/2014/main" id="{A6266351-A2EA-E05A-4B5B-9CCE9B1A182F}"/>
              </a:ext>
            </a:extLst>
          </p:cNvPr>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15</a:t>
            </a:r>
            <a:endParaRPr lang="en-US" sz="650" dirty="0"/>
          </a:p>
        </p:txBody>
      </p:sp>
      <p:sp>
        <p:nvSpPr>
          <p:cNvPr id="11" name="Text 8">
            <a:extLst>
              <a:ext uri="{FF2B5EF4-FFF2-40B4-BE49-F238E27FC236}">
                <a16:creationId xmlns:a16="http://schemas.microsoft.com/office/drawing/2014/main" id="{D4E5B8B3-91F8-8390-8E8B-0B7A0C40C89A}"/>
              </a:ext>
            </a:extLst>
          </p:cNvPr>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Primary results</a:t>
            </a:r>
            <a:endParaRPr lang="en-US" sz="2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13089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16</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Plot Summaries</a:t>
            </a:r>
            <a:endParaRPr lang="en-US" sz="2800" dirty="0">
              <a:latin typeface="Segoe UI" panose="020B0502040204020203" pitchFamily="34" charset="0"/>
              <a:cs typeface="Segoe UI" panose="020B0502040204020203"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17</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Autofit/>
          </a:bodyPr>
          <a:lstStyle/>
          <a:p>
            <a:pPr marL="0" indent="0">
              <a:buNone/>
            </a:pPr>
            <a:r>
              <a:rPr lang="en-US" sz="2800" b="1" dirty="0">
                <a:solidFill>
                  <a:srgbClr val="0E1886"/>
                </a:solidFill>
                <a:latin typeface="Segoe UI" panose="020B0502040204020203" pitchFamily="34" charset="0"/>
                <a:ea typeface="Arial" pitchFamily="34" charset="-122"/>
                <a:cs typeface="Segoe UI" panose="020B0502040204020203" pitchFamily="34" charset="0"/>
              </a:rPr>
              <a:t>Performance vs. stability</a:t>
            </a:r>
            <a:endParaRPr lang="en-US" sz="2800" dirty="0">
              <a:latin typeface="Segoe UI" panose="020B0502040204020203" pitchFamily="34" charset="0"/>
              <a:cs typeface="Segoe UI" panose="020B0502040204020203" pitchFamily="34" charset="0"/>
            </a:endParaRPr>
          </a:p>
        </p:txBody>
      </p:sp>
      <p:pic>
        <p:nvPicPr>
          <p:cNvPr id="13" name="Image 1" descr="/mnt/data/3ed52e29-789b-4098-982a-de14d8804a2a.png"/>
          <p:cNvPicPr>
            <a:picLocks noChangeAspect="1"/>
          </p:cNvPicPr>
          <p:nvPr/>
        </p:nvPicPr>
        <p:blipFill>
          <a:blip r:embed="rId4"/>
          <a:stretch>
            <a:fillRect/>
          </a:stretch>
        </p:blipFill>
        <p:spPr>
          <a:xfrm>
            <a:off x="685800" y="1737360"/>
            <a:ext cx="9098280" cy="4160520"/>
          </a:xfrm>
          <a:prstGeom prst="rect">
            <a:avLst/>
          </a:prstGeom>
        </p:spPr>
      </p:pic>
      <p:sp>
        <p:nvSpPr>
          <p:cNvPr id="14" name="Shape 10"/>
          <p:cNvSpPr/>
          <p:nvPr/>
        </p:nvSpPr>
        <p:spPr>
          <a:xfrm>
            <a:off x="10012680" y="2057400"/>
            <a:ext cx="1417320" cy="2606040"/>
          </a:xfrm>
          <a:prstGeom prst="roundRect">
            <a:avLst>
              <a:gd name="adj" fmla="val 4516"/>
            </a:avLst>
          </a:prstGeom>
          <a:solidFill>
            <a:srgbClr val="FFFFFF">
              <a:alpha val="95000"/>
            </a:srgbClr>
          </a:solidFill>
          <a:ln w="6350">
            <a:solidFill>
              <a:srgbClr val="D5D7DE"/>
            </a:solidFill>
            <a:prstDash val="solid"/>
          </a:ln>
        </p:spPr>
        <p:txBody>
          <a:bodyPr/>
          <a:lstStyle/>
          <a:p>
            <a:endParaRPr lang="es-MX"/>
          </a:p>
        </p:txBody>
      </p:sp>
      <p:sp>
        <p:nvSpPr>
          <p:cNvPr id="15" name="Text 11"/>
          <p:cNvSpPr/>
          <p:nvPr/>
        </p:nvSpPr>
        <p:spPr>
          <a:xfrm>
            <a:off x="10131552" y="2286000"/>
            <a:ext cx="1170432" cy="164592"/>
          </a:xfrm>
          <a:prstGeom prst="rect">
            <a:avLst/>
          </a:prstGeom>
          <a:noFill/>
          <a:ln/>
        </p:spPr>
        <p:txBody>
          <a:bodyPr wrap="square" lIns="0" tIns="0" rIns="0" bIns="0" rtlCol="0" anchor="ctr"/>
          <a:lstStyle/>
          <a:p>
            <a:pPr marL="0" indent="0" algn="ctr">
              <a:buNone/>
            </a:pPr>
            <a:r>
              <a:rPr lang="en-US" sz="1200" b="1" dirty="0">
                <a:solidFill>
                  <a:srgbClr val="0E1886"/>
                </a:solidFill>
              </a:rPr>
              <a:t>Interpretation</a:t>
            </a:r>
            <a:endParaRPr lang="en-US" sz="1200" dirty="0"/>
          </a:p>
        </p:txBody>
      </p:sp>
      <p:sp>
        <p:nvSpPr>
          <p:cNvPr id="16" name="Text 12"/>
          <p:cNvSpPr/>
          <p:nvPr/>
        </p:nvSpPr>
        <p:spPr>
          <a:xfrm>
            <a:off x="10131552" y="2670048"/>
            <a:ext cx="1170432" cy="1508760"/>
          </a:xfrm>
          <a:prstGeom prst="rect">
            <a:avLst/>
          </a:prstGeom>
          <a:noFill/>
          <a:ln/>
        </p:spPr>
        <p:txBody>
          <a:bodyPr wrap="square" lIns="381" tIns="381" rIns="381" bIns="381" rtlCol="0" anchor="ctr">
            <a:normAutofit/>
          </a:bodyPr>
          <a:lstStyle/>
          <a:p>
            <a:pPr marL="0" indent="0" algn="ctr">
              <a:buNone/>
            </a:pPr>
            <a:r>
              <a:rPr lang="en-US" sz="900" dirty="0">
                <a:solidFill>
                  <a:srgbClr val="000000"/>
                </a:solidFill>
              </a:rPr>
              <a:t>Bottom-left is best: lower mean MAE and lower variation across regimes. Some specifications improve mean error but become unstable.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18</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rmAutofit/>
          </a:bodyPr>
          <a:lstStyle/>
          <a:p>
            <a:pPr marL="0" indent="0">
              <a:buNone/>
            </a:pPr>
            <a:r>
              <a:rPr lang="en-US" sz="2400" b="1" dirty="0">
                <a:solidFill>
                  <a:srgbClr val="0E1886"/>
                </a:solidFill>
                <a:latin typeface="Segoe UI" panose="020B0502040204020203" pitchFamily="34" charset="0"/>
                <a:ea typeface="Arial" pitchFamily="34" charset="-122"/>
                <a:cs typeface="Segoe UI" panose="020B0502040204020203" pitchFamily="34" charset="0"/>
              </a:rPr>
              <a:t>Covariate effects differ by architecture</a:t>
            </a:r>
            <a:endParaRPr lang="en-US" sz="2400" dirty="0">
              <a:latin typeface="Segoe UI" panose="020B0502040204020203" pitchFamily="34" charset="0"/>
              <a:cs typeface="Segoe UI" panose="020B0502040204020203" pitchFamily="34" charset="0"/>
            </a:endParaRPr>
          </a:p>
        </p:txBody>
      </p:sp>
      <p:sp>
        <p:nvSpPr>
          <p:cNvPr id="13" name="Shape 10"/>
          <p:cNvSpPr/>
          <p:nvPr/>
        </p:nvSpPr>
        <p:spPr>
          <a:xfrm>
            <a:off x="685800" y="1828800"/>
            <a:ext cx="3337560" cy="2194560"/>
          </a:xfrm>
          <a:prstGeom prst="roundRect">
            <a:avLst>
              <a:gd name="adj" fmla="val 3333"/>
            </a:avLst>
          </a:prstGeom>
          <a:solidFill>
            <a:srgbClr val="F2F3F7"/>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Shape 11"/>
          <p:cNvSpPr/>
          <p:nvPr/>
        </p:nvSpPr>
        <p:spPr>
          <a:xfrm>
            <a:off x="685800" y="1828800"/>
            <a:ext cx="3337560" cy="347472"/>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5" name="Text 12"/>
          <p:cNvSpPr/>
          <p:nvPr/>
        </p:nvSpPr>
        <p:spPr>
          <a:xfrm>
            <a:off x="795528" y="1901952"/>
            <a:ext cx="311810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Ridge</a:t>
            </a:r>
            <a:endParaRPr lang="en-US" sz="1400" dirty="0">
              <a:latin typeface="Segoe UI" panose="020B0502040204020203" pitchFamily="34" charset="0"/>
              <a:cs typeface="Segoe UI" panose="020B0502040204020203" pitchFamily="34" charset="0"/>
            </a:endParaRPr>
          </a:p>
        </p:txBody>
      </p:sp>
      <p:sp>
        <p:nvSpPr>
          <p:cNvPr id="16" name="Text 13"/>
          <p:cNvSpPr/>
          <p:nvPr/>
        </p:nvSpPr>
        <p:spPr>
          <a:xfrm>
            <a:off x="850392" y="2313432"/>
            <a:ext cx="3008376" cy="162763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Best fixed set: all covariates</a:t>
            </a:r>
            <a:endParaRPr lang="en-US" sz="1400" dirty="0">
              <a:latin typeface="Segoe UI" panose="020B0502040204020203" pitchFamily="34" charset="0"/>
              <a:cs typeface="Segoe UI" panose="020B0502040204020203" pitchFamily="34" charset="0"/>
            </a:endParaRPr>
          </a:p>
          <a:p>
            <a:pPr marL="0" indent="0">
              <a:buNone/>
            </a:pP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Interpretation: L2 shrinkage can keep the full information set while reducing noisy coefficients.</a:t>
            </a:r>
            <a:endParaRPr lang="en-US" sz="1400" dirty="0">
              <a:latin typeface="Segoe UI" panose="020B0502040204020203" pitchFamily="34" charset="0"/>
              <a:cs typeface="Segoe UI" panose="020B0502040204020203" pitchFamily="34" charset="0"/>
            </a:endParaRPr>
          </a:p>
        </p:txBody>
      </p:sp>
      <p:sp>
        <p:nvSpPr>
          <p:cNvPr id="17" name="Shape 14"/>
          <p:cNvSpPr/>
          <p:nvPr/>
        </p:nvSpPr>
        <p:spPr>
          <a:xfrm>
            <a:off x="4434840" y="1828800"/>
            <a:ext cx="3337560" cy="2194560"/>
          </a:xfrm>
          <a:prstGeom prst="roundRect">
            <a:avLst>
              <a:gd name="adj" fmla="val 3333"/>
            </a:avLst>
          </a:prstGeom>
          <a:solidFill>
            <a:srgbClr val="F2F3F7"/>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8" name="Shape 15"/>
          <p:cNvSpPr/>
          <p:nvPr/>
        </p:nvSpPr>
        <p:spPr>
          <a:xfrm>
            <a:off x="4434840" y="1828800"/>
            <a:ext cx="3337560" cy="347472"/>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9" name="Text 16"/>
          <p:cNvSpPr/>
          <p:nvPr/>
        </p:nvSpPr>
        <p:spPr>
          <a:xfrm>
            <a:off x="4544568" y="1901952"/>
            <a:ext cx="311810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TFT and FFN</a:t>
            </a:r>
            <a:endParaRPr lang="en-US" sz="1400" dirty="0">
              <a:latin typeface="Segoe UI" panose="020B0502040204020203" pitchFamily="34" charset="0"/>
              <a:cs typeface="Segoe UI" panose="020B0502040204020203" pitchFamily="34" charset="0"/>
            </a:endParaRPr>
          </a:p>
        </p:txBody>
      </p:sp>
      <p:sp>
        <p:nvSpPr>
          <p:cNvPr id="20" name="Text 17"/>
          <p:cNvSpPr/>
          <p:nvPr/>
        </p:nvSpPr>
        <p:spPr>
          <a:xfrm>
            <a:off x="4599432" y="2313432"/>
            <a:ext cx="3008376" cy="162763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Best fixed set: macroeconomic covariates</a:t>
            </a:r>
            <a:endParaRPr lang="en-US" sz="1400" dirty="0">
              <a:latin typeface="Segoe UI" panose="020B0502040204020203" pitchFamily="34" charset="0"/>
              <a:cs typeface="Segoe UI" panose="020B0502040204020203" pitchFamily="34" charset="0"/>
            </a:endParaRPr>
          </a:p>
          <a:p>
            <a:pPr marL="0" indent="0">
              <a:buNone/>
            </a:pP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Interpretation: neural models benefit from a smaller, cleaner signal when data is limited and regimes change.</a:t>
            </a:r>
            <a:endParaRPr lang="en-US" sz="1400" dirty="0">
              <a:latin typeface="Segoe UI" panose="020B0502040204020203" pitchFamily="34" charset="0"/>
              <a:cs typeface="Segoe UI" panose="020B0502040204020203" pitchFamily="34" charset="0"/>
            </a:endParaRPr>
          </a:p>
        </p:txBody>
      </p:sp>
      <p:sp>
        <p:nvSpPr>
          <p:cNvPr id="21" name="Shape 18"/>
          <p:cNvSpPr/>
          <p:nvPr/>
        </p:nvSpPr>
        <p:spPr>
          <a:xfrm>
            <a:off x="8183880" y="1828800"/>
            <a:ext cx="3337560" cy="2194560"/>
          </a:xfrm>
          <a:prstGeom prst="roundRect">
            <a:avLst>
              <a:gd name="adj" fmla="val 3333"/>
            </a:avLst>
          </a:prstGeom>
          <a:solidFill>
            <a:srgbClr val="F2F3F7"/>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2" name="Shape 19"/>
          <p:cNvSpPr/>
          <p:nvPr/>
        </p:nvSpPr>
        <p:spPr>
          <a:xfrm>
            <a:off x="8183880" y="1828800"/>
            <a:ext cx="3337560" cy="347472"/>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3" name="Text 20"/>
          <p:cNvSpPr/>
          <p:nvPr/>
        </p:nvSpPr>
        <p:spPr>
          <a:xfrm>
            <a:off x="8293608" y="1901952"/>
            <a:ext cx="311810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XGBoost</a:t>
            </a:r>
            <a:endParaRPr lang="en-US" sz="1400" dirty="0">
              <a:latin typeface="Segoe UI" panose="020B0502040204020203" pitchFamily="34" charset="0"/>
              <a:cs typeface="Segoe UI" panose="020B0502040204020203" pitchFamily="34" charset="0"/>
            </a:endParaRPr>
          </a:p>
        </p:txBody>
      </p:sp>
      <p:sp>
        <p:nvSpPr>
          <p:cNvPr id="24" name="Text 21"/>
          <p:cNvSpPr/>
          <p:nvPr/>
        </p:nvSpPr>
        <p:spPr>
          <a:xfrm>
            <a:off x="8348472" y="2313432"/>
            <a:ext cx="3008376" cy="162763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Best fixed set: all except inflation</a:t>
            </a:r>
            <a:endParaRPr lang="en-US" sz="1400" dirty="0">
              <a:latin typeface="Segoe UI" panose="020B0502040204020203" pitchFamily="34" charset="0"/>
              <a:cs typeface="Segoe UI" panose="020B0502040204020203" pitchFamily="34" charset="0"/>
            </a:endParaRPr>
          </a:p>
          <a:p>
            <a:pPr marL="0" indent="0">
              <a:buNone/>
            </a:pP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Interpretation: tree models may be sensitive to unstable or regime-specific covariate behavior.</a:t>
            </a:r>
            <a:endParaRPr lang="en-US" sz="1400" dirty="0">
              <a:latin typeface="Segoe UI" panose="020B0502040204020203" pitchFamily="34" charset="0"/>
              <a:cs typeface="Segoe UI" panose="020B0502040204020203" pitchFamily="34" charset="0"/>
            </a:endParaRPr>
          </a:p>
        </p:txBody>
      </p:sp>
      <p:sp>
        <p:nvSpPr>
          <p:cNvPr id="25" name="Shape 22"/>
          <p:cNvSpPr/>
          <p:nvPr/>
        </p:nvSpPr>
        <p:spPr>
          <a:xfrm>
            <a:off x="1051560" y="4892040"/>
            <a:ext cx="10058400" cy="594360"/>
          </a:xfrm>
          <a:prstGeom prst="roundRect">
            <a:avLst>
              <a:gd name="adj" fmla="val 12308"/>
            </a:avLst>
          </a:prstGeom>
          <a:solidFill>
            <a:srgbClr val="F2F3F7"/>
          </a:solidFill>
          <a:ln w="1270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6" name="Text 23"/>
          <p:cNvSpPr/>
          <p:nvPr/>
        </p:nvSpPr>
        <p:spPr>
          <a:xfrm>
            <a:off x="1234440" y="5093208"/>
            <a:ext cx="9692640" cy="128016"/>
          </a:xfrm>
          <a:prstGeom prst="rect">
            <a:avLst/>
          </a:prstGeom>
          <a:noFill/>
          <a:ln/>
        </p:spPr>
        <p:txBody>
          <a:bodyPr wrap="square" lIns="0" tIns="0" rIns="0" bIns="0" rtlCol="0" anchor="ctr">
            <a:noAutofit/>
          </a:bodyP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Caveat: covariate rankings are predictive, not causal. A good forecasting input is not necessarily a causal driver.</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19</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rmAutofit/>
          </a:bodyPr>
          <a:lstStyle/>
          <a:p>
            <a:pPr marL="0" indent="0">
              <a:buNone/>
            </a:pPr>
            <a:r>
              <a:rPr lang="en-US" sz="2400" b="1" dirty="0">
                <a:solidFill>
                  <a:srgbClr val="0E1886"/>
                </a:solidFill>
                <a:latin typeface="Segoe UI" panose="020B0502040204020203" pitchFamily="34" charset="0"/>
                <a:ea typeface="Arial" pitchFamily="34" charset="-122"/>
                <a:cs typeface="Segoe UI" panose="020B0502040204020203" pitchFamily="34" charset="0"/>
              </a:rPr>
              <a:t>Forecast-path comparison plots to generate</a:t>
            </a:r>
            <a:endParaRPr lang="en-US" sz="2400" dirty="0">
              <a:latin typeface="Segoe UI" panose="020B0502040204020203" pitchFamily="34" charset="0"/>
              <a:cs typeface="Segoe UI" panose="020B0502040204020203" pitchFamily="34" charset="0"/>
            </a:endParaRPr>
          </a:p>
        </p:txBody>
      </p:sp>
      <p:sp>
        <p:nvSpPr>
          <p:cNvPr id="25" name="Shape 22"/>
          <p:cNvSpPr/>
          <p:nvPr/>
        </p:nvSpPr>
        <p:spPr>
          <a:xfrm>
            <a:off x="1097280" y="4754880"/>
            <a:ext cx="9875520" cy="0"/>
          </a:xfrm>
          <a:prstGeom prst="line">
            <a:avLst/>
          </a:prstGeom>
          <a:noFill/>
          <a:ln w="15240">
            <a:solidFill>
              <a:srgbClr val="B8BDD6"/>
            </a:solidFill>
            <a:prstDash val="solid"/>
          </a:ln>
        </p:spPr>
        <p:txBody>
          <a:bodyPr/>
          <a:lstStyle/>
          <a:p>
            <a:endParaRPr lang="es-MX">
              <a:latin typeface="Segoe UI" panose="020B0502040204020203" pitchFamily="34" charset="0"/>
              <a:cs typeface="Segoe UI" panose="020B0502040204020203" pitchFamily="34" charset="0"/>
            </a:endParaRPr>
          </a:p>
        </p:txBody>
      </p:sp>
      <p:sp>
        <p:nvSpPr>
          <p:cNvPr id="26" name="Text 23"/>
          <p:cNvSpPr/>
          <p:nvPr/>
        </p:nvSpPr>
        <p:spPr>
          <a:xfrm>
            <a:off x="1097280" y="5010912"/>
            <a:ext cx="9875520" cy="22860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Plot window: [t₀ − 100 days, t₀ + 100 forecast observations] with a vertical dashed line at t₀.</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sz="1400"/>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20</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rmAutofit/>
          </a:bodyPr>
          <a:lstStyle/>
          <a:p>
            <a:pPr marL="0" indent="0">
              <a:buNone/>
            </a:pPr>
            <a:r>
              <a:rPr lang="en-US" sz="2400" b="1" dirty="0">
                <a:solidFill>
                  <a:srgbClr val="0E1886"/>
                </a:solidFill>
                <a:latin typeface="Segoe UI" panose="020B0502040204020203" pitchFamily="34" charset="0"/>
                <a:ea typeface="Arial" pitchFamily="34" charset="-122"/>
                <a:cs typeface="Segoe UI" panose="020B0502040204020203" pitchFamily="34" charset="0"/>
              </a:rPr>
              <a:t>Discussion: why complexity did not guarantee better forecasts</a:t>
            </a:r>
            <a:endParaRPr lang="en-US" sz="2400" dirty="0">
              <a:latin typeface="Segoe UI" panose="020B0502040204020203" pitchFamily="34" charset="0"/>
              <a:cs typeface="Segoe UI" panose="020B0502040204020203" pitchFamily="34" charset="0"/>
            </a:endParaRPr>
          </a:p>
        </p:txBody>
      </p:sp>
      <p:sp>
        <p:nvSpPr>
          <p:cNvPr id="13" name="Shape 10"/>
          <p:cNvSpPr/>
          <p:nvPr/>
        </p:nvSpPr>
        <p:spPr>
          <a:xfrm>
            <a:off x="731520" y="1965960"/>
            <a:ext cx="3246120" cy="1143000"/>
          </a:xfrm>
          <a:prstGeom prst="roundRect">
            <a:avLst>
              <a:gd name="adj" fmla="val 5600"/>
            </a:avLst>
          </a:prstGeom>
          <a:solidFill>
            <a:srgbClr val="E8ECFF"/>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Text 11"/>
          <p:cNvSpPr/>
          <p:nvPr/>
        </p:nvSpPr>
        <p:spPr>
          <a:xfrm>
            <a:off x="868680" y="2130552"/>
            <a:ext cx="297180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High persistence</a:t>
            </a:r>
            <a:endParaRPr lang="en-US" sz="1400" dirty="0">
              <a:latin typeface="Segoe UI" panose="020B0502040204020203" pitchFamily="34" charset="0"/>
              <a:cs typeface="Segoe UI" panose="020B0502040204020203" pitchFamily="34" charset="0"/>
            </a:endParaRPr>
          </a:p>
        </p:txBody>
      </p:sp>
      <p:sp>
        <p:nvSpPr>
          <p:cNvPr id="15" name="Text 12"/>
          <p:cNvSpPr/>
          <p:nvPr/>
        </p:nvSpPr>
        <p:spPr>
          <a:xfrm>
            <a:off x="932688" y="2450592"/>
            <a:ext cx="2834640" cy="411480"/>
          </a:xfrm>
          <a:prstGeom prst="rect">
            <a:avLst/>
          </a:prstGeom>
          <a:noFill/>
          <a:ln/>
        </p:spPr>
        <p:txBody>
          <a:bodyPr wrap="square" lIns="381" tIns="381" rIns="381" bIns="381"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Deposit levels move slowly; simple recent-history benchmarks are already strong.</a:t>
            </a:r>
            <a:endParaRPr lang="en-US" sz="1400" dirty="0">
              <a:latin typeface="Segoe UI" panose="020B0502040204020203" pitchFamily="34" charset="0"/>
              <a:cs typeface="Segoe UI" panose="020B0502040204020203" pitchFamily="34" charset="0"/>
            </a:endParaRPr>
          </a:p>
        </p:txBody>
      </p:sp>
      <p:sp>
        <p:nvSpPr>
          <p:cNvPr id="16" name="Shape 13"/>
          <p:cNvSpPr/>
          <p:nvPr/>
        </p:nvSpPr>
        <p:spPr>
          <a:xfrm>
            <a:off x="4480560" y="1965960"/>
            <a:ext cx="3246120" cy="1143000"/>
          </a:xfrm>
          <a:prstGeom prst="roundRect">
            <a:avLst>
              <a:gd name="adj" fmla="val 5600"/>
            </a:avLst>
          </a:prstGeom>
          <a:solidFill>
            <a:srgbClr val="F7F8FB"/>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7" name="Text 14"/>
          <p:cNvSpPr/>
          <p:nvPr/>
        </p:nvSpPr>
        <p:spPr>
          <a:xfrm>
            <a:off x="4617720" y="2130552"/>
            <a:ext cx="297180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Unknown future covariates</a:t>
            </a:r>
            <a:endParaRPr lang="en-US" sz="1400" dirty="0">
              <a:latin typeface="Segoe UI" panose="020B0502040204020203" pitchFamily="34" charset="0"/>
              <a:cs typeface="Segoe UI" panose="020B0502040204020203" pitchFamily="34" charset="0"/>
            </a:endParaRPr>
          </a:p>
        </p:txBody>
      </p:sp>
      <p:sp>
        <p:nvSpPr>
          <p:cNvPr id="18" name="Text 15"/>
          <p:cNvSpPr/>
          <p:nvPr/>
        </p:nvSpPr>
        <p:spPr>
          <a:xfrm>
            <a:off x="4681728" y="2450592"/>
            <a:ext cx="2834640" cy="411480"/>
          </a:xfrm>
          <a:prstGeom prst="rect">
            <a:avLst/>
          </a:prstGeom>
          <a:noFill/>
          <a:ln/>
        </p:spPr>
        <p:txBody>
          <a:bodyPr wrap="square" lIns="381" tIns="381" rIns="381" bIns="381"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ML models cannot exploit future rates, inflation, or market paths without scenario assumptions.</a:t>
            </a:r>
            <a:endParaRPr lang="en-US" sz="1400" dirty="0">
              <a:latin typeface="Segoe UI" panose="020B0502040204020203" pitchFamily="34" charset="0"/>
              <a:cs typeface="Segoe UI" panose="020B0502040204020203" pitchFamily="34" charset="0"/>
            </a:endParaRPr>
          </a:p>
        </p:txBody>
      </p:sp>
      <p:sp>
        <p:nvSpPr>
          <p:cNvPr id="19" name="Shape 16"/>
          <p:cNvSpPr/>
          <p:nvPr/>
        </p:nvSpPr>
        <p:spPr>
          <a:xfrm>
            <a:off x="8229600" y="1965960"/>
            <a:ext cx="3246120" cy="1143000"/>
          </a:xfrm>
          <a:prstGeom prst="roundRect">
            <a:avLst>
              <a:gd name="adj" fmla="val 5600"/>
            </a:avLst>
          </a:prstGeom>
          <a:solidFill>
            <a:srgbClr val="E8ECFF"/>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0" name="Text 17"/>
          <p:cNvSpPr/>
          <p:nvPr/>
        </p:nvSpPr>
        <p:spPr>
          <a:xfrm>
            <a:off x="8366760" y="2130552"/>
            <a:ext cx="297180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Accumulated errors</a:t>
            </a:r>
            <a:endParaRPr lang="en-US" sz="1400" dirty="0">
              <a:latin typeface="Segoe UI" panose="020B0502040204020203" pitchFamily="34" charset="0"/>
              <a:cs typeface="Segoe UI" panose="020B0502040204020203" pitchFamily="34" charset="0"/>
            </a:endParaRPr>
          </a:p>
        </p:txBody>
      </p:sp>
      <p:sp>
        <p:nvSpPr>
          <p:cNvPr id="21" name="Text 18"/>
          <p:cNvSpPr/>
          <p:nvPr/>
        </p:nvSpPr>
        <p:spPr>
          <a:xfrm>
            <a:off x="8430768" y="2450592"/>
            <a:ext cx="2834640" cy="411480"/>
          </a:xfrm>
          <a:prstGeom prst="rect">
            <a:avLst/>
          </a:prstGeom>
          <a:noFill/>
          <a:ln/>
        </p:spPr>
        <p:txBody>
          <a:bodyPr wrap="square" lIns="381" tIns="381" rIns="381" bIns="381"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Small daily change errors compound over a 100-day reconstructed level forecast.</a:t>
            </a:r>
            <a:endParaRPr lang="en-US" sz="1400" dirty="0">
              <a:latin typeface="Segoe UI" panose="020B0502040204020203" pitchFamily="34" charset="0"/>
              <a:cs typeface="Segoe UI" panose="020B0502040204020203" pitchFamily="34" charset="0"/>
            </a:endParaRPr>
          </a:p>
        </p:txBody>
      </p:sp>
      <p:sp>
        <p:nvSpPr>
          <p:cNvPr id="22" name="Shape 19"/>
          <p:cNvSpPr/>
          <p:nvPr/>
        </p:nvSpPr>
        <p:spPr>
          <a:xfrm>
            <a:off x="2651760" y="4251960"/>
            <a:ext cx="3246120" cy="1143000"/>
          </a:xfrm>
          <a:prstGeom prst="roundRect">
            <a:avLst>
              <a:gd name="adj" fmla="val 5600"/>
            </a:avLst>
          </a:prstGeom>
          <a:solidFill>
            <a:srgbClr val="F7F8FB"/>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3" name="Text 20"/>
          <p:cNvSpPr/>
          <p:nvPr/>
        </p:nvSpPr>
        <p:spPr>
          <a:xfrm>
            <a:off x="2788920" y="4416552"/>
            <a:ext cx="297180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Extrapolation limits</a:t>
            </a:r>
            <a:endParaRPr lang="en-US" sz="1400" dirty="0">
              <a:latin typeface="Segoe UI" panose="020B0502040204020203" pitchFamily="34" charset="0"/>
              <a:cs typeface="Segoe UI" panose="020B0502040204020203" pitchFamily="34" charset="0"/>
            </a:endParaRPr>
          </a:p>
        </p:txBody>
      </p:sp>
      <p:sp>
        <p:nvSpPr>
          <p:cNvPr id="24" name="Text 21"/>
          <p:cNvSpPr/>
          <p:nvPr/>
        </p:nvSpPr>
        <p:spPr>
          <a:xfrm>
            <a:off x="2852928" y="4736592"/>
            <a:ext cx="2834640" cy="411480"/>
          </a:xfrm>
          <a:prstGeom prst="rect">
            <a:avLst/>
          </a:prstGeom>
          <a:noFill/>
          <a:ln/>
        </p:spPr>
        <p:txBody>
          <a:bodyPr wrap="square" lIns="381" tIns="381" rIns="381" bIns="381"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Tree and neural models can struggle when the future regime differs from training patterns.</a:t>
            </a:r>
            <a:endParaRPr lang="en-US" sz="1400" dirty="0">
              <a:latin typeface="Segoe UI" panose="020B0502040204020203" pitchFamily="34" charset="0"/>
              <a:cs typeface="Segoe UI" panose="020B0502040204020203" pitchFamily="34" charset="0"/>
            </a:endParaRPr>
          </a:p>
        </p:txBody>
      </p:sp>
      <p:sp>
        <p:nvSpPr>
          <p:cNvPr id="25" name="Shape 22"/>
          <p:cNvSpPr/>
          <p:nvPr/>
        </p:nvSpPr>
        <p:spPr>
          <a:xfrm>
            <a:off x="6492240" y="4251960"/>
            <a:ext cx="3246120" cy="1143000"/>
          </a:xfrm>
          <a:prstGeom prst="roundRect">
            <a:avLst>
              <a:gd name="adj" fmla="val 5600"/>
            </a:avLst>
          </a:prstGeom>
          <a:solidFill>
            <a:srgbClr val="E8ECFF"/>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26" name="Text 23"/>
          <p:cNvSpPr/>
          <p:nvPr/>
        </p:nvSpPr>
        <p:spPr>
          <a:xfrm>
            <a:off x="6629400" y="4416552"/>
            <a:ext cx="2971800" cy="182880"/>
          </a:xfrm>
          <a:prstGeom prst="rect">
            <a:avLst/>
          </a:prstGeom>
          <a:noFill/>
          <a:ln/>
        </p:spPr>
        <p:txBody>
          <a:bodyPr wrap="square" lIns="0" tIns="0" rIns="0" bIns="0" rtlCol="0" anchor="ctr"/>
          <a:lstStyle/>
          <a:p>
            <a:pPr marL="0" indent="0" algn="ctr">
              <a:buNone/>
            </a:pPr>
            <a:r>
              <a:rPr lang="en-US" sz="1400" b="1" dirty="0">
                <a:solidFill>
                  <a:srgbClr val="0E1886"/>
                </a:solidFill>
                <a:latin typeface="Segoe UI" panose="020B0502040204020203" pitchFamily="34" charset="0"/>
                <a:cs typeface="Segoe UI" panose="020B0502040204020203" pitchFamily="34" charset="0"/>
              </a:rPr>
              <a:t>Ridge advantage</a:t>
            </a:r>
            <a:endParaRPr lang="en-US" sz="1400" dirty="0">
              <a:latin typeface="Segoe UI" panose="020B0502040204020203" pitchFamily="34" charset="0"/>
              <a:cs typeface="Segoe UI" panose="020B0502040204020203" pitchFamily="34" charset="0"/>
            </a:endParaRPr>
          </a:p>
        </p:txBody>
      </p:sp>
      <p:sp>
        <p:nvSpPr>
          <p:cNvPr id="27" name="Text 24"/>
          <p:cNvSpPr/>
          <p:nvPr/>
        </p:nvSpPr>
        <p:spPr>
          <a:xfrm>
            <a:off x="6693408" y="4736592"/>
            <a:ext cx="2834640" cy="411480"/>
          </a:xfrm>
          <a:prstGeom prst="rect">
            <a:avLst/>
          </a:prstGeom>
          <a:noFill/>
          <a:ln/>
        </p:spPr>
        <p:txBody>
          <a:bodyPr wrap="square" lIns="381" tIns="381" rIns="381" bIns="381" rtlCol="0" anchor="ctr">
            <a:noAutofit/>
          </a:bodyPr>
          <a:lstStyle/>
          <a:p>
            <a:pPr marL="0" indent="0" algn="ctr">
              <a:buNone/>
            </a:pPr>
            <a:r>
              <a:rPr lang="en-US" sz="1400" dirty="0">
                <a:solidFill>
                  <a:srgbClr val="000000"/>
                </a:solidFill>
                <a:latin typeface="Segoe UI" panose="020B0502040204020203" pitchFamily="34" charset="0"/>
                <a:cs typeface="Segoe UI" panose="020B0502040204020203" pitchFamily="34" charset="0"/>
              </a:rPr>
              <a:t>Regularization preserves useful information while avoiding overly flexible fits.</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mnt/data/nmd_assets/ai_blue_header.png"/>
          <p:cNvPicPr>
            <a:picLocks noChangeAspect="1"/>
          </p:cNvPicPr>
          <p:nvPr/>
        </p:nvPicPr>
        <p:blipFill>
          <a:blip r:embed="rId3"/>
          <a:stretch>
            <a:fillRect/>
          </a:stretch>
        </p:blipFill>
        <p:spPr>
          <a:xfrm>
            <a:off x="411480" y="146304"/>
            <a:ext cx="1874520" cy="649224"/>
          </a:xfrm>
          <a:prstGeom prst="rect">
            <a:avLst/>
          </a:prstGeom>
        </p:spPr>
      </p:pic>
      <p:sp>
        <p:nvSpPr>
          <p:cNvPr id="8" name="Shape 5"/>
          <p:cNvSpPr/>
          <p:nvPr/>
        </p:nvSpPr>
        <p:spPr>
          <a:xfrm>
            <a:off x="411480" y="6483096"/>
            <a:ext cx="11247120" cy="0"/>
          </a:xfrm>
          <a:prstGeom prst="line">
            <a:avLst/>
          </a:prstGeom>
          <a:noFill/>
          <a:ln w="8890">
            <a:solidFill>
              <a:srgbClr val="A6A6A6"/>
            </a:solidFill>
            <a:prstDash val="solid"/>
          </a:ln>
        </p:spPr>
        <p:txBody>
          <a:bodyPr/>
          <a:lstStyle/>
          <a:p>
            <a:endParaRPr lang="es-MX"/>
          </a:p>
        </p:txBody>
      </p:sp>
      <p:sp>
        <p:nvSpPr>
          <p:cNvPr id="9" name="Text 6"/>
          <p:cNvSpPr/>
          <p:nvPr/>
        </p:nvSpPr>
        <p:spPr>
          <a:xfrm>
            <a:off x="411480" y="6565392"/>
            <a:ext cx="2743200" cy="137160"/>
          </a:xfrm>
          <a:prstGeom prst="rect">
            <a:avLst/>
          </a:prstGeom>
          <a:noFill/>
          <a:ln/>
        </p:spPr>
        <p:txBody>
          <a:bodyPr wrap="square" lIns="0" tIns="0" rIns="0" bIns="0" rtlCol="0" anchor="ctr"/>
          <a:lstStyle/>
          <a:p>
            <a:pPr marL="0" indent="0">
              <a:buNone/>
            </a:pPr>
            <a:r>
              <a:rPr lang="en-US" sz="650" dirty="0">
                <a:solidFill>
                  <a:srgbClr val="666666"/>
                </a:solidFill>
              </a:rPr>
              <a:t>LMU Munich | Advanced AI</a:t>
            </a:r>
            <a:endParaRPr lang="en-US" sz="650" dirty="0"/>
          </a:p>
        </p:txBody>
      </p:sp>
      <p:sp>
        <p:nvSpPr>
          <p:cNvPr id="10" name="Text 7"/>
          <p:cNvSpPr/>
          <p:nvPr/>
        </p:nvSpPr>
        <p:spPr>
          <a:xfrm>
            <a:off x="11384280" y="6565392"/>
            <a:ext cx="320040" cy="137160"/>
          </a:xfrm>
          <a:prstGeom prst="rect">
            <a:avLst/>
          </a:prstGeom>
          <a:noFill/>
          <a:ln/>
        </p:spPr>
        <p:txBody>
          <a:bodyPr wrap="square" lIns="0" tIns="0" rIns="0" bIns="0" rtlCol="0" anchor="ctr"/>
          <a:lstStyle/>
          <a:p>
            <a:pPr marL="0" indent="0" algn="r">
              <a:buNone/>
            </a:pPr>
            <a:r>
              <a:rPr lang="en-US" sz="650" dirty="0">
                <a:solidFill>
                  <a:srgbClr val="666666"/>
                </a:solidFill>
              </a:rPr>
              <a:t>21</a:t>
            </a:r>
            <a:endParaRPr lang="en-US" sz="650" dirty="0"/>
          </a:p>
        </p:txBody>
      </p:sp>
      <p:sp>
        <p:nvSpPr>
          <p:cNvPr id="11" name="Text 8"/>
          <p:cNvSpPr/>
          <p:nvPr/>
        </p:nvSpPr>
        <p:spPr>
          <a:xfrm>
            <a:off x="548640" y="932688"/>
            <a:ext cx="11064240" cy="384048"/>
          </a:xfrm>
          <a:prstGeom prst="rect">
            <a:avLst/>
          </a:prstGeom>
          <a:noFill/>
          <a:ln/>
        </p:spPr>
        <p:txBody>
          <a:bodyPr wrap="square" lIns="254" tIns="254" rIns="254" bIns="254" rtlCol="0" anchor="ctr">
            <a:normAutofit/>
          </a:bodyPr>
          <a:lstStyle/>
          <a:p>
            <a:pPr marL="0" indent="0">
              <a:buNone/>
            </a:pPr>
            <a:r>
              <a:rPr lang="en-US" sz="2400" b="1" dirty="0">
                <a:solidFill>
                  <a:srgbClr val="0E1886"/>
                </a:solidFill>
                <a:latin typeface="Segoe UI" panose="020B0502040204020203" pitchFamily="34" charset="0"/>
                <a:ea typeface="Arial" pitchFamily="34" charset="-122"/>
                <a:cs typeface="Segoe UI" panose="020B0502040204020203" pitchFamily="34" charset="0"/>
              </a:rPr>
              <a:t>Limitations and future work</a:t>
            </a:r>
            <a:endParaRPr lang="en-US" sz="2400" dirty="0">
              <a:latin typeface="Segoe UI" panose="020B0502040204020203" pitchFamily="34" charset="0"/>
              <a:cs typeface="Segoe UI" panose="020B0502040204020203" pitchFamily="34" charset="0"/>
            </a:endParaRPr>
          </a:p>
        </p:txBody>
      </p:sp>
      <p:sp>
        <p:nvSpPr>
          <p:cNvPr id="13" name="Shape 10"/>
          <p:cNvSpPr/>
          <p:nvPr/>
        </p:nvSpPr>
        <p:spPr>
          <a:xfrm>
            <a:off x="822960" y="1920240"/>
            <a:ext cx="4937760" cy="2834640"/>
          </a:xfrm>
          <a:prstGeom prst="roundRect">
            <a:avLst>
              <a:gd name="adj" fmla="val 2581"/>
            </a:avLst>
          </a:prstGeom>
          <a:solidFill>
            <a:srgbClr val="F2F3F7"/>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4" name="Shape 11"/>
          <p:cNvSpPr/>
          <p:nvPr/>
        </p:nvSpPr>
        <p:spPr>
          <a:xfrm>
            <a:off x="822960" y="1920240"/>
            <a:ext cx="4937760" cy="347472"/>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5" name="Text 12"/>
          <p:cNvSpPr/>
          <p:nvPr/>
        </p:nvSpPr>
        <p:spPr>
          <a:xfrm>
            <a:off x="932688" y="1993392"/>
            <a:ext cx="471830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Limitations</a:t>
            </a:r>
            <a:endParaRPr lang="en-US" sz="1400" dirty="0">
              <a:latin typeface="Segoe UI" panose="020B0502040204020203" pitchFamily="34" charset="0"/>
              <a:cs typeface="Segoe UI" panose="020B0502040204020203" pitchFamily="34" charset="0"/>
            </a:endParaRPr>
          </a:p>
        </p:txBody>
      </p:sp>
      <p:sp>
        <p:nvSpPr>
          <p:cNvPr id="16" name="Text 13"/>
          <p:cNvSpPr/>
          <p:nvPr/>
        </p:nvSpPr>
        <p:spPr>
          <a:xfrm>
            <a:off x="987552" y="2404872"/>
            <a:ext cx="4608576" cy="226771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 Household overnight deposits are a public proxy, not internal bank-level NMD data.</a:t>
            </a: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 Four rolling origins are descriptive rather than statistically definitive.</a:t>
            </a: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 Future covariate paths are not modeled.</a:t>
            </a:r>
            <a:endParaRPr lang="en-US" sz="1400" dirty="0">
              <a:latin typeface="Segoe UI" panose="020B0502040204020203" pitchFamily="34" charset="0"/>
              <a:cs typeface="Segoe UI" panose="020B0502040204020203" pitchFamily="34" charset="0"/>
            </a:endParaRPr>
          </a:p>
        </p:txBody>
      </p:sp>
      <p:sp>
        <p:nvSpPr>
          <p:cNvPr id="17" name="Shape 14"/>
          <p:cNvSpPr/>
          <p:nvPr/>
        </p:nvSpPr>
        <p:spPr>
          <a:xfrm>
            <a:off x="6400800" y="1920240"/>
            <a:ext cx="4937760" cy="2834640"/>
          </a:xfrm>
          <a:prstGeom prst="roundRect">
            <a:avLst>
              <a:gd name="adj" fmla="val 2581"/>
            </a:avLst>
          </a:prstGeom>
          <a:solidFill>
            <a:srgbClr val="F2F3F7"/>
          </a:solidFill>
          <a:ln w="6350">
            <a:solidFill>
              <a:srgbClr val="D5D7DE"/>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8" name="Shape 15"/>
          <p:cNvSpPr/>
          <p:nvPr/>
        </p:nvSpPr>
        <p:spPr>
          <a:xfrm>
            <a:off x="6400800" y="1920240"/>
            <a:ext cx="4937760" cy="347472"/>
          </a:xfrm>
          <a:prstGeom prst="rect">
            <a:avLst/>
          </a:prstGeom>
          <a:solidFill>
            <a:srgbClr val="0E1886"/>
          </a:solidFill>
          <a:ln w="12700">
            <a:solidFill>
              <a:srgbClr val="0E1886"/>
            </a:solidFill>
            <a:prstDash val="solid"/>
          </a:ln>
        </p:spPr>
        <p:txBody>
          <a:bodyPr/>
          <a:lstStyle/>
          <a:p>
            <a:endParaRPr lang="es-MX" sz="1400">
              <a:latin typeface="Segoe UI" panose="020B0502040204020203" pitchFamily="34" charset="0"/>
              <a:cs typeface="Segoe UI" panose="020B0502040204020203" pitchFamily="34" charset="0"/>
            </a:endParaRPr>
          </a:p>
        </p:txBody>
      </p:sp>
      <p:sp>
        <p:nvSpPr>
          <p:cNvPr id="19" name="Text 16"/>
          <p:cNvSpPr/>
          <p:nvPr/>
        </p:nvSpPr>
        <p:spPr>
          <a:xfrm>
            <a:off x="6510528" y="1993392"/>
            <a:ext cx="4718304" cy="164592"/>
          </a:xfrm>
          <a:prstGeom prst="rect">
            <a:avLst/>
          </a:prstGeom>
          <a:noFill/>
          <a:ln/>
        </p:spPr>
        <p:txBody>
          <a:bodyPr wrap="square" lIns="0" tIns="0" rIns="0" bIns="0" rtlCol="0" anchor="ctr"/>
          <a:lstStyle/>
          <a:p>
            <a:pPr marL="0" indent="0">
              <a:buNone/>
            </a:pPr>
            <a:r>
              <a:rPr lang="en-US" sz="1400" b="1" dirty="0">
                <a:solidFill>
                  <a:srgbClr val="FFFFFF"/>
                </a:solidFill>
                <a:latin typeface="Segoe UI" panose="020B0502040204020203" pitchFamily="34" charset="0"/>
                <a:cs typeface="Segoe UI" panose="020B0502040204020203" pitchFamily="34" charset="0"/>
              </a:rPr>
              <a:t>Future work</a:t>
            </a:r>
            <a:endParaRPr lang="en-US" sz="1400" dirty="0">
              <a:latin typeface="Segoe UI" panose="020B0502040204020203" pitchFamily="34" charset="0"/>
              <a:cs typeface="Segoe UI" panose="020B0502040204020203" pitchFamily="34" charset="0"/>
            </a:endParaRPr>
          </a:p>
        </p:txBody>
      </p:sp>
      <p:sp>
        <p:nvSpPr>
          <p:cNvPr id="20" name="Text 17"/>
          <p:cNvSpPr/>
          <p:nvPr/>
        </p:nvSpPr>
        <p:spPr>
          <a:xfrm>
            <a:off x="6565392" y="2404872"/>
            <a:ext cx="4608576" cy="2267712"/>
          </a:xfrm>
          <a:prstGeom prst="rect">
            <a:avLst/>
          </a:prstGeom>
          <a:noFill/>
          <a:ln/>
        </p:spPr>
        <p:txBody>
          <a:bodyPr wrap="square" lIns="381" tIns="381" rIns="381" bIns="381" rtlCol="0" anchor="ctr">
            <a:normAutofit/>
          </a:bodyPr>
          <a:lstStyle/>
          <a:p>
            <a:pPr marL="0" indent="0">
              <a:buNone/>
            </a:pPr>
            <a:r>
              <a:rPr lang="en-US" sz="1400" dirty="0">
                <a:solidFill>
                  <a:srgbClr val="000000"/>
                </a:solidFill>
                <a:latin typeface="Segoe UI" panose="020B0502040204020203" pitchFamily="34" charset="0"/>
                <a:cs typeface="Segoe UI" panose="020B0502040204020203" pitchFamily="34" charset="0"/>
              </a:rPr>
              <a:t>• Scenario-based paths for rates, inflation, and market covariates.</a:t>
            </a: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 Hybrid models: linear baseline plus nonlinear residual correction.</a:t>
            </a:r>
            <a:endParaRPr lang="en-US" sz="1400" dirty="0">
              <a:latin typeface="Segoe UI" panose="020B0502040204020203" pitchFamily="34" charset="0"/>
              <a:cs typeface="Segoe UI" panose="020B0502040204020203" pitchFamily="34" charset="0"/>
            </a:endParaRPr>
          </a:p>
          <a:p>
            <a:pPr marL="0" indent="0">
              <a:buNone/>
            </a:pPr>
            <a:r>
              <a:rPr lang="en-US" sz="1400" dirty="0">
                <a:solidFill>
                  <a:srgbClr val="000000"/>
                </a:solidFill>
                <a:latin typeface="Segoe UI" panose="020B0502040204020203" pitchFamily="34" charset="0"/>
                <a:cs typeface="Segoe UI" panose="020B0502040204020203" pitchFamily="34" charset="0"/>
              </a:rPr>
              <a:t>• More origins and bank-specific data for stronger validation.</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FA8B2-F78D-B002-D7DE-91382E43FF0F}"/>
            </a:ext>
          </a:extLst>
        </p:cNvPr>
        <p:cNvGrpSpPr/>
        <p:nvPr/>
      </p:nvGrpSpPr>
      <p:grpSpPr>
        <a:xfrm>
          <a:off x="0" y="0"/>
          <a:ext cx="0" cy="0"/>
          <a:chOff x="0" y="0"/>
          <a:chExt cx="0" cy="0"/>
        </a:xfrm>
      </p:grpSpPr>
      <p:sp>
        <p:nvSpPr>
          <p:cNvPr id="9" name="Textplatzhalter 8">
            <a:extLst>
              <a:ext uri="{FF2B5EF4-FFF2-40B4-BE49-F238E27FC236}">
                <a16:creationId xmlns:a16="http://schemas.microsoft.com/office/drawing/2014/main" id="{A76F1CED-DE7B-0AD6-5329-15E5EAD9BB8E}"/>
              </a:ext>
            </a:extLst>
          </p:cNvPr>
          <p:cNvSpPr>
            <a:spLocks noGrp="1"/>
          </p:cNvSpPr>
          <p:nvPr>
            <p:ph type="body" sz="quarter" idx="15"/>
          </p:nvPr>
        </p:nvSpPr>
        <p:spPr/>
        <p:txBody>
          <a:bodyPr/>
          <a:lstStyle/>
          <a:p>
            <a:r>
              <a:rPr lang="en-US" dirty="0">
                <a:solidFill>
                  <a:srgbClr val="FFFFFF"/>
                </a:solidFill>
                <a:latin typeface="Segoe UI" panose="020B0502040204020203" pitchFamily="34" charset="0"/>
                <a:cs typeface="Segoe UI" panose="020B0502040204020203" pitchFamily="34" charset="0"/>
              </a:rPr>
              <a:t>Thank you</a:t>
            </a:r>
            <a:endParaRPr lang="en-US" dirty="0">
              <a:latin typeface="Segoe UI" panose="020B0502040204020203" pitchFamily="34" charset="0"/>
              <a:cs typeface="Segoe UI" panose="020B0502040204020203" pitchFamily="34" charset="0"/>
            </a:endParaRPr>
          </a:p>
        </p:txBody>
      </p:sp>
      <p:sp>
        <p:nvSpPr>
          <p:cNvPr id="6" name="Foliennummernplatzhalter 5">
            <a:extLst>
              <a:ext uri="{FF2B5EF4-FFF2-40B4-BE49-F238E27FC236}">
                <a16:creationId xmlns:a16="http://schemas.microsoft.com/office/drawing/2014/main" id="{01434F42-E4D3-7C66-2174-1E9FBD622AF0}"/>
              </a:ext>
            </a:extLst>
          </p:cNvPr>
          <p:cNvSpPr>
            <a:spLocks noGrp="1"/>
          </p:cNvSpPr>
          <p:nvPr>
            <p:ph type="sldNum" sz="quarter" idx="4294967295"/>
          </p:nvPr>
        </p:nvSpPr>
        <p:spPr>
          <a:xfrm>
            <a:off x="11787809" y="6519044"/>
            <a:ext cx="404191" cy="252000"/>
          </a:xfrm>
          <a:prstGeom prst="rect">
            <a:avLst/>
          </a:prstGeom>
        </p:spPr>
        <p:txBody>
          <a:bodyPr vert="horz" lIns="0" tIns="0" rIns="126000" bIns="0" rtlCol="0" anchor="ctr"/>
          <a:lstStyle>
            <a:defPPr>
              <a:defRPr lang="en-US"/>
            </a:defPPr>
            <a:lvl1pPr marL="0" algn="r" defTabSz="457200" rtl="0" eaLnBrk="1" latinLnBrk="0" hangingPunct="1">
              <a:defRPr sz="900" b="1"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FB5150B-0CEE-4773-8AAA-22F479C02EEB}" type="slidenum">
              <a:rPr lang="de-DE" smtClean="0"/>
              <a:pPr/>
              <a:t>24</a:t>
            </a:fld>
            <a:endParaRPr lang="de-DE"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A64662-2653-2BEA-EF17-2E6AFF10718F}"/>
                  </a:ext>
                </a:extLst>
              </p14:cNvPr>
              <p14:cNvContentPartPr/>
              <p14:nvPr/>
            </p14:nvContentPartPr>
            <p14:xfrm>
              <a:off x="939680" y="2481826"/>
              <a:ext cx="6480" cy="360"/>
            </p14:xfrm>
          </p:contentPart>
        </mc:Choice>
        <mc:Fallback xmlns="">
          <p:pic>
            <p:nvPicPr>
              <p:cNvPr id="2" name="Ink 1">
                <a:extLst>
                  <a:ext uri="{FF2B5EF4-FFF2-40B4-BE49-F238E27FC236}">
                    <a16:creationId xmlns:a16="http://schemas.microsoft.com/office/drawing/2014/main" id="{95BE29B0-8050-481D-82CE-01A5650D867B}"/>
                  </a:ext>
                </a:extLst>
              </p:cNvPr>
              <p:cNvPicPr/>
              <p:nvPr/>
            </p:nvPicPr>
            <p:blipFill>
              <a:blip r:embed="rId3"/>
              <a:stretch>
                <a:fillRect/>
              </a:stretch>
            </p:blipFill>
            <p:spPr>
              <a:xfrm>
                <a:off x="930680" y="2473186"/>
                <a:ext cx="24120" cy="18000"/>
              </a:xfrm>
              <a:prstGeom prst="rect">
                <a:avLst/>
              </a:prstGeom>
            </p:spPr>
          </p:pic>
        </mc:Fallback>
      </mc:AlternateContent>
      <p:pic>
        <p:nvPicPr>
          <p:cNvPr id="4" name="Picture 3">
            <a:extLst>
              <a:ext uri="{FF2B5EF4-FFF2-40B4-BE49-F238E27FC236}">
                <a16:creationId xmlns:a16="http://schemas.microsoft.com/office/drawing/2014/main" id="{B3DE7245-14FD-56A7-6626-38D3C5813FD9}"/>
              </a:ext>
            </a:extLst>
          </p:cNvPr>
          <p:cNvPicPr>
            <a:picLocks noChangeAspect="1"/>
          </p:cNvPicPr>
          <p:nvPr/>
        </p:nvPicPr>
        <p:blipFill>
          <a:blip r:embed="rId4"/>
          <a:srcRect l="10791" t="8984" r="28116" b="14293"/>
          <a:stretch>
            <a:fillRect/>
          </a:stretch>
        </p:blipFill>
        <p:spPr>
          <a:xfrm>
            <a:off x="354012" y="336550"/>
            <a:ext cx="2904819" cy="912000"/>
          </a:xfrm>
          <a:prstGeom prst="rect">
            <a:avLst/>
          </a:prstGeom>
        </p:spPr>
      </p:pic>
      <p:sp>
        <p:nvSpPr>
          <p:cNvPr id="10" name="Text 0">
            <a:extLst>
              <a:ext uri="{FF2B5EF4-FFF2-40B4-BE49-F238E27FC236}">
                <a16:creationId xmlns:a16="http://schemas.microsoft.com/office/drawing/2014/main" id="{BEFB030E-31C6-1BA5-6680-E652FF42F2F9}"/>
              </a:ext>
            </a:extLst>
          </p:cNvPr>
          <p:cNvSpPr/>
          <p:nvPr/>
        </p:nvSpPr>
        <p:spPr>
          <a:xfrm>
            <a:off x="685800" y="1600200"/>
            <a:ext cx="4114800" cy="411480"/>
          </a:xfrm>
          <a:prstGeom prst="rect">
            <a:avLst/>
          </a:prstGeom>
          <a:noFill/>
          <a:ln/>
        </p:spPr>
        <p:txBody>
          <a:bodyPr wrap="square" lIns="0" tIns="0" rIns="0" bIns="0" rtlCol="0" anchor="ctr"/>
          <a:lstStyle/>
          <a:p>
            <a:pPr marL="0" indent="0">
              <a:buNone/>
            </a:pPr>
            <a:r>
              <a:rPr lang="en-US" sz="2600" b="1" dirty="0">
                <a:solidFill>
                  <a:srgbClr val="FFFFFF"/>
                </a:solidFill>
              </a:rPr>
              <a:t>Conclusion</a:t>
            </a:r>
            <a:endParaRPr lang="en-US" sz="2600" dirty="0"/>
          </a:p>
        </p:txBody>
      </p:sp>
    </p:spTree>
    <p:extLst>
      <p:ext uri="{BB962C8B-B14F-4D97-AF65-F5344CB8AC3E}">
        <p14:creationId xmlns:p14="http://schemas.microsoft.com/office/powerpoint/2010/main" val="1746114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TotalTime>
  <Words>2174</Words>
  <Application>Microsoft Office PowerPoint</Application>
  <PresentationFormat>Widescreen</PresentationFormat>
  <Paragraphs>342</Paragraphs>
  <Slides>24</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Cambria Math</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LMU Munich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Household Overnight Deposits with Machine Learning</dc:title>
  <dc:subject>Advanced AI NMD forecasting structure deck</dc:subject>
  <dc:creator>OpenAI</dc:creator>
  <cp:lastModifiedBy>David Escamilla Monjiote</cp:lastModifiedBy>
  <cp:revision>2</cp:revision>
  <dcterms:created xsi:type="dcterms:W3CDTF">2026-07-29T19:41:24Z</dcterms:created>
  <dcterms:modified xsi:type="dcterms:W3CDTF">2026-07-30T00:46:25Z</dcterms:modified>
</cp:coreProperties>
</file>